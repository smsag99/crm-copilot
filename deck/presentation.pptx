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میلیون تومان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192E"/>
                    </a:solidFill>
                    <a:latin typeface="Tahom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416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416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4161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سود ناخالص</c:v>
                  </c:pt>
                  <c:pt idx="1">
                    <c:v>هزینهٔ پول</c:v>
                  </c:pt>
                  <c:pt idx="2">
                    <c:v>سود واقعی</c:v>
                  </c:pt>
                  <c:pt idx="3">
                    <c:v>ذخیرهٔ مشکوک‌الوصول</c:v>
                  </c:pt>
                  <c:pt idx="4">
                    <c:v>سود خالص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443.2</c:v>
                </c:pt>
                <c:pt idx="1">
                  <c:v>-468.6</c:v>
                </c:pt>
                <c:pt idx="2">
                  <c:v>-25.4</c:v>
                </c:pt>
                <c:pt idx="3">
                  <c:v>-167.6</c:v>
                </c:pt>
                <c:pt idx="4">
                  <c:v>-193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5192E"/>
                  </a:solidFill>
                  <a:latin typeface="Tahom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192E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B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Tahom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نرخ پذیرش</c:v>
                </c:pt>
              </c:strCache>
            </c:strRef>
          </c:tx>
          <c:spPr>
            <a:solidFill>
              <a:srgbClr val="9AA3BC"/>
            </a:solidFill>
            <a:effectLst/>
          </c:spPr>
          <c:invertIfNegative val="0"/>
          <c:dLbls>
            <c:numFmt formatCode="0.0&quot;٪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92E"/>
                    </a:solidFill>
                    <a:latin typeface="Tahom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4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F4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3B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3B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3B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‏۴ تا ۷ روز</c:v>
                  </c:pt>
                  <c:pt idx="1">
                    <c:v>‏۸ تا ۱۰ روز</c:v>
                  </c:pt>
                  <c:pt idx="2">
                    <c:v>‏۱۱ تا ۱۴ روز</c:v>
                  </c:pt>
                  <c:pt idx="3">
                    <c:v>‏۱۵ تا ۱۸ روز</c:v>
                  </c:pt>
                  <c:pt idx="4">
                    <c:v>‏۱۹ تا ۲۱ روز</c:v>
                  </c:pt>
                  <c:pt idx="5">
                    <c:v>‏۲۲ روز و بیشتر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53.1</c:v>
                </c:pt>
                <c:pt idx="1">
                  <c:v>60.6</c:v>
                </c:pt>
                <c:pt idx="2">
                  <c:v>63.1</c:v>
                </c:pt>
                <c:pt idx="3">
                  <c:v>46.5</c:v>
                </c:pt>
                <c:pt idx="4">
                  <c:v>42.7</c:v>
                </c:pt>
                <c:pt idx="5">
                  <c:v>42.7</c:v>
                </c:pt>
              </c:numCache>
            </c:numRef>
          </c:val>
        </c:ser>
        <c:dLbls>
          <c:numFmt formatCode="0.0&quot;٪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5192E"/>
                  </a:solidFill>
                  <a:latin typeface="Tahom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5192E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12700" cap="flat">
              <a:solidFill>
                <a:srgbClr val="E8EB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8"/>
                </a:solidFill>
                <a:latin typeface="Tahom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یک جمله: کاربر مدیر فروش است، تصمیم «وقت تیم کجا برود»، و محصول سبد ۶۴۴ نفره را به ۴۰ حساب می‌برد با دلیل هر حذف.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دامنه را عمداً باریک کردیم. آنچه نساختیم را هم می‌گوییم، چون داوران دقیقاً همین را می‌پرسند.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این اسلاید قلب ارائه است. سود ناخالص ۴۴۳ میلیون، هزینهٔ تأمین مالی همین مشتریان ۴۶۹ میلیون. سود واقعی سبد منفی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داوران صریح خواستند این آزمون را خودمان اجرا کنیم و نتیجه را نشان دهیم. این اسلاید همان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روی داشبورد: تب فهرست تمرکز. لغزندهٔ نرخ را جابه‌جا می‌کنیم تا ببینند رتبه‌بندی درجا عوض می‌شود.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روی داشبورد: کلیک روی سطر رسیدگی، کشو باز می‌شود، سیگنال حوزهٔ مشکل، اقدام و رفرنس.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نکتهٔ صداقت اگر پرسیدند: آزمون ششمی هم زدیم — آیا پذیرش آفر به خرید بیشتر منجر می‌شود؟ ۷۰٫۲٪ در برابر ۶۹٫۶٪، فیشر p=۰٫۸۶. پس ستون پول را «آوردهٔ هدف» نامیدیم، نه لیفت. همین قید زیر هر کارت آفر نوشته می‌شود.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اگر کلید API نباشد یا شبکه قطع شود، همان ۱۲ ابزار با موتور قاعده‌محور صدا زده می‌شوند. دمو نمی‌میرد.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تب «الگوها، مدل و اعتبارسنجی» جدول آزمون دستی را عدد به عدد نشان می‌دهد. یک کلیک فاصله دارد.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آنچه به نرخ ۴٪ وابسته نیست: پول ۵۴ روز قفل می‌ماند و مارک‌آپ اعتبار در قیمت ثبت نشده. این دو اندازه‌گیری‌اند.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پرسش و پاسخ. اگر پرسیدند «از کجا می‌دانید این اقدام درست است؟»: پول در حرکت، مسیر آن، و رفرنس رکورد منبع.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17320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دستیار هوشمند تحلیل مشتریان B2B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228600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نفیس نخ · هکاتون پل سوم · کارخانه هوش مصنوعی ایران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944368"/>
            <a:ext cx="11027664" cy="1572768"/>
          </a:xfrm>
          <a:prstGeom prst="roundRect">
            <a:avLst>
              <a:gd name="adj" fmla="val 5233"/>
            </a:avLst>
          </a:prstGeom>
          <a:solidFill>
            <a:srgbClr val="2A3670"/>
          </a:solidFill>
          <a:ln w="12700">
            <a:solidFill>
              <a:srgbClr val="3C4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108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کاربر — مدیر فروش با ۶۴۴ حساب و تیمی با ظرفیت ثابت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351129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تصمیم — وقت این هفته را روی کدام حساب‌ها بگذاریم و از کدام برداریم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3950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محصول، سبد را به فهرست ۴۰ حسابی می‌بُرد که ۶۵ درصد فروش را پوشش می‌دهد — و برای هر حذف دلیل می‌نویسد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6992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۱۷٬۶۳۶ رفرنس قابل ردیابی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87952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۱۱۰ آزمون خودکار، همه سبز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۳۰ از ۳۰ عدد در آزمون دستی منطبق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دامنه: یک تصمیم، تا انتها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از شش خروجی صورت‌مسئله، «ریسک و فرصت» و «اقدام بعدی» را انتخاب کردیم و تا اقدام قابل اجرا بردیم.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90488" y="1783080"/>
            <a:ext cx="5404104" cy="3200400"/>
          </a:xfrm>
          <a:prstGeom prst="roundRect">
            <a:avLst>
              <a:gd name="adj" fmla="val 2571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19088" y="1938528"/>
            <a:ext cx="4946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B7F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ساختیم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19088" y="2450592"/>
            <a:ext cx="494690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فهرست تمرکز با دلیل هر حذف</a:t>
            </a:r>
            <a:endParaRPr lang="en-US" sz="140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موتور سیگنال و اقدام با رفرنس</a:t>
            </a:r>
            <a:endParaRPr lang="en-US" sz="140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هزینهٔ پول و سود واقعی هر حساب</a:t>
            </a:r>
            <a:endParaRPr lang="en-US" sz="140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دستیار متکی بر همان محاسبات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404104" cy="3200400"/>
          </a:xfrm>
          <a:prstGeom prst="roundRect">
            <a:avLst>
              <a:gd name="adj" fmla="val 2571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938528"/>
            <a:ext cx="4946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عمداً نساختیم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95528" y="2450592"/>
            <a:ext cx="494690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سامانهٔ CRM کامل و احراز هویت</a:t>
            </a:r>
            <a:endParaRPr lang="en-US" sz="140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مدل یادگیری ماشین جعبه‌سیاه</a:t>
            </a:r>
            <a:endParaRPr lang="en-US" sz="140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رابط بی‌نقص و پشتیبانی هر پرسش</a:t>
            </a:r>
            <a:endParaRPr lang="en-US" sz="140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خط لولهٔ زندهٔ اتصال به ERP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52120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«عمق روی یک جریان تصمیم واقعی از ده قابلیت نیم‌ساخته ارزشمندتر است.» — راهنمای داوران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حاشیهٔ ناخالص مشتریان را از هم جدا نمی‌کند — هزینهٔ پول می‌کند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پول این سبد به‌طور میانگین ۵۴ روز نزد مشتری می‌ماند. با نرخ ۴٪ ماهانه: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11027664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302752" y="4937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A41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۳۱۹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302752" y="5577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مشتری زیان‌ده روی حاشیهٔ واقعی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302752" y="59070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برابر ۵۷ مشتری روی حاشیهٔ ناخالص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28032" y="4937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A41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۴۸٫۶ واحد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828032" y="5577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دامنهٔ حاشیهٔ واقعی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828032" y="59070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برابر ۲۶٫۷ واحد روی حاشیهٔ ناخالص — رتبه‌بندی روی ناخالص، رتبه‌بندی روی نویز است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353312" y="4937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C77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۴۱۴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353312" y="5577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مشتری با جابه‌جایی رتبه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353312" y="59070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بیش از ۵۰ پله میان دو رتبه‌بندی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آیا اعتبار در قیمت لحاظ شده است؟ آزمودیم، فرض نکردیم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قیمت واحد همان کد کالا در همان ماه، بین شرایط پرداخت مقایسه شد.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27664" cy="914400"/>
        </p:xfrm>
        <a:graphic>
          <a:graphicData uri="http://schemas.openxmlformats.org/drawingml/2006/table">
            <a:tbl>
              <a:tblPr/>
              <a:tblGrid>
                <a:gridCol w="2615184"/>
                <a:gridCol w="1828800"/>
                <a:gridCol w="2651760"/>
                <a:gridCol w="1737360"/>
                <a:gridCol w="2194560"/>
              </a:tblGrid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نتیجه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مشاهده‌شده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مارک‌آپ مورد انتظار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روز تا نقد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شرط پرداخت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مبنا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۲۳ روز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نقدی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کمتر از نیمی از انتظار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۱٫۸٪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۴٫۰٪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۵۲ روز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۳۰ روزه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416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 = ۱٫۵ — بی‌معنا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416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۲٫۰٪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416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۱۲٫۰٪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416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۱۱۳ روز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4161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۹۰ روزه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069080"/>
            <a:ext cx="11027664" cy="1298448"/>
          </a:xfrm>
          <a:prstGeom prst="roundRect">
            <a:avLst>
              <a:gd name="adj" fmla="val 6338"/>
            </a:avLst>
          </a:prstGeom>
          <a:solidFill>
            <a:srgbClr val="FDF1F1"/>
          </a:solidFill>
          <a:ln w="12700">
            <a:solidFill>
              <a:srgbClr val="F0CF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2062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A41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نتیجه — اعتبار قیمت‌گذاری نشده است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مشتری ۹۰ روزه پول را ۹۰ روز بیشتر نگه می‌دارد و تقریباً همان قیمت مشتری نقدی را می‌پردازد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49194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پس هزینهٔ پول را خودمان به حساب مشتری می‌گذاریم، و این دوباره‌شماری نیست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66928" y="562356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۱٬۷۱۴ و ۱٬۵۰۳ سلول «کد کالا × ماه» که هر دو شرط پرداخت را هم‌زمان دارند.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دمو ۱ — از ۶۴۴ حساب به ۴۰ حسابی که وقت تیم را می‌ارزند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برش روی «پول در حرکت»: بیشینهٔ سه مسیر — نگهداشت، رشد، یا اصلاح شرایط پرداخت.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19972" y="1783080"/>
            <a:ext cx="267462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9972" y="1783080"/>
            <a:ext cx="2674620" cy="64008"/>
          </a:xfrm>
          <a:prstGeom prst="rect">
            <a:avLst/>
          </a:prstGeom>
          <a:solidFill>
            <a:srgbClr val="1B7F4B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84564" y="1956816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B7F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رشد بده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084564" y="2359152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۹۴ مشتری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084564" y="2798064"/>
            <a:ext cx="2345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سود واقعی بالای میانه و ظرفیت رشد باز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35624" y="1783080"/>
            <a:ext cx="267462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35624" y="1783080"/>
            <a:ext cx="267462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956816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حفظ کن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00216" y="2359152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۲۱۸ مشتری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0216" y="2798064"/>
            <a:ext cx="2345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سودآور و سهم سبد تقریباً پر — تلاش کم، مراقبت زیاد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51276" y="1783080"/>
            <a:ext cx="267462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1276" y="1783080"/>
            <a:ext cx="2674620" cy="6400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5868" y="1956816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C77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اصلاح کن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15868" y="2359152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۶۲ مشتری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15868" y="2798064"/>
            <a:ext cx="2345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حجم هست، سود واقعی نیست — بازمذاکره با مهلت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1783080"/>
            <a:ext cx="267462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1783080"/>
            <a:ext cx="2674620" cy="64008"/>
          </a:xfrm>
          <a:prstGeom prst="rect">
            <a:avLst/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1956816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A41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کاهش بده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۲۵۰ مشتری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" y="2798064"/>
            <a:ext cx="2345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سود واقعی منفی و ظرفیت کم — تماس کم‌بسامد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886200"/>
            <a:ext cx="11027664" cy="178308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41248" y="4041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۴۰ حساب فهرست تمرکز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949184" y="4462272"/>
            <a:ext cx="3371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۶۴٫۶ درصد فروش سبد را پوشش می‌دهد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395216" y="4462272"/>
            <a:ext cx="3371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۱۴۹٫۳ از ۲۴۲٫۶ میلیون پول در حرکت را می‌گیرد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41248" y="4462272"/>
            <a:ext cx="3371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۲۲۴ حساب با سود واقعی منفی ۴۶٫۹ میلیون کنار گذاشته می‌شوند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41248" y="5102352"/>
            <a:ext cx="10479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هر حذف دلیل دارد و می‌گوید چه چیزی نظر ما را عوض می‌کند — مثلاً تغییر شرط پرداخت به نقدی، یا به‌روز شدن برآورد سهم سبد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دمو ۲ — یک حساب، از داده تا اقدام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C_245948 — رتبهٔ یک ارزش طول عمر، و در فهرست تمرکز جایگاه اول.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082528" y="1911096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1911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45752" y="1920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داده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920240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فروش، وصول، شکایت، آفر و سهم سبد از پنج سامانه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082528" y="2715768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82528" y="2715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45752" y="27249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سیگنال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2724912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۹۳ روز پول قفل‌شده در برابر مبنای ۱۶ روزهٔ سبد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082528" y="3520440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82528" y="3520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45752" y="352958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تفسیر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" y="3529584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حاشیهٔ ناخالص ۱۶٫۱٪ منهای هزینهٔ پول ۱۲٫۴٪ = سود واقعی ۳٫۶٪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082528" y="4325112"/>
            <a:ext cx="493776" cy="493776"/>
          </a:xfrm>
          <a:prstGeom prst="ellipse">
            <a:avLst/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2528" y="4325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45752" y="43342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A416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اقدام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" y="4334256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مذاکرهٔ شرایط پرداخت — سالانه ۱۵٫۰ میلیون سود آزاد می‌شود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082528" y="5129784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82528" y="51297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45752" y="51389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شاهد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" y="5138928"/>
            <a:ext cx="8741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کلیک روی «منبع»: شیت، شناسهٔ رکورد، تاریخ و فیلد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آفر، اهرم مهلت است نه تخفیف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پنج فرضیه را روی ۲٬۵۰۰ آفر تاریخی آزمودیم. چهارتا رد شد، یکی ماند.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190488" y="1783080"/>
          <a:ext cx="5404104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5404104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417320"/>
                <a:gridCol w="2587752"/>
              </a:tblGrid>
              <a:tr h="402336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حکم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آزمون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فرضیه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رد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 = ۰٫۹۰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عمق تخفیف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رد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 = ۰٫۵۶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دلیل آفر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رد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 = ۰٫۱۴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نوع آفر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رد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 = ۰٫۳۵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5192E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سابقهٔ پذیرش خودش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7F4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ماند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7F4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 &lt; ۰٫۰۰۰۱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6E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7F4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طول اعتبار آفر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63500" marR="63500" marT="63500" marB="635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6E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66928" y="4224528"/>
            <a:ext cx="5404104" cy="1170432"/>
          </a:xfrm>
          <a:prstGeom prst="roundRect">
            <a:avLst>
              <a:gd name="adj" fmla="val 7031"/>
            </a:avLst>
          </a:prstGeom>
          <a:solidFill>
            <a:srgbClr val="EAF6EF"/>
          </a:solidFill>
          <a:ln w="12700">
            <a:solidFill>
              <a:srgbClr val="C3E3D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68096" y="4334256"/>
            <a:ext cx="50017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اثر در هر سه نوع آفر جداگانه تکرار می‌شود و با عمق تخفیف هم‌بسته نیست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66928" y="5504688"/>
            <a:ext cx="11027664" cy="841248"/>
          </a:xfrm>
          <a:prstGeom prst="roundRect">
            <a:avLst>
              <a:gd name="adj" fmla="val 978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1248" y="5577840"/>
            <a:ext cx="10479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پذیرش داخل پنجرهٔ ۸ تا ۱۴ روزه ۶۲٫۲٪ و بیرون از آن ۴۵٫۲٪ — شرکت امروز میانهٔ مهلت ۱۸ روز می‌دهد. ۱٫۷ میلیون ارزش انتظاری، فقط از تغییر مهلت.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چطور کار می‌کند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پنج لایه؛ هر لایه با کد قطعی، و مدل زبانی فقط در جایی که ارزش می‌سازد.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462211" y="1874520"/>
            <a:ext cx="2132381" cy="2286000"/>
          </a:xfrm>
          <a:prstGeom prst="roundRect">
            <a:avLst>
              <a:gd name="adj" fmla="val 3859"/>
            </a:avLst>
          </a:prstGeom>
          <a:solidFill>
            <a:srgbClr val="2A3670"/>
          </a:solidFill>
          <a:ln w="12700">
            <a:solidFill>
              <a:srgbClr val="3C4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8515" y="2029968"/>
            <a:ext cx="183977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لایهٔ داده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608515" y="2743200"/>
            <a:ext cx="18397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۱۶ شیت، ۷ قاعدهٔ یکپارچه‌سازی، موتور «در تاریخ» با راست‌سانسور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238390" y="1874520"/>
            <a:ext cx="2132381" cy="2286000"/>
          </a:xfrm>
          <a:prstGeom prst="roundRect">
            <a:avLst>
              <a:gd name="adj" fmla="val 3859"/>
            </a:avLst>
          </a:prstGeom>
          <a:solidFill>
            <a:srgbClr val="2A3670"/>
          </a:solidFill>
          <a:ln w="12700">
            <a:solidFill>
              <a:srgbClr val="3C4C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4694" y="2029968"/>
            <a:ext cx="183977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موتور سیگنال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84694" y="2743200"/>
            <a:ext cx="18397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۱۸ قاعده و ۲۱ کد سیگنال، ۶ پیش‌بینی روی نرخ پایهٔ تجربی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14570" y="1874520"/>
            <a:ext cx="2132381" cy="2286000"/>
          </a:xfrm>
          <a:prstGeom prst="roundRect">
            <a:avLst>
              <a:gd name="adj" fmla="val 3859"/>
            </a:avLst>
          </a:prstGeom>
          <a:solidFill>
            <a:srgbClr val="2A3670"/>
          </a:solidFill>
          <a:ln w="12700">
            <a:solidFill>
              <a:srgbClr val="3C4C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0874" y="2029968"/>
            <a:ext cx="183977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اقتصاد حساب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60874" y="2743200"/>
            <a:ext cx="18397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هزینهٔ پول، حاشیهٔ واقعی، ذخیرهٔ مطالبات، فهرست تمرکز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90749" y="1874520"/>
            <a:ext cx="2132381" cy="2286000"/>
          </a:xfrm>
          <a:prstGeom prst="roundRect">
            <a:avLst>
              <a:gd name="adj" fmla="val 3859"/>
            </a:avLst>
          </a:prstGeom>
          <a:solidFill>
            <a:srgbClr val="2A3670"/>
          </a:solidFill>
          <a:ln w="12700">
            <a:solidFill>
              <a:srgbClr val="3C4C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37053" y="2029968"/>
            <a:ext cx="183977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موتور اقدام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37053" y="2743200"/>
            <a:ext cx="18397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فوریت × سهم مبلغ، با مالک مشخص و گام فوری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1874520"/>
            <a:ext cx="2132381" cy="2286000"/>
          </a:xfrm>
          <a:prstGeom prst="roundRect">
            <a:avLst>
              <a:gd name="adj" fmla="val 3859"/>
            </a:avLst>
          </a:prstGeom>
          <a:solidFill>
            <a:srgbClr val="2A3670"/>
          </a:solidFill>
          <a:ln w="12700">
            <a:solidFill>
              <a:srgbClr val="3C4C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029968"/>
            <a:ext cx="183977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لایهٔ اعتماد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13232" y="2743200"/>
            <a:ext cx="18397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۱۷٬۶۳۶ رفرنس، فرض‌ها و عدم‌قطعیت روی صفحه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38912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526280"/>
            <a:ext cx="10479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قاعدهٔ سخت: مدل زبانی هیچ عددی تولید نمی‌کند. ۱۲ ابزار پایتونی را صدا می‌زند و خروجی‌شان را روایت می‌کند — فهرست ابزارها زیر هر پاسخ دیده می‌شود.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اعتبارسنجی — زنجیرهٔ تصمیم را آزمودیم، نه فقط مدل را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داوران گفتند «سه حساب را بردارید و با دست حساب کنید». همین کار را کردیم.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19972" y="1828800"/>
            <a:ext cx="2674620" cy="2423160"/>
          </a:xfrm>
          <a:prstGeom prst="roundRect">
            <a:avLst>
              <a:gd name="adj" fmla="val 3396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47988" y="2011680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1B7F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۳۰ از ۳۰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047988" y="2578608"/>
            <a:ext cx="2418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عدد در آزمون دستی منطبق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047988" y="3200400"/>
            <a:ext cx="24185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سه حساب با سه پروفایل متفاوت، مستقل از موتور محصول دوباره حساب شد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35624" y="1828800"/>
            <a:ext cx="2674620" cy="2423160"/>
          </a:xfrm>
          <a:prstGeom prst="roundRect">
            <a:avLst>
              <a:gd name="adj" fmla="val 3396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2011680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1B7F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۸۵ از ۸۵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63640" y="2578608"/>
            <a:ext cx="2418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آزمون خودکار سبز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63640" y="3200400"/>
            <a:ext cx="24185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تجمیع، نشتی زمانی، اتحادهای حسابداری، رفرنس، صداقت الگو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1276" y="1828800"/>
            <a:ext cx="2674620" cy="2423160"/>
          </a:xfrm>
          <a:prstGeom prst="roundRect">
            <a:avLst>
              <a:gd name="adj" fmla="val 3396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9292" y="2011680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AUC ۰٫۸۳۱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9292" y="2578608"/>
            <a:ext cx="2418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مدل ماندگاری، خارج از زمان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79292" y="3200400"/>
            <a:ext cx="24185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 صریح می‌گوییم رکود تنها با ۰٫۸۵۲ بهتر است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1828800"/>
            <a:ext cx="2674620" cy="2423160"/>
          </a:xfrm>
          <a:prstGeom prst="roundRect">
            <a:avLst>
              <a:gd name="adj" fmla="val 3396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011680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C77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۲۷٪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" y="2578608"/>
            <a:ext cx="2418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خطای بک‌تست پیش‌بینی فروش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4944" y="3200400"/>
            <a:ext cx="24185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سود ۲۲٪ و وصول ۱۹٪ — خارج از نمونه: ضریب اصلاح هر دور فقط از دوره‌های پیش از خودش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480560"/>
            <a:ext cx="11027664" cy="1143000"/>
          </a:xfrm>
          <a:prstGeom prst="roundRect">
            <a:avLst>
              <a:gd name="adj" fmla="val 72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617720"/>
            <a:ext cx="1047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 آنچه کار نکرد را هم گزارش می‌کنیم: سه الگو آزموده و رد شدند — شکایت، درخواست توسعه و چک برگشتی هیچ‌کدام پیش‌بین مستقل ریزش نبودند.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چه چیزی بهتر می‌شود، و کجا نمی‌توانیم ادعا کنیم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190488" y="1783080"/>
            <a:ext cx="5404104" cy="3429000"/>
          </a:xfrm>
          <a:prstGeom prst="roundRect">
            <a:avLst>
              <a:gd name="adj" fmla="val 2400"/>
            </a:avLst>
          </a:prstGeom>
          <a:solidFill>
            <a:srgbClr val="EFF7F1"/>
          </a:solidFill>
          <a:ln w="12700">
            <a:solidFill>
              <a:srgbClr val="CDE4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19088" y="1938528"/>
            <a:ext cx="4946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B7F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ارزش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19088" y="2450592"/>
            <a:ext cx="494690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فهرست هفتگی از ۶۴۴ به ۴۰ حساب، با دلیل هر حذف</a:t>
            </a:r>
            <a:endParaRPr lang="en-US" sz="135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رتبه‌بندی روی سود واقعی، نه فروش یا حاشیهٔ ناخالص</a:t>
            </a:r>
            <a:endParaRPr lang="en-US" sz="135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بزرگ‌ترین اهرم شناسایی شد: شرایط پرداخت، نه رشد حجم</a:t>
            </a:r>
            <a:endParaRPr lang="en-US" sz="135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هر ادعا در سه ثانیه تا رکورد منبع قابل ردیابی است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404104" cy="3429000"/>
          </a:xfrm>
          <a:prstGeom prst="roundRect">
            <a:avLst>
              <a:gd name="adj" fmla="val 2400"/>
            </a:avLst>
          </a:prstGeom>
          <a:solidFill>
            <a:srgbClr val="FDF6EC"/>
          </a:solidFill>
          <a:ln w="12700">
            <a:solidFill>
              <a:srgbClr val="F0D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38528"/>
            <a:ext cx="4946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C777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محدودیت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95528" y="2450592"/>
            <a:ext cx="494690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نرخ ۴٪ ماهانه فرض بیرونی است، نه یافتهٔ داده — در داشبورد لغزنده است</a:t>
            </a:r>
            <a:endParaRPr lang="en-US" sz="135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۶۸ درصد خطوط بهای تمام‌شدهٔ برآوردی دارند؛ حاشیه حدود ۵ واحد خوش‌بینانه‌تر</a:t>
            </a:r>
            <a:endParaRPr lang="en-US" sz="135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سهم از سبد برآورد کارشناس است، نه اندازه‌گیری</a:t>
            </a:r>
            <a:endParaRPr lang="en-US" sz="1350" dirty="0"/>
          </a:p>
          <a:p>
            <a:pPr algn="r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1519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هزینهٔ خدمت‌دهی از شمارش رویداد ساخته شده، نه از دادهٔ هزینه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5394960"/>
            <a:ext cx="11027664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5468112"/>
            <a:ext cx="10479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گام بعدی با یک هفتهٔ دیگر: ثبت بازخورد اقدام، تا وزن‌های فوریت را از نتیجهٔ واقعی بیاموزیم نه از قضاوت.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یک تصمیم. قابل دفاع. در حال کار.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320040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داده ← سیگنال ← معنا ← اقدام، با شاهد پیوست.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" y="3931920"/>
            <a:ext cx="11027664" cy="1097280"/>
          </a:xfrm>
          <a:prstGeom prst="roundRect">
            <a:avLst>
              <a:gd name="adj" fmla="val 7500"/>
            </a:avLst>
          </a:prstGeom>
          <a:solidFill>
            <a:srgbClr val="2A3670"/>
          </a:solidFill>
          <a:ln w="12700">
            <a:solidFill>
              <a:srgbClr val="3C4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069080"/>
            <a:ext cx="10479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پیوست یک کلیک فاصله دارد: نقشهٔ داده، تعریف متریک‌ها، منطق امتیازدهی، بک‌تست، آزمون دستی و محدودیت‌ها — در مستند فنی ۳۷ بخشی.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دستیار هوشمند تحلیل مشتریان B2B</dc:title>
  <dc:subject>PptxGenJS Presentation</dc:subject>
  <dc:creator>نفیس نخ · هکاتون پل سوم</dc:creator>
  <cp:lastModifiedBy>نفیس نخ · هکاتون پل سوم</cp:lastModifiedBy>
  <cp:revision>1</cp:revision>
  <dcterms:created xsi:type="dcterms:W3CDTF">2026-08-20T19:49:18Z</dcterms:created>
  <dcterms:modified xsi:type="dcterms:W3CDTF">2026-08-20T19:49:18Z</dcterms:modified>
</cp:coreProperties>
</file>