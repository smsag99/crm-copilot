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میلیون تومان</c:v>
                </c:pt>
              </c:strCache>
            </c:strRef>
          </c:tx>
          <c:spPr>
            <a:solidFill>
              <a:srgbClr val="1E2761"/>
            </a:solidFill>
            <a:effectLst/>
          </c:spPr>
          <c:invertIfNegative val="0"/>
          <c:dLbls>
            <c:numFmt formatCode="#,##0.0;(#,##0.0)" sourceLinked="0"/>
            <c:txPr>
              <a:bodyPr/>
              <a:lstStyle/>
              <a:p>
                <a:pPr>
                  <a:defRPr b="0" i="0" strike="noStrike" sz="1200" u="none">
                    <a:solidFill>
                      <a:srgbClr val="15192E"/>
                    </a:solidFill>
                    <a:latin typeface="Tahoma"/>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A4161A"/>
              </a:solidFill>
              <a:effectLst/>
            </c:spPr>
          </c:dPt>
          <c:dPt>
            <c:idx val="2"/>
            <c:invertIfNegative val="0"/>
            <c:bubble3D val="0"/>
            <c:spPr>
              <a:solidFill>
                <a:srgbClr val="A4161A"/>
              </a:solidFill>
              <a:effectLst/>
            </c:spPr>
          </c:dPt>
          <c:cat>
            <c:multiLvlStrRef>
              <c:f>Sheet1!$A$2:$A$4</c:f>
              <c:multiLvlStrCache>
                <c:ptCount val="3"/>
                <c:lvl>
                  <c:pt idx="0">
                    <c:v>‏سود ناخالص</c:v>
                  </c:pt>
                  <c:pt idx="1">
                    <c:v>‏هزینهٔ پول</c:v>
                  </c:pt>
                  <c:pt idx="2">
                    <c:v>‏سود واقعی</c:v>
                  </c:pt>
                </c:lvl>
              </c:multiLvlStrCache>
            </c:multiLvlStrRef>
          </c:cat>
          <c:val>
            <c:numRef>
              <c:f>Sheet1!$B$2:$B$4</c:f>
              <c:numCache>
                <c:formatCode>General</c:formatCode>
                <c:ptCount val="3"/>
                <c:pt idx="0">
                  <c:v>443.2</c:v>
                </c:pt>
                <c:pt idx="1">
                  <c:v>-468.6</c:v>
                </c:pt>
                <c:pt idx="2">
                  <c:v>-25.4</c:v>
                </c:pt>
              </c:numCache>
            </c:numRef>
          </c:val>
        </c:ser>
        <c:dLbls>
          <c:numFmt formatCode="#,##0.0;(#,##0.0)" sourceLinked="0"/>
          <c:txPr>
            <a:bodyPr/>
            <a:lstStyle/>
            <a:p>
              <a:pPr>
                <a:defRPr b="0" i="0" strike="noStrike" sz="1200" u="none">
                  <a:solidFill>
                    <a:srgbClr val="15192E"/>
                  </a:solidFill>
                  <a:latin typeface="Tahoma"/>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5192E"/>
                </a:solidFill>
                <a:latin typeface="Tahoma"/>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BF2"/>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5B6178"/>
                </a:solidFill>
                <a:latin typeface="Tahoma"/>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نرخ پذیرش</c:v>
                </c:pt>
              </c:strCache>
            </c:strRef>
          </c:tx>
          <c:spPr>
            <a:solidFill>
              <a:srgbClr val="9AA3BC"/>
            </a:solidFill>
            <a:effectLst/>
          </c:spPr>
          <c:invertIfNegative val="0"/>
          <c:dLbls>
            <c:numFmt formatCode="0.0&quot;٪&quot;" sourceLinked="0"/>
            <c:txPr>
              <a:bodyPr/>
              <a:lstStyle/>
              <a:p>
                <a:pPr>
                  <a:defRPr b="0" i="0" strike="noStrike" sz="1050" u="none">
                    <a:solidFill>
                      <a:srgbClr val="15192E"/>
                    </a:solidFill>
                    <a:latin typeface="Tahoma"/>
                  </a:defRPr>
                </a:pPr>
              </a:p>
            </c:txPr>
            <c:showLegendKey val="0"/>
            <c:showVal val="1"/>
            <c:showCatName val="0"/>
            <c:showSerName val="0"/>
            <c:showPercent val="0"/>
            <c:showBubbleSize val="0"/>
            <c:showLeaderLines val="0"/>
          </c:dLbls>
          <c:dPt>
            <c:idx val="0"/>
            <c:invertIfNegative val="0"/>
            <c:bubble3D val="0"/>
            <c:spPr>
              <a:solidFill>
                <a:srgbClr val="9AA3BC"/>
              </a:solidFill>
              <a:effectLst/>
            </c:spPr>
          </c:dPt>
          <c:dPt>
            <c:idx val="1"/>
            <c:invertIfNegative val="0"/>
            <c:bubble3D val="0"/>
            <c:spPr>
              <a:solidFill>
                <a:srgbClr val="1B7F4B"/>
              </a:solidFill>
              <a:effectLst/>
            </c:spPr>
          </c:dPt>
          <c:dPt>
            <c:idx val="2"/>
            <c:invertIfNegative val="0"/>
            <c:bubble3D val="0"/>
            <c:spPr>
              <a:solidFill>
                <a:srgbClr val="1B7F4B"/>
              </a:solidFill>
              <a:effectLst/>
            </c:spPr>
          </c:dPt>
          <c:dPt>
            <c:idx val="3"/>
            <c:invertIfNegative val="0"/>
            <c:bubble3D val="0"/>
            <c:spPr>
              <a:solidFill>
                <a:srgbClr val="9AA3BC"/>
              </a:solidFill>
              <a:effectLst/>
            </c:spPr>
          </c:dPt>
          <c:dPt>
            <c:idx val="4"/>
            <c:invertIfNegative val="0"/>
            <c:bubble3D val="0"/>
            <c:spPr>
              <a:solidFill>
                <a:srgbClr val="9AA3BC"/>
              </a:solidFill>
              <a:effectLst/>
            </c:spPr>
          </c:dPt>
          <c:dPt>
            <c:idx val="5"/>
            <c:invertIfNegative val="0"/>
            <c:bubble3D val="0"/>
            <c:spPr>
              <a:solidFill>
                <a:srgbClr val="9AA3BC"/>
              </a:solidFill>
              <a:effectLst/>
            </c:spPr>
          </c:dPt>
          <c:cat>
            <c:multiLvlStrRef>
              <c:f>Sheet1!$A$2:$A$7</c:f>
              <c:multiLvlStrCache>
                <c:ptCount val="6"/>
                <c:lvl>
                  <c:pt idx="0">
                    <c:v>‏۴ تا ۷ روز</c:v>
                  </c:pt>
                  <c:pt idx="1">
                    <c:v>‏۸ تا ۱۰ روز</c:v>
                  </c:pt>
                  <c:pt idx="2">
                    <c:v>‏۱۱ تا ۱۴ روز</c:v>
                  </c:pt>
                  <c:pt idx="3">
                    <c:v>‏۱۵ تا ۱۸ روز</c:v>
                  </c:pt>
                  <c:pt idx="4">
                    <c:v>‏۱۹ تا ۲۱ روز</c:v>
                  </c:pt>
                  <c:pt idx="5">
                    <c:v>‏۲۲ روز و بیشتر</c:v>
                  </c:pt>
                </c:lvl>
              </c:multiLvlStrCache>
            </c:multiLvlStrRef>
          </c:cat>
          <c:val>
            <c:numRef>
              <c:f>Sheet1!$B$2:$B$7</c:f>
              <c:numCache>
                <c:formatCode>General</c:formatCode>
                <c:ptCount val="6"/>
                <c:pt idx="0">
                  <c:v>53.1</c:v>
                </c:pt>
                <c:pt idx="1">
                  <c:v>60.6</c:v>
                </c:pt>
                <c:pt idx="2">
                  <c:v>63.1</c:v>
                </c:pt>
                <c:pt idx="3">
                  <c:v>46.5</c:v>
                </c:pt>
                <c:pt idx="4">
                  <c:v>42.7</c:v>
                </c:pt>
                <c:pt idx="5">
                  <c:v>42.7</c:v>
                </c:pt>
              </c:numCache>
            </c:numRef>
          </c:val>
        </c:ser>
        <c:dLbls>
          <c:numFmt formatCode="0.0&quot;٪&quot;" sourceLinked="0"/>
          <c:txPr>
            <a:bodyPr/>
            <a:lstStyle/>
            <a:p>
              <a:pPr>
                <a:defRPr b="0" i="0" strike="noStrike" sz="1050" u="none">
                  <a:solidFill>
                    <a:srgbClr val="15192E"/>
                  </a:solidFill>
                  <a:latin typeface="Tahoma"/>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5192E"/>
                </a:solidFill>
                <a:latin typeface="Tahoma"/>
              </a:defRPr>
            </a:pPr>
            <a:endParaRPr lang="en-US"/>
          </a:p>
        </c:txPr>
        <c:crossAx val="2094734552"/>
        <c:crosses val="autoZero"/>
        <c:auto val="1"/>
        <c:lblAlgn val="ctr"/>
        <c:noMultiLvlLbl val="1"/>
      </c:catAx>
      <c:valAx>
        <c:axId val="2094734552"/>
        <c:scaling>
          <c:orientation val="minMax"/>
          <c:max val="78"/>
          <c:min val="0"/>
        </c:scaling>
        <c:delete val="0"/>
        <c:axPos val="l"/>
        <c:majorGridlines>
          <c:spPr>
            <a:ln w="12700" cap="flat">
              <a:solidFill>
                <a:srgbClr val="E8EB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178"/>
                </a:solidFill>
                <a:latin typeface="Tahoma"/>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سلام. ما دو نفریم و روی دادهٔ صنعتی نفیس نخ کار کردیم. در ده دقیقه سه چیز نشان می‌دهم: یک یافته که ترتیب مشتریان را عوض می‌کند، دو کیس که مستقیم روی فروش اثر دارند، و محصولی که همین‌ها را به کار روزانه تبدیل می‌کند.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مسئله کمبود داده نیست؛ پراکندگی داده است. سه عدد پایین، سه نشتِ مشخص را نشان می‌دهند: کار وعده‌داده‌شده، درخواست بی‌پاسخ، و پروندهٔ کیفی باز.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قلب ارائه است. سود ناخالص ۴۴۳ میلیون، هزینهٔ پول ۴۶۹ میلیون. تا وقتی روی حاشیهٔ ناخالص رتبه‌بندی می‌کنید، روی نویز رتبه‌بندی می‌کنید.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محصول یک داشبورد گزارش نیست؛ یک کارتابل است. جواب می‌دهد به «الان چه کار کنم»، نه «پارسال چه شد».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ملموس‌ترین افزایش فروش در کل کار است، چون هزینه ندارد: فقط تاریخ انقضای آفر را عوض می‌کنید. و صادقانه‌اش این است که چهار فرضیهٔ دیگر را هم آزمودیم و رد کردیم — از جمله همان چیزی که همه فرض می‌کنند، یعنی عمق تخفیف.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اسلاید جواب می‌دهد به «چرا یک مرکز سیگنال، نه سه گزارش جدا». همبستگی ۰٫۵۸ تا ۰٫۶۴ نشان می‌دهد سیگنال‌ها روی هم می‌افتند؛ و عدد ۲۶ از ۴۰ نشان می‌دهد یک کانال به‌تنهایی پول را پیدا نمی‌کند.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جدی‌ترین انتخاب معماری ماست. مدل زبانی جای خوبی برای حساب کردن نیست؛ جای خوبی برای خواندن ۴٬۵۶۵ رکورد متن و ترکیب شش منبع در یک جمله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کارت جایی است که تحلیل به رفتار تبدیل می‌شود. نکته‌های دستور کار از رکورد همان مشتری می‌آید: شمارهٔ فاکتور معوق، عنوان شکایت باز، شناسهٔ آفر بی‌پاسخ.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هدف فرم این است که مدیر فروش بدون تماس دوباره بتواند تصمیم بگیرد. برای همین «آنچه مشتری گفت» نقل قول است، نه تفسیر کارشناس.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اگر داور بپرسد «چطور به این عدد رسیدید»، این اسلاید مسیر است. مهم‌ترین قدم دوم است: پروفایل در تاریخ، چون بدون آن هر ادعای پیش‌بینی بی‌معناست.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اگر بپرسند چرا به شما اعتماد کنیم: چون هرچه شکست خورد را هم نوشتیم. نه الگویی که کار نکرد را پنهان کردیم، نه اینکه مدل ساده‌تر از مال ما بهتر بود.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سه اهرم را از هم جدا نگه داشتیم چون مبناهایشان فرق دارد. اولی از یک آزمون آماری می‌آید، دومی از اندازه‌گیری روزهای قفل‌شدن، سومی از رتبه‌بندی سود واقعی.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ما دو نفریم: آرین فقیرالهی و امید دیوسالار.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تشکر و پرسش و پاسخ. اگر پرسیدند از کجا می‌دانید این اقدام درست است: پول در حرکت، مسیرش، و رفرنس رکورد منبع.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280160" y="-1645920"/>
            <a:ext cx="5852160" cy="5852160"/>
          </a:xfrm>
          <a:prstGeom prst="roundRect">
            <a:avLst>
              <a:gd name="adj" fmla="val 50000"/>
            </a:avLst>
          </a:prstGeom>
          <a:solidFill>
            <a:srgbClr val="2A3670"/>
          </a:solidFill>
          <a:ln w="12700">
            <a:solidFill>
              <a:srgbClr val="2A3670"/>
            </a:solidFill>
            <a:prstDash val="solid"/>
          </a:ln>
        </p:spPr>
      </p:sp>
      <p:sp>
        <p:nvSpPr>
          <p:cNvPr id="3" name="Text 1"/>
          <p:cNvSpPr/>
          <p:nvPr/>
        </p:nvSpPr>
        <p:spPr>
          <a:xfrm>
            <a:off x="566928" y="1600200"/>
            <a:ext cx="11027664" cy="749808"/>
          </a:xfrm>
          <a:prstGeom prst="rect">
            <a:avLst/>
          </a:prstGeom>
          <a:noFill/>
          <a:ln/>
        </p:spPr>
        <p:txBody>
          <a:bodyPr wrap="square" lIns="0" tIns="0" rIns="0" bIns="0" rtlCol="0" anchor="ctr"/>
          <a:lstStyle/>
          <a:p>
            <a:pPr rtl="1" algn="r" indent="0" marL="0">
              <a:buNone/>
            </a:pPr>
            <a:r>
              <a:rPr lang="en-US" sz="3800" b="1" dirty="0">
                <a:solidFill>
                  <a:srgbClr val="FFFFFF"/>
                </a:solidFill>
                <a:latin typeface="Tahoma" pitchFamily="34" charset="0"/>
                <a:ea typeface="Tahoma" pitchFamily="34" charset="-122"/>
                <a:cs typeface="Tahoma" pitchFamily="34" charset="-120"/>
              </a:rPr>
              <a:t>دستیار هوشمند تحلیل مشتریان</a:t>
            </a:r>
            <a:endParaRPr lang="en-US" sz="3800" dirty="0"/>
          </a:p>
        </p:txBody>
      </p:sp>
      <p:sp>
        <p:nvSpPr>
          <p:cNvPr id="4" name="Text 2"/>
          <p:cNvSpPr/>
          <p:nvPr/>
        </p:nvSpPr>
        <p:spPr>
          <a:xfrm>
            <a:off x="566928" y="2377440"/>
            <a:ext cx="11027664" cy="457200"/>
          </a:xfrm>
          <a:prstGeom prst="rect">
            <a:avLst/>
          </a:prstGeom>
          <a:noFill/>
          <a:ln/>
        </p:spPr>
        <p:txBody>
          <a:bodyPr wrap="square" lIns="0" tIns="0" rIns="0" bIns="0" rtlCol="0" anchor="ctr"/>
          <a:lstStyle/>
          <a:p>
            <a:pPr rtl="1" algn="r" indent="0" marL="0">
              <a:buNone/>
            </a:pPr>
            <a:r>
              <a:rPr lang="en-US" sz="1600" dirty="0">
                <a:solidFill>
                  <a:srgbClr val="CADCFC"/>
                </a:solidFill>
                <a:latin typeface="Tahoma" pitchFamily="34" charset="0"/>
                <a:ea typeface="Tahoma" pitchFamily="34" charset="-122"/>
                <a:cs typeface="Tahoma" pitchFamily="34" charset="-120"/>
              </a:rPr>
              <a:t>از دادهٔ خام CRM و ERP تا کاری که کارشناس فروش امروز صبح انجام می‌دهد</a:t>
            </a:r>
            <a:endParaRPr lang="en-US" sz="1600" dirty="0"/>
          </a:p>
        </p:txBody>
      </p:sp>
      <p:sp>
        <p:nvSpPr>
          <p:cNvPr id="5" name="Shape 3"/>
          <p:cNvSpPr/>
          <p:nvPr/>
        </p:nvSpPr>
        <p:spPr>
          <a:xfrm>
            <a:off x="566928" y="3127248"/>
            <a:ext cx="11027664" cy="1207008"/>
          </a:xfrm>
          <a:prstGeom prst="roundRect">
            <a:avLst>
              <a:gd name="adj" fmla="val 7576"/>
            </a:avLst>
          </a:prstGeom>
          <a:solidFill>
            <a:srgbClr val="2A3670"/>
          </a:solidFill>
          <a:ln w="12700">
            <a:solidFill>
              <a:srgbClr val="3C4C8E"/>
            </a:solidFill>
            <a:prstDash val="solid"/>
          </a:ln>
        </p:spPr>
      </p:sp>
      <p:sp>
        <p:nvSpPr>
          <p:cNvPr id="6" name="Text 4"/>
          <p:cNvSpPr/>
          <p:nvPr/>
        </p:nvSpPr>
        <p:spPr>
          <a:xfrm>
            <a:off x="841248" y="3291840"/>
            <a:ext cx="10479024" cy="384048"/>
          </a:xfrm>
          <a:prstGeom prst="rect">
            <a:avLst/>
          </a:prstGeom>
          <a:noFill/>
          <a:ln/>
        </p:spPr>
        <p:txBody>
          <a:bodyPr wrap="square" lIns="0" tIns="0" rIns="0" bIns="0" rtlCol="0" anchor="ctr"/>
          <a:lstStyle/>
          <a:p>
            <a:pPr rtl="1" algn="r" indent="0" marL="0">
              <a:buNone/>
            </a:pPr>
            <a:r>
              <a:rPr lang="en-US" sz="1500" b="1" dirty="0">
                <a:solidFill>
                  <a:srgbClr val="FFFFFF"/>
                </a:solidFill>
                <a:latin typeface="Tahoma" pitchFamily="34" charset="0"/>
                <a:ea typeface="Tahoma" pitchFamily="34" charset="-122"/>
                <a:cs typeface="Tahoma" pitchFamily="34" charset="-120"/>
              </a:rPr>
              <a:t>نفیس نخ  ·  هکاتون پل سوم  ·  کارخانه هوش مصنوعی ایران</a:t>
            </a:r>
            <a:endParaRPr lang="en-US" sz="1500" dirty="0"/>
          </a:p>
        </p:txBody>
      </p:sp>
      <p:sp>
        <p:nvSpPr>
          <p:cNvPr id="7" name="Text 5"/>
          <p:cNvSpPr/>
          <p:nvPr/>
        </p:nvSpPr>
        <p:spPr>
          <a:xfrm>
            <a:off x="841248" y="3694176"/>
            <a:ext cx="10479024" cy="384048"/>
          </a:xfrm>
          <a:prstGeom prst="rect">
            <a:avLst/>
          </a:prstGeom>
          <a:noFill/>
          <a:ln/>
        </p:spPr>
        <p:txBody>
          <a:bodyPr wrap="square" lIns="0" tIns="0" rIns="0" bIns="0" rtlCol="0" anchor="ctr"/>
          <a:lstStyle/>
          <a:p>
            <a:pPr rtl="1" algn="r" indent="0" marL="0">
              <a:buNone/>
            </a:pPr>
            <a:r>
              <a:rPr lang="en-US" sz="1300" dirty="0">
                <a:solidFill>
                  <a:srgbClr val="CADCFC"/>
                </a:solidFill>
                <a:latin typeface="Tahoma" pitchFamily="34" charset="0"/>
                <a:ea typeface="Tahoma" pitchFamily="34" charset="-122"/>
                <a:cs typeface="Tahoma" pitchFamily="34" charset="-120"/>
              </a:rPr>
              <a:t>‏۶۴۴ مشتری  ·  ۵۲٬۹۸۷ خط فروش  ·  ۱۶ شیت  ·  ۴٬۵۶۵ رکورد متن آزاد  ·  آذر ۱۳۹۸ تا خرداد ۱۴۰۱</a:t>
            </a:r>
            <a:endParaRPr lang="en-US" sz="1300" dirty="0"/>
          </a:p>
        </p:txBody>
      </p:sp>
      <p:sp>
        <p:nvSpPr>
          <p:cNvPr id="8" name="Text 6"/>
          <p:cNvSpPr/>
          <p:nvPr/>
        </p:nvSpPr>
        <p:spPr>
          <a:xfrm>
            <a:off x="566928" y="4663440"/>
            <a:ext cx="11027664" cy="402336"/>
          </a:xfrm>
          <a:prstGeom prst="rect">
            <a:avLst/>
          </a:prstGeom>
          <a:noFill/>
          <a:ln/>
        </p:spPr>
        <p:txBody>
          <a:bodyPr wrap="square" lIns="0" tIns="0" rIns="0" bIns="0" rtlCol="0" anchor="ctr"/>
          <a:lstStyle/>
          <a:p>
            <a:pPr rtl="1" algn="r" indent="0" marL="0">
              <a:buNone/>
            </a:pPr>
            <a:r>
              <a:rPr lang="en-US" sz="1500" b="1" dirty="0">
                <a:solidFill>
                  <a:srgbClr val="FFFFFF"/>
                </a:solidFill>
                <a:latin typeface="Tahoma" pitchFamily="34" charset="0"/>
                <a:ea typeface="Tahoma" pitchFamily="34" charset="-122"/>
                <a:cs typeface="Tahoma" pitchFamily="34" charset="-120"/>
              </a:rPr>
              <a:t>آرین فقیرالهی   ·   امید دیوسالار</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768096"/>
          </a:xfrm>
          <a:prstGeom prst="rect">
            <a:avLst/>
          </a:prstGeom>
          <a:noFill/>
          <a:ln/>
        </p:spPr>
        <p:txBody>
          <a:bodyPr wrap="square" lIns="0" tIns="0" rIns="0" bIns="0" rtlCol="0" anchor="ctr"/>
          <a:lstStyle/>
          <a:p>
            <a:pPr rtl="1" algn="r" indent="0" marL="0">
              <a:buNone/>
            </a:pPr>
            <a:r>
              <a:rPr lang="en-US" sz="3100" b="1" dirty="0">
                <a:solidFill>
                  <a:srgbClr val="15192E"/>
                </a:solidFill>
                <a:latin typeface="Tahoma" pitchFamily="34" charset="0"/>
                <a:ea typeface="Tahoma" pitchFamily="34" charset="-122"/>
                <a:cs typeface="Tahoma" pitchFamily="34" charset="-120"/>
              </a:rPr>
              <a:t>مدیر فروش هر صبح یک تصمیم دارد — و داده کمکش نمی‌کند</a:t>
            </a:r>
            <a:endParaRPr lang="en-US" sz="3100" dirty="0"/>
          </a:p>
        </p:txBody>
      </p:sp>
      <p:sp>
        <p:nvSpPr>
          <p:cNvPr id="3" name="Text 1"/>
          <p:cNvSpPr/>
          <p:nvPr/>
        </p:nvSpPr>
        <p:spPr>
          <a:xfrm>
            <a:off x="566928" y="1115568"/>
            <a:ext cx="11027664" cy="420624"/>
          </a:xfrm>
          <a:prstGeom prst="rect">
            <a:avLst/>
          </a:prstGeom>
          <a:noFill/>
          <a:ln/>
        </p:spPr>
        <p:txBody>
          <a:bodyPr wrap="square" lIns="0" tIns="0" rIns="0" bIns="0" rtlCol="0" anchor="t"/>
          <a:lstStyle/>
          <a:p>
            <a:pPr rtl="1" algn="r" indent="0" marL="0">
              <a:buNone/>
            </a:pPr>
            <a:r>
              <a:rPr lang="en-US" sz="1400" dirty="0">
                <a:solidFill>
                  <a:srgbClr val="5B6178"/>
                </a:solidFill>
                <a:latin typeface="Tahoma" pitchFamily="34" charset="0"/>
                <a:ea typeface="Tahoma" pitchFamily="34" charset="-122"/>
                <a:cs typeface="Tahoma" pitchFamily="34" charset="-120"/>
              </a:rPr>
              <a:t>وقت این هفتهٔ تیم روی کدام حساب‌ها برود، و از کدام حساب‌ها برداشته شود؟</a:t>
            </a:r>
            <a:endParaRPr lang="en-US" sz="1400" dirty="0"/>
          </a:p>
        </p:txBody>
      </p:sp>
      <p:sp>
        <p:nvSpPr>
          <p:cNvPr id="4" name="Shape 2"/>
          <p:cNvSpPr/>
          <p:nvPr/>
        </p:nvSpPr>
        <p:spPr>
          <a:xfrm>
            <a:off x="6190488" y="1737360"/>
            <a:ext cx="5404104" cy="2121408"/>
          </a:xfrm>
          <a:prstGeom prst="roundRect">
            <a:avLst>
              <a:gd name="adj" fmla="val 4310"/>
            </a:avLst>
          </a:prstGeom>
          <a:solidFill>
            <a:srgbClr val="F4F6FB"/>
          </a:solidFill>
          <a:ln w="12700">
            <a:solidFill>
              <a:srgbClr val="DDE3F0"/>
            </a:solidFill>
            <a:prstDash val="solid"/>
          </a:ln>
        </p:spPr>
      </p:sp>
      <p:sp>
        <p:nvSpPr>
          <p:cNvPr id="5" name="Text 3"/>
          <p:cNvSpPr/>
          <p:nvPr/>
        </p:nvSpPr>
        <p:spPr>
          <a:xfrm>
            <a:off x="6428232" y="1883664"/>
            <a:ext cx="4946904" cy="365760"/>
          </a:xfrm>
          <a:prstGeom prst="rect">
            <a:avLst/>
          </a:prstGeom>
          <a:noFill/>
          <a:ln/>
        </p:spPr>
        <p:txBody>
          <a:bodyPr wrap="square" lIns="0" tIns="0" rIns="0" bIns="0" rtlCol="0" anchor="ctr"/>
          <a:lstStyle/>
          <a:p>
            <a:pPr rtl="1" algn="r" indent="0" marL="0">
              <a:buNone/>
            </a:pPr>
            <a:r>
              <a:rPr lang="en-US" sz="1600" b="1" dirty="0">
                <a:solidFill>
                  <a:srgbClr val="15192E"/>
                </a:solidFill>
                <a:latin typeface="Tahoma" pitchFamily="34" charset="0"/>
                <a:ea typeface="Tahoma" pitchFamily="34" charset="-122"/>
                <a:cs typeface="Tahoma" pitchFamily="34" charset="-120"/>
              </a:rPr>
              <a:t>امروز چطور تصمیم گرفته می‌شود</a:t>
            </a:r>
            <a:endParaRPr lang="en-US" sz="1600" dirty="0"/>
          </a:p>
        </p:txBody>
      </p:sp>
      <p:sp>
        <p:nvSpPr>
          <p:cNvPr id="6" name="Text 4"/>
          <p:cNvSpPr/>
          <p:nvPr/>
        </p:nvSpPr>
        <p:spPr>
          <a:xfrm>
            <a:off x="6428232" y="2286000"/>
            <a:ext cx="4946904" cy="1563624"/>
          </a:xfrm>
          <a:prstGeom prst="rect">
            <a:avLst/>
          </a:prstGeom>
          <a:noFill/>
          <a:ln/>
        </p:spPr>
        <p:txBody>
          <a:bodyPr wrap="square" lIns="0" tIns="0" rIns="0" bIns="0" rtlCol="0" anchor="t"/>
          <a:lstStyle/>
          <a:p>
            <a:pPr algn="r" indent="0" marL="0">
              <a:lnSpc>
                <a:spcPct val="116000"/>
              </a:lnSpc>
              <a:spcAft>
                <a:spcPts val="800"/>
              </a:spcAft>
              <a:buNone/>
            </a:pPr>
            <a:r>
              <a:rPr lang="en-US" sz="1350" dirty="0">
                <a:solidFill>
                  <a:srgbClr val="15192E"/>
                </a:solidFill>
                <a:latin typeface="Tahoma" pitchFamily="34" charset="0"/>
                <a:ea typeface="Tahoma" pitchFamily="34" charset="-122"/>
                <a:cs typeface="Tahoma" pitchFamily="34" charset="-120"/>
              </a:rPr>
              <a:t>‏• ‏با حس، و با رتبهٔ فروش</a:t>
            </a:r>
            <a:endParaRPr lang="en-US" sz="1350" dirty="0"/>
          </a:p>
          <a:p>
            <a:pPr algn="r" indent="0" marL="0">
              <a:lnSpc>
                <a:spcPct val="116000"/>
              </a:lnSpc>
              <a:spcAft>
                <a:spcPts val="800"/>
              </a:spcAft>
              <a:buNone/>
            </a:pPr>
            <a:r>
              <a:rPr lang="en-US" sz="1350" dirty="0">
                <a:solidFill>
                  <a:srgbClr val="15192E"/>
                </a:solidFill>
                <a:latin typeface="Tahoma" pitchFamily="34" charset="0"/>
                <a:ea typeface="Tahoma" pitchFamily="34" charset="-122"/>
                <a:cs typeface="Tahoma" pitchFamily="34" charset="-120"/>
              </a:rPr>
              <a:t>‏• ‏داده در ۱۶ شیت و پنج سامانهٔ جدا</a:t>
            </a:r>
            <a:endParaRPr lang="en-US" sz="1350" dirty="0"/>
          </a:p>
          <a:p>
            <a:pPr algn="r" indent="0" marL="0">
              <a:lnSpc>
                <a:spcPct val="116000"/>
              </a:lnSpc>
              <a:spcAft>
                <a:spcPts val="800"/>
              </a:spcAft>
              <a:buNone/>
            </a:pPr>
            <a:r>
              <a:rPr lang="en-US" sz="1350" dirty="0">
                <a:solidFill>
                  <a:srgbClr val="15192E"/>
                </a:solidFill>
                <a:latin typeface="Tahoma" pitchFamily="34" charset="0"/>
                <a:ea typeface="Tahoma" pitchFamily="34" charset="-122"/>
                <a:cs typeface="Tahoma" pitchFamily="34" charset="-120"/>
              </a:rPr>
              <a:t>‏• ‏هیچ‌کس فروش، وصول، شکایت و آفر را کنار هم نمی‌بیند</a:t>
            </a:r>
            <a:endParaRPr lang="en-US" sz="1350" dirty="0"/>
          </a:p>
        </p:txBody>
      </p:sp>
      <p:sp>
        <p:nvSpPr>
          <p:cNvPr id="7" name="Shape 5"/>
          <p:cNvSpPr/>
          <p:nvPr/>
        </p:nvSpPr>
        <p:spPr>
          <a:xfrm>
            <a:off x="566928" y="1737360"/>
            <a:ext cx="5404104" cy="2121408"/>
          </a:xfrm>
          <a:prstGeom prst="roundRect">
            <a:avLst>
              <a:gd name="adj" fmla="val 4310"/>
            </a:avLst>
          </a:prstGeom>
          <a:solidFill>
            <a:srgbClr val="FDF1F1"/>
          </a:solidFill>
          <a:ln w="12700">
            <a:solidFill>
              <a:srgbClr val="F0CFCF"/>
            </a:solidFill>
            <a:prstDash val="solid"/>
          </a:ln>
        </p:spPr>
      </p:sp>
      <p:sp>
        <p:nvSpPr>
          <p:cNvPr id="8" name="Text 6"/>
          <p:cNvSpPr/>
          <p:nvPr/>
        </p:nvSpPr>
        <p:spPr>
          <a:xfrm>
            <a:off x="804672" y="1883664"/>
            <a:ext cx="4946904" cy="365760"/>
          </a:xfrm>
          <a:prstGeom prst="rect">
            <a:avLst/>
          </a:prstGeom>
          <a:noFill/>
          <a:ln/>
        </p:spPr>
        <p:txBody>
          <a:bodyPr wrap="square" lIns="0" tIns="0" rIns="0" bIns="0" rtlCol="0" anchor="ctr"/>
          <a:lstStyle/>
          <a:p>
            <a:pPr rtl="1" algn="r" indent="0" marL="0">
              <a:buNone/>
            </a:pPr>
            <a:r>
              <a:rPr lang="en-US" sz="1600" b="1" dirty="0">
                <a:solidFill>
                  <a:srgbClr val="A4161A"/>
                </a:solidFill>
                <a:latin typeface="Tahoma" pitchFamily="34" charset="0"/>
                <a:ea typeface="Tahoma" pitchFamily="34" charset="-122"/>
                <a:cs typeface="Tahoma" pitchFamily="34" charset="-120"/>
              </a:rPr>
              <a:t>نتیجه‌اش در همین داده دیده می‌شود</a:t>
            </a:r>
            <a:endParaRPr lang="en-US" sz="1600" dirty="0"/>
          </a:p>
        </p:txBody>
      </p:sp>
      <p:sp>
        <p:nvSpPr>
          <p:cNvPr id="9" name="Text 7"/>
          <p:cNvSpPr/>
          <p:nvPr/>
        </p:nvSpPr>
        <p:spPr>
          <a:xfrm>
            <a:off x="804672" y="2286000"/>
            <a:ext cx="4946904" cy="1563624"/>
          </a:xfrm>
          <a:prstGeom prst="rect">
            <a:avLst/>
          </a:prstGeom>
          <a:noFill/>
          <a:ln/>
        </p:spPr>
        <p:txBody>
          <a:bodyPr wrap="square" lIns="0" tIns="0" rIns="0" bIns="0" rtlCol="0" anchor="t"/>
          <a:lstStyle/>
          <a:p>
            <a:pPr algn="r" indent="0" marL="0">
              <a:lnSpc>
                <a:spcPct val="116000"/>
              </a:lnSpc>
              <a:spcAft>
                <a:spcPts val="800"/>
              </a:spcAft>
              <a:buNone/>
            </a:pPr>
            <a:r>
              <a:rPr lang="en-US" sz="1350" dirty="0">
                <a:solidFill>
                  <a:srgbClr val="15192E"/>
                </a:solidFill>
                <a:latin typeface="Tahoma" pitchFamily="34" charset="0"/>
                <a:ea typeface="Tahoma" pitchFamily="34" charset="-122"/>
                <a:cs typeface="Tahoma" pitchFamily="34" charset="-120"/>
              </a:rPr>
              <a:t>‏• ‏رتبهٔ فروش، سودآوری را نشان نمی‌دهد</a:t>
            </a:r>
            <a:endParaRPr lang="en-US" sz="1350" dirty="0"/>
          </a:p>
          <a:p>
            <a:pPr algn="r" indent="0" marL="0">
              <a:lnSpc>
                <a:spcPct val="116000"/>
              </a:lnSpc>
              <a:spcAft>
                <a:spcPts val="800"/>
              </a:spcAft>
              <a:buNone/>
            </a:pPr>
            <a:r>
              <a:rPr lang="en-US" sz="1350" dirty="0">
                <a:solidFill>
                  <a:srgbClr val="15192E"/>
                </a:solidFill>
                <a:latin typeface="Tahoma" pitchFamily="34" charset="0"/>
                <a:ea typeface="Tahoma" pitchFamily="34" charset="-122"/>
                <a:cs typeface="Tahoma" pitchFamily="34" charset="-120"/>
              </a:rPr>
              <a:t>‏• ‏کار وعده‌داده‌شده پیگیری نمی‌شود</a:t>
            </a:r>
            <a:endParaRPr lang="en-US" sz="1350" dirty="0"/>
          </a:p>
          <a:p>
            <a:pPr algn="r" indent="0" marL="0">
              <a:lnSpc>
                <a:spcPct val="116000"/>
              </a:lnSpc>
              <a:spcAft>
                <a:spcPts val="800"/>
              </a:spcAft>
              <a:buNone/>
            </a:pPr>
            <a:r>
              <a:rPr lang="en-US" sz="1350" dirty="0">
                <a:solidFill>
                  <a:srgbClr val="15192E"/>
                </a:solidFill>
                <a:latin typeface="Tahoma" pitchFamily="34" charset="0"/>
                <a:ea typeface="Tahoma" pitchFamily="34" charset="-122"/>
                <a:cs typeface="Tahoma" pitchFamily="34" charset="-120"/>
              </a:rPr>
              <a:t>‏• ‏سیگنال کیفی به کسی که باید، نمی‌رسد</a:t>
            </a:r>
            <a:endParaRPr lang="en-US" sz="1350" dirty="0"/>
          </a:p>
        </p:txBody>
      </p:sp>
      <p:sp>
        <p:nvSpPr>
          <p:cNvPr id="10" name="Text 8"/>
          <p:cNvSpPr/>
          <p:nvPr/>
        </p:nvSpPr>
        <p:spPr>
          <a:xfrm>
            <a:off x="8074152" y="4315968"/>
            <a:ext cx="3520440" cy="694944"/>
          </a:xfrm>
          <a:prstGeom prst="rect">
            <a:avLst/>
          </a:prstGeom>
          <a:noFill/>
          <a:ln/>
        </p:spPr>
        <p:txBody>
          <a:bodyPr wrap="square" lIns="0" tIns="0" rIns="0" bIns="0" rtlCol="0" anchor="ctr"/>
          <a:lstStyle/>
          <a:p>
            <a:pPr rtl="1" algn="ctr" indent="0" marL="0">
              <a:buNone/>
            </a:pPr>
            <a:r>
              <a:rPr lang="en-US" sz="3300" b="1" dirty="0">
                <a:solidFill>
                  <a:srgbClr val="A4161A"/>
                </a:solidFill>
                <a:latin typeface="Tahoma" pitchFamily="34" charset="0"/>
                <a:ea typeface="Tahoma" pitchFamily="34" charset="-122"/>
                <a:cs typeface="Tahoma" pitchFamily="34" charset="-120"/>
              </a:rPr>
              <a:t>‏۳٬۱۰۴</a:t>
            </a:r>
            <a:endParaRPr lang="en-US" sz="3300" dirty="0"/>
          </a:p>
        </p:txBody>
      </p:sp>
      <p:sp>
        <p:nvSpPr>
          <p:cNvPr id="11" name="Text 9"/>
          <p:cNvSpPr/>
          <p:nvPr/>
        </p:nvSpPr>
        <p:spPr>
          <a:xfrm>
            <a:off x="8074152" y="5010912"/>
            <a:ext cx="3520440" cy="347472"/>
          </a:xfrm>
          <a:prstGeom prst="rect">
            <a:avLst/>
          </a:prstGeom>
          <a:noFill/>
          <a:ln/>
        </p:spPr>
        <p:txBody>
          <a:bodyPr wrap="square" lIns="0" tIns="0" rIns="0" bIns="0" rtlCol="0" anchor="ctr"/>
          <a:lstStyle/>
          <a:p>
            <a:pPr rtl="1" algn="ctr" indent="0" marL="0">
              <a:buNone/>
            </a:pPr>
            <a:r>
              <a:rPr lang="en-US" sz="1250" dirty="0">
                <a:solidFill>
                  <a:srgbClr val="15192E"/>
                </a:solidFill>
                <a:latin typeface="Tahoma" pitchFamily="34" charset="0"/>
                <a:ea typeface="Tahoma" pitchFamily="34" charset="-122"/>
                <a:cs typeface="Tahoma" pitchFamily="34" charset="-120"/>
              </a:rPr>
              <a:t>اقدام بعدی ثبت‌شده در CRM</a:t>
            </a:r>
            <a:endParaRPr lang="en-US" sz="1250" dirty="0"/>
          </a:p>
        </p:txBody>
      </p:sp>
      <p:sp>
        <p:nvSpPr>
          <p:cNvPr id="12" name="Text 10"/>
          <p:cNvSpPr/>
          <p:nvPr/>
        </p:nvSpPr>
        <p:spPr>
          <a:xfrm>
            <a:off x="8074152" y="5340096"/>
            <a:ext cx="3520440" cy="603504"/>
          </a:xfrm>
          <a:prstGeom prst="rect">
            <a:avLst/>
          </a:prstGeom>
          <a:noFill/>
          <a:ln/>
        </p:spPr>
        <p:txBody>
          <a:bodyPr wrap="square" lIns="0" tIns="0" rIns="0" bIns="0" rtlCol="0" anchor="t"/>
          <a:lstStyle/>
          <a:p>
            <a:pPr rtl="1" algn="ctr" indent="0" marL="0">
              <a:buNone/>
            </a:pPr>
            <a:r>
              <a:rPr lang="en-US" sz="1050" dirty="0">
                <a:solidFill>
                  <a:srgbClr val="5B6178"/>
                </a:solidFill>
                <a:latin typeface="Tahoma" pitchFamily="34" charset="0"/>
                <a:ea typeface="Tahoma" pitchFamily="34" charset="-122"/>
                <a:cs typeface="Tahoma" pitchFamily="34" charset="-120"/>
              </a:rPr>
              <a:t>میانهٔ عمر ۴۶۱ روز — و شیت هیچ فیلدی برای بستنشان ندارد</a:t>
            </a:r>
            <a:endParaRPr lang="en-US" sz="1050" dirty="0"/>
          </a:p>
        </p:txBody>
      </p:sp>
      <p:sp>
        <p:nvSpPr>
          <p:cNvPr id="13" name="Text 11"/>
          <p:cNvSpPr/>
          <p:nvPr/>
        </p:nvSpPr>
        <p:spPr>
          <a:xfrm>
            <a:off x="4370832" y="4315968"/>
            <a:ext cx="3520440" cy="694944"/>
          </a:xfrm>
          <a:prstGeom prst="rect">
            <a:avLst/>
          </a:prstGeom>
          <a:noFill/>
          <a:ln/>
        </p:spPr>
        <p:txBody>
          <a:bodyPr wrap="square" lIns="0" tIns="0" rIns="0" bIns="0" rtlCol="0" anchor="ctr"/>
          <a:lstStyle/>
          <a:p>
            <a:pPr rtl="1" algn="ctr" indent="0" marL="0">
              <a:buNone/>
            </a:pPr>
            <a:r>
              <a:rPr lang="en-US" sz="3300" b="1" dirty="0">
                <a:solidFill>
                  <a:srgbClr val="C77700"/>
                </a:solidFill>
                <a:latin typeface="Tahoma" pitchFamily="34" charset="0"/>
                <a:ea typeface="Tahoma" pitchFamily="34" charset="-122"/>
                <a:cs typeface="Tahoma" pitchFamily="34" charset="-120"/>
              </a:rPr>
              <a:t>‏۴۳۵</a:t>
            </a:r>
            <a:endParaRPr lang="en-US" sz="3300" dirty="0"/>
          </a:p>
        </p:txBody>
      </p:sp>
      <p:sp>
        <p:nvSpPr>
          <p:cNvPr id="14" name="Text 12"/>
          <p:cNvSpPr/>
          <p:nvPr/>
        </p:nvSpPr>
        <p:spPr>
          <a:xfrm>
            <a:off x="4370832" y="5010912"/>
            <a:ext cx="3520440" cy="347472"/>
          </a:xfrm>
          <a:prstGeom prst="rect">
            <a:avLst/>
          </a:prstGeom>
          <a:noFill/>
          <a:ln/>
        </p:spPr>
        <p:txBody>
          <a:bodyPr wrap="square" lIns="0" tIns="0" rIns="0" bIns="0" rtlCol="0" anchor="ctr"/>
          <a:lstStyle/>
          <a:p>
            <a:pPr rtl="1" algn="ctr" indent="0" marL="0">
              <a:buNone/>
            </a:pPr>
            <a:r>
              <a:rPr lang="en-US" sz="1250" dirty="0">
                <a:solidFill>
                  <a:srgbClr val="15192E"/>
                </a:solidFill>
                <a:latin typeface="Tahoma" pitchFamily="34" charset="0"/>
                <a:ea typeface="Tahoma" pitchFamily="34" charset="-122"/>
                <a:cs typeface="Tahoma" pitchFamily="34" charset="-120"/>
              </a:rPr>
              <a:t>درخواست توسعهٔ بی‌پاسخ</a:t>
            </a:r>
            <a:endParaRPr lang="en-US" sz="1250" dirty="0"/>
          </a:p>
        </p:txBody>
      </p:sp>
      <p:sp>
        <p:nvSpPr>
          <p:cNvPr id="15" name="Text 13"/>
          <p:cNvSpPr/>
          <p:nvPr/>
        </p:nvSpPr>
        <p:spPr>
          <a:xfrm>
            <a:off x="4370832" y="5340096"/>
            <a:ext cx="3520440" cy="603504"/>
          </a:xfrm>
          <a:prstGeom prst="rect">
            <a:avLst/>
          </a:prstGeom>
          <a:noFill/>
          <a:ln/>
        </p:spPr>
        <p:txBody>
          <a:bodyPr wrap="square" lIns="0" tIns="0" rIns="0" bIns="0" rtlCol="0" anchor="t"/>
          <a:lstStyle/>
          <a:p>
            <a:pPr rtl="1" algn="ctr" indent="0" marL="0">
              <a:buNone/>
            </a:pPr>
            <a:r>
              <a:rPr lang="en-US" sz="1050" dirty="0">
                <a:solidFill>
                  <a:srgbClr val="5B6178"/>
                </a:solidFill>
                <a:latin typeface="Tahoma" pitchFamily="34" charset="0"/>
                <a:ea typeface="Tahoma" pitchFamily="34" charset="-122"/>
                <a:cs typeface="Tahoma" pitchFamily="34" charset="-120"/>
              </a:rPr>
              <a:t>از ۷۸۹ درخواست ثبت‌شدهٔ مشتریان</a:t>
            </a:r>
            <a:endParaRPr lang="en-US" sz="1050" dirty="0"/>
          </a:p>
        </p:txBody>
      </p:sp>
      <p:sp>
        <p:nvSpPr>
          <p:cNvPr id="16" name="Text 14"/>
          <p:cNvSpPr/>
          <p:nvPr/>
        </p:nvSpPr>
        <p:spPr>
          <a:xfrm>
            <a:off x="667512" y="4315968"/>
            <a:ext cx="3520440" cy="694944"/>
          </a:xfrm>
          <a:prstGeom prst="rect">
            <a:avLst/>
          </a:prstGeom>
          <a:noFill/>
          <a:ln/>
        </p:spPr>
        <p:txBody>
          <a:bodyPr wrap="square" lIns="0" tIns="0" rIns="0" bIns="0" rtlCol="0" anchor="ctr"/>
          <a:lstStyle/>
          <a:p>
            <a:pPr rtl="1" algn="ctr" indent="0" marL="0">
              <a:buNone/>
            </a:pPr>
            <a:r>
              <a:rPr lang="en-US" sz="3300" b="1" dirty="0">
                <a:solidFill>
                  <a:srgbClr val="A4161A"/>
                </a:solidFill>
                <a:latin typeface="Tahoma" pitchFamily="34" charset="0"/>
                <a:ea typeface="Tahoma" pitchFamily="34" charset="-122"/>
                <a:cs typeface="Tahoma" pitchFamily="34" charset="-120"/>
              </a:rPr>
              <a:t>‏۱۴۹</a:t>
            </a:r>
            <a:endParaRPr lang="en-US" sz="3300" dirty="0"/>
          </a:p>
        </p:txBody>
      </p:sp>
      <p:sp>
        <p:nvSpPr>
          <p:cNvPr id="17" name="Text 15"/>
          <p:cNvSpPr/>
          <p:nvPr/>
        </p:nvSpPr>
        <p:spPr>
          <a:xfrm>
            <a:off x="667512" y="5010912"/>
            <a:ext cx="3520440" cy="347472"/>
          </a:xfrm>
          <a:prstGeom prst="rect">
            <a:avLst/>
          </a:prstGeom>
          <a:noFill/>
          <a:ln/>
        </p:spPr>
        <p:txBody>
          <a:bodyPr wrap="square" lIns="0" tIns="0" rIns="0" bIns="0" rtlCol="0" anchor="ctr"/>
          <a:lstStyle/>
          <a:p>
            <a:pPr rtl="1" algn="ctr" indent="0" marL="0">
              <a:buNone/>
            </a:pPr>
            <a:r>
              <a:rPr lang="en-US" sz="1250" dirty="0">
                <a:solidFill>
                  <a:srgbClr val="15192E"/>
                </a:solidFill>
                <a:latin typeface="Tahoma" pitchFamily="34" charset="0"/>
                <a:ea typeface="Tahoma" pitchFamily="34" charset="-122"/>
                <a:cs typeface="Tahoma" pitchFamily="34" charset="-120"/>
              </a:rPr>
              <a:t>پروندهٔ کیفی باز</a:t>
            </a:r>
            <a:endParaRPr lang="en-US" sz="1250" dirty="0"/>
          </a:p>
        </p:txBody>
      </p:sp>
      <p:sp>
        <p:nvSpPr>
          <p:cNvPr id="18" name="Text 16"/>
          <p:cNvSpPr/>
          <p:nvPr/>
        </p:nvSpPr>
        <p:spPr>
          <a:xfrm>
            <a:off x="667512" y="5340096"/>
            <a:ext cx="3520440" cy="603504"/>
          </a:xfrm>
          <a:prstGeom prst="rect">
            <a:avLst/>
          </a:prstGeom>
          <a:noFill/>
          <a:ln/>
        </p:spPr>
        <p:txBody>
          <a:bodyPr wrap="square" lIns="0" tIns="0" rIns="0" bIns="0" rtlCol="0" anchor="t"/>
          <a:lstStyle/>
          <a:p>
            <a:pPr rtl="1" algn="ctr" indent="0" marL="0">
              <a:buNone/>
            </a:pPr>
            <a:r>
              <a:rPr lang="en-US" sz="1050" dirty="0">
                <a:solidFill>
                  <a:srgbClr val="5B6178"/>
                </a:solidFill>
                <a:latin typeface="Tahoma" pitchFamily="34" charset="0"/>
                <a:ea typeface="Tahoma" pitchFamily="34" charset="-122"/>
                <a:cs typeface="Tahoma" pitchFamily="34" charset="-120"/>
              </a:rPr>
              <a:t>از ۴۶۶ شکایت، روی ۱۴۲ مشتری</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768096"/>
          </a:xfrm>
          <a:prstGeom prst="rect">
            <a:avLst/>
          </a:prstGeom>
          <a:noFill/>
          <a:ln/>
        </p:spPr>
        <p:txBody>
          <a:bodyPr wrap="square" lIns="0" tIns="0" rIns="0" bIns="0" rtlCol="0" anchor="ctr"/>
          <a:lstStyle/>
          <a:p>
            <a:pPr rtl="1" algn="r" indent="0" marL="0">
              <a:buNone/>
            </a:pPr>
            <a:r>
              <a:rPr lang="en-US" sz="3100" b="1" dirty="0">
                <a:solidFill>
                  <a:srgbClr val="15192E"/>
                </a:solidFill>
                <a:latin typeface="Tahoma" pitchFamily="34" charset="0"/>
                <a:ea typeface="Tahoma" pitchFamily="34" charset="-122"/>
                <a:cs typeface="Tahoma" pitchFamily="34" charset="-120"/>
              </a:rPr>
              <a:t>یافته‌ای که ترتیب همهٔ مشتریان را عوض می‌کند</a:t>
            </a:r>
            <a:endParaRPr lang="en-US" sz="3100" dirty="0"/>
          </a:p>
        </p:txBody>
      </p:sp>
      <p:sp>
        <p:nvSpPr>
          <p:cNvPr id="3" name="Text 1"/>
          <p:cNvSpPr/>
          <p:nvPr/>
        </p:nvSpPr>
        <p:spPr>
          <a:xfrm>
            <a:off x="566928" y="1115568"/>
            <a:ext cx="11027664" cy="420624"/>
          </a:xfrm>
          <a:prstGeom prst="rect">
            <a:avLst/>
          </a:prstGeom>
          <a:noFill/>
          <a:ln/>
        </p:spPr>
        <p:txBody>
          <a:bodyPr wrap="square" lIns="0" tIns="0" rIns="0" bIns="0" rtlCol="0" anchor="t"/>
          <a:lstStyle/>
          <a:p>
            <a:pPr rtl="1" algn="r" indent="0" marL="0">
              <a:buNone/>
            </a:pPr>
            <a:r>
              <a:rPr lang="en-US" sz="1400" dirty="0">
                <a:solidFill>
                  <a:srgbClr val="5B6178"/>
                </a:solidFill>
                <a:latin typeface="Tahoma" pitchFamily="34" charset="0"/>
                <a:ea typeface="Tahoma" pitchFamily="34" charset="-122"/>
                <a:cs typeface="Tahoma" pitchFamily="34" charset="-120"/>
              </a:rPr>
              <a:t>پول این سبد به‌طور میانگین ۵۴ روز نزد مشتری می‌ماند. با نرخ ۴٪ ماهانه:</a:t>
            </a:r>
            <a:endParaRPr lang="en-US" sz="1400" dirty="0"/>
          </a:p>
        </p:txBody>
      </p:sp>
      <p:graphicFrame>
        <p:nvGraphicFramePr>
          <p:cNvPr id="4" name="Chart 0" descr=""/>
          <p:cNvGraphicFramePr/>
          <p:nvPr/>
        </p:nvGraphicFramePr>
        <p:xfrm>
          <a:off x="6190488" y="1755648"/>
          <a:ext cx="5404104" cy="2788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66928" y="1755648"/>
            <a:ext cx="5404104" cy="2788920"/>
          </a:xfrm>
          <a:prstGeom prst="roundRect">
            <a:avLst>
              <a:gd name="adj" fmla="val 3279"/>
            </a:avLst>
          </a:prstGeom>
          <a:solidFill>
            <a:srgbClr val="F4F6FB"/>
          </a:solidFill>
          <a:ln w="12700">
            <a:solidFill>
              <a:srgbClr val="DDE3F0"/>
            </a:solidFill>
            <a:prstDash val="solid"/>
          </a:ln>
        </p:spPr>
      </p:sp>
      <p:sp>
        <p:nvSpPr>
          <p:cNvPr id="6" name="Text 3"/>
          <p:cNvSpPr/>
          <p:nvPr/>
        </p:nvSpPr>
        <p:spPr>
          <a:xfrm>
            <a:off x="804672" y="1901952"/>
            <a:ext cx="4946904" cy="365760"/>
          </a:xfrm>
          <a:prstGeom prst="rect">
            <a:avLst/>
          </a:prstGeom>
          <a:noFill/>
          <a:ln/>
        </p:spPr>
        <p:txBody>
          <a:bodyPr wrap="square" lIns="0" tIns="0" rIns="0" bIns="0" rtlCol="0" anchor="ctr"/>
          <a:lstStyle/>
          <a:p>
            <a:pPr rtl="1" algn="r" indent="0" marL="0">
              <a:buNone/>
            </a:pPr>
            <a:r>
              <a:rPr lang="en-US" sz="1700" b="1" dirty="0">
                <a:solidFill>
                  <a:srgbClr val="15192E"/>
                </a:solidFill>
                <a:latin typeface="Tahoma" pitchFamily="34" charset="0"/>
                <a:ea typeface="Tahoma" pitchFamily="34" charset="-122"/>
                <a:cs typeface="Tahoma" pitchFamily="34" charset="-120"/>
              </a:rPr>
              <a:t>یعنی چه؟</a:t>
            </a:r>
            <a:endParaRPr lang="en-US" sz="1700" dirty="0"/>
          </a:p>
        </p:txBody>
      </p:sp>
      <p:sp>
        <p:nvSpPr>
          <p:cNvPr id="7" name="Text 4"/>
          <p:cNvSpPr/>
          <p:nvPr/>
        </p:nvSpPr>
        <p:spPr>
          <a:xfrm>
            <a:off x="804672" y="2322576"/>
            <a:ext cx="4946904" cy="2331720"/>
          </a:xfrm>
          <a:prstGeom prst="rect">
            <a:avLst/>
          </a:prstGeom>
          <a:noFill/>
          <a:ln/>
        </p:spPr>
        <p:txBody>
          <a:bodyPr wrap="square" lIns="0" tIns="0" rIns="0" bIns="0" rtlCol="0" anchor="t"/>
          <a:lstStyle/>
          <a:p>
            <a:pPr algn="r" indent="0" marL="0">
              <a:lnSpc>
                <a:spcPct val="116000"/>
              </a:lnSpc>
              <a:spcAft>
                <a:spcPts val="800"/>
              </a:spcAft>
              <a:buNone/>
            </a:pPr>
            <a:r>
              <a:rPr lang="en-US" sz="1350" dirty="0">
                <a:solidFill>
                  <a:srgbClr val="15192E"/>
                </a:solidFill>
                <a:latin typeface="Tahoma" pitchFamily="34" charset="0"/>
                <a:ea typeface="Tahoma" pitchFamily="34" charset="-122"/>
                <a:cs typeface="Tahoma" pitchFamily="34" charset="-120"/>
              </a:rPr>
              <a:t>‏• ‏هزینهٔ تأمین مالی همین مشتریان از کل سود ناخالص بیشتر است</a:t>
            </a:r>
            <a:endParaRPr lang="en-US" sz="1350" dirty="0"/>
          </a:p>
          <a:p>
            <a:pPr algn="r" indent="0" marL="0">
              <a:lnSpc>
                <a:spcPct val="116000"/>
              </a:lnSpc>
              <a:spcAft>
                <a:spcPts val="800"/>
              </a:spcAft>
              <a:buNone/>
            </a:pPr>
            <a:r>
              <a:rPr lang="en-US" sz="1350" dirty="0">
                <a:solidFill>
                  <a:srgbClr val="15192E"/>
                </a:solidFill>
                <a:latin typeface="Tahoma" pitchFamily="34" charset="0"/>
                <a:ea typeface="Tahoma" pitchFamily="34" charset="-122"/>
                <a:cs typeface="Tahoma" pitchFamily="34" charset="-120"/>
              </a:rPr>
              <a:t>‏• ‏مشتری زیان‌ده از ۵۷ نفر به ۳۱۹ نفر می‌رسد</a:t>
            </a:r>
            <a:endParaRPr lang="en-US" sz="1350" dirty="0"/>
          </a:p>
          <a:p>
            <a:pPr algn="r" indent="0" marL="0">
              <a:lnSpc>
                <a:spcPct val="116000"/>
              </a:lnSpc>
              <a:spcAft>
                <a:spcPts val="800"/>
              </a:spcAft>
              <a:buNone/>
            </a:pPr>
            <a:r>
              <a:rPr lang="en-US" sz="1350" dirty="0">
                <a:solidFill>
                  <a:srgbClr val="15192E"/>
                </a:solidFill>
                <a:latin typeface="Tahoma" pitchFamily="34" charset="0"/>
                <a:ea typeface="Tahoma" pitchFamily="34" charset="-122"/>
                <a:cs typeface="Tahoma" pitchFamily="34" charset="-120"/>
              </a:rPr>
              <a:t>‏• ‏دامنهٔ حاشیه از ۲۶٫۷ به ۴۸٫۶ واحد باز می‌شود</a:t>
            </a:r>
            <a:endParaRPr lang="en-US" sz="1350" dirty="0"/>
          </a:p>
          <a:p>
            <a:pPr algn="r" indent="0" marL="0">
              <a:lnSpc>
                <a:spcPct val="116000"/>
              </a:lnSpc>
              <a:spcAft>
                <a:spcPts val="800"/>
              </a:spcAft>
              <a:buNone/>
            </a:pPr>
            <a:r>
              <a:rPr lang="en-US" sz="1350" dirty="0">
                <a:solidFill>
                  <a:srgbClr val="15192E"/>
                </a:solidFill>
                <a:latin typeface="Tahoma" pitchFamily="34" charset="0"/>
                <a:ea typeface="Tahoma" pitchFamily="34" charset="-122"/>
                <a:cs typeface="Tahoma" pitchFamily="34" charset="-120"/>
              </a:rPr>
              <a:t>‏• ‏۴۱۴ مشتری بیش از ۵۰ پله جابه‌جا می‌شوند</a:t>
            </a:r>
            <a:endParaRPr lang="en-US" sz="1350" dirty="0"/>
          </a:p>
          <a:p>
            <a:pPr algn="r" indent="0" marL="0">
              <a:lnSpc>
                <a:spcPct val="116000"/>
              </a:lnSpc>
              <a:spcAft>
                <a:spcPts val="800"/>
              </a:spcAft>
              <a:buNone/>
            </a:pPr>
            <a:r>
              <a:rPr lang="en-US" sz="1350" dirty="0">
                <a:solidFill>
                  <a:srgbClr val="15192E"/>
                </a:solidFill>
                <a:latin typeface="Tahoma" pitchFamily="34" charset="0"/>
                <a:ea typeface="Tahoma" pitchFamily="34" charset="-122"/>
                <a:cs typeface="Tahoma" pitchFamily="34" charset="-120"/>
              </a:rPr>
              <a:t>‏• ‏یعنی رتبه‌بندی روی حاشیهٔ ناخالص، رتبه‌بندی روی نویز است</a:t>
            </a:r>
            <a:endParaRPr lang="en-US" sz="1350" dirty="0"/>
          </a:p>
        </p:txBody>
      </p:sp>
      <p:sp>
        <p:nvSpPr>
          <p:cNvPr id="8" name="Shape 5"/>
          <p:cNvSpPr/>
          <p:nvPr/>
        </p:nvSpPr>
        <p:spPr>
          <a:xfrm>
            <a:off x="566928" y="4882896"/>
            <a:ext cx="11027664" cy="1005840"/>
          </a:xfrm>
          <a:prstGeom prst="roundRect">
            <a:avLst>
              <a:gd name="adj" fmla="val 9091"/>
            </a:avLst>
          </a:prstGeom>
          <a:solidFill>
            <a:srgbClr val="1E2761"/>
          </a:solidFill>
          <a:ln w="12700">
            <a:solidFill>
              <a:srgbClr val="1E2761"/>
            </a:solidFill>
            <a:prstDash val="solid"/>
          </a:ln>
        </p:spPr>
      </p:sp>
      <p:sp>
        <p:nvSpPr>
          <p:cNvPr id="9" name="Text 6"/>
          <p:cNvSpPr/>
          <p:nvPr/>
        </p:nvSpPr>
        <p:spPr>
          <a:xfrm>
            <a:off x="841248" y="4974336"/>
            <a:ext cx="10479024" cy="822960"/>
          </a:xfrm>
          <a:prstGeom prst="rect">
            <a:avLst/>
          </a:prstGeom>
          <a:noFill/>
          <a:ln/>
        </p:spPr>
        <p:txBody>
          <a:bodyPr wrap="square" lIns="0" tIns="0" rIns="0" bIns="0" rtlCol="0" anchor="ctr"/>
          <a:lstStyle/>
          <a:p>
            <a:pPr rtl="1" algn="r" indent="0" marL="0">
              <a:buNone/>
            </a:pPr>
            <a:r>
              <a:rPr lang="en-US" sz="1350" dirty="0">
                <a:solidFill>
                  <a:srgbClr val="FFFFFF"/>
                </a:solidFill>
                <a:latin typeface="Tahoma" pitchFamily="34" charset="0"/>
                <a:ea typeface="Tahoma" pitchFamily="34" charset="-122"/>
                <a:cs typeface="Tahoma" pitchFamily="34" charset="-120"/>
              </a:rPr>
              <a:t>«روزهای قفل‌شدن پول» را اندازه گرفتیم، از شرایط پرداخت فرض نکردیم — چون ۵۲۶ مشتری از ۶۲۴ مشتری فعال، مهلت پرداخت صفر ثبت شده دارند و در عمل ۵۴ روز طول می‌کشد.</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768096"/>
          </a:xfrm>
          <a:prstGeom prst="rect">
            <a:avLst/>
          </a:prstGeom>
          <a:noFill/>
          <a:ln/>
        </p:spPr>
        <p:txBody>
          <a:bodyPr wrap="square" lIns="0" tIns="0" rIns="0" bIns="0" rtlCol="0" anchor="ctr"/>
          <a:lstStyle/>
          <a:p>
            <a:pPr rtl="1" algn="r" indent="0" marL="0">
              <a:buNone/>
            </a:pPr>
            <a:r>
              <a:rPr lang="en-US" sz="3100" b="1" dirty="0">
                <a:solidFill>
                  <a:srgbClr val="15192E"/>
                </a:solidFill>
                <a:latin typeface="Tahoma" pitchFamily="34" charset="0"/>
                <a:ea typeface="Tahoma" pitchFamily="34" charset="-122"/>
                <a:cs typeface="Tahoma" pitchFamily="34" charset="-120"/>
              </a:rPr>
              <a:t>راه‌حل: یک صفحه که می‌گوید امروز با چه کسی و چرا</a:t>
            </a:r>
            <a:endParaRPr lang="en-US" sz="3100" dirty="0"/>
          </a:p>
        </p:txBody>
      </p:sp>
      <p:sp>
        <p:nvSpPr>
          <p:cNvPr id="3" name="Text 1"/>
          <p:cNvSpPr/>
          <p:nvPr/>
        </p:nvSpPr>
        <p:spPr>
          <a:xfrm>
            <a:off x="566928" y="1115568"/>
            <a:ext cx="11027664" cy="420624"/>
          </a:xfrm>
          <a:prstGeom prst="rect">
            <a:avLst/>
          </a:prstGeom>
          <a:noFill/>
          <a:ln/>
        </p:spPr>
        <p:txBody>
          <a:bodyPr wrap="square" lIns="0" tIns="0" rIns="0" bIns="0" rtlCol="0" anchor="t"/>
          <a:lstStyle/>
          <a:p>
            <a:pPr rtl="1" algn="r" indent="0" marL="0">
              <a:buNone/>
            </a:pPr>
            <a:r>
              <a:rPr lang="en-US" sz="1400" dirty="0">
                <a:solidFill>
                  <a:srgbClr val="5B6178"/>
                </a:solidFill>
                <a:latin typeface="Tahoma" pitchFamily="34" charset="0"/>
                <a:ea typeface="Tahoma" pitchFamily="34" charset="-122"/>
                <a:cs typeface="Tahoma" pitchFamily="34" charset="-120"/>
              </a:rPr>
              <a:t>پنج موتور روی یک پروفایل مشترک، و هر عدد تا رکورد منبعش قابل ردیابی.</a:t>
            </a:r>
            <a:endParaRPr lang="en-US" sz="1400" dirty="0"/>
          </a:p>
        </p:txBody>
      </p:sp>
      <p:pic>
        <p:nvPicPr>
          <p:cNvPr id="4" name="Image 0" descr="/home/claude/nafis_copilot/deck/img/worklist.png">    </p:cNvPr>
          <p:cNvPicPr>
            <a:picLocks noChangeAspect="1"/>
          </p:cNvPicPr>
          <p:nvPr/>
        </p:nvPicPr>
        <p:blipFill>
          <a:blip r:embed="rId1"/>
          <a:stretch>
            <a:fillRect/>
          </a:stretch>
        </p:blipFill>
        <p:spPr>
          <a:xfrm>
            <a:off x="566928" y="1773936"/>
            <a:ext cx="6446520" cy="3118781"/>
          </a:xfrm>
          <a:prstGeom prst="rect">
            <a:avLst/>
          </a:prstGeom>
          <a:effectLst>
            <a:outerShdw sx="100000" sy="100000" kx="0" ky="0" algn="bl" rotWithShape="0" blurRad="114300" dist="25400" dir="5400000">
              <a:srgbClr val="9AA3BC">
                <a:alpha val="35000"/>
              </a:srgbClr>
            </a:outerShdw>
          </a:effectLst>
        </p:spPr>
      </p:pic>
      <p:sp>
        <p:nvSpPr>
          <p:cNvPr id="5" name="Shape 2"/>
          <p:cNvSpPr/>
          <p:nvPr/>
        </p:nvSpPr>
        <p:spPr>
          <a:xfrm>
            <a:off x="11283696" y="1755648"/>
            <a:ext cx="274320" cy="274320"/>
          </a:xfrm>
          <a:prstGeom prst="roundRect">
            <a:avLst>
              <a:gd name="adj" fmla="val 50000"/>
            </a:avLst>
          </a:prstGeom>
          <a:solidFill>
            <a:srgbClr val="1E2761"/>
          </a:solidFill>
          <a:ln w="12700">
            <a:solidFill>
              <a:srgbClr val="1E2761"/>
            </a:solidFill>
            <a:prstDash val="solid"/>
          </a:ln>
        </p:spPr>
      </p:sp>
      <p:sp>
        <p:nvSpPr>
          <p:cNvPr id="6" name="Text 3"/>
          <p:cNvSpPr/>
          <p:nvPr/>
        </p:nvSpPr>
        <p:spPr>
          <a:xfrm>
            <a:off x="11283696" y="1755648"/>
            <a:ext cx="274320" cy="274320"/>
          </a:xfrm>
          <a:prstGeom prst="rect">
            <a:avLst/>
          </a:prstGeom>
          <a:noFill/>
          <a:ln/>
        </p:spPr>
        <p:txBody>
          <a:bodyPr wrap="square" lIns="0" tIns="0" rIns="0" bIns="0" rtlCol="0" anchor="ctr"/>
          <a:lstStyle/>
          <a:p>
            <a:pPr rtl="1" algn="ctr" indent="0" marL="0">
              <a:buNone/>
            </a:pPr>
            <a:r>
              <a:rPr lang="en-US" sz="1100" b="1" dirty="0">
                <a:solidFill>
                  <a:srgbClr val="FFFFFF"/>
                </a:solidFill>
                <a:latin typeface="Tahoma" pitchFamily="34" charset="0"/>
                <a:ea typeface="Tahoma" pitchFamily="34" charset="-122"/>
                <a:cs typeface="Tahoma" pitchFamily="34" charset="-120"/>
              </a:rPr>
              <a:t>‏۱</a:t>
            </a:r>
            <a:endParaRPr lang="en-US" sz="1100" dirty="0"/>
          </a:p>
        </p:txBody>
      </p:sp>
      <p:sp>
        <p:nvSpPr>
          <p:cNvPr id="7" name="Text 4"/>
          <p:cNvSpPr/>
          <p:nvPr/>
        </p:nvSpPr>
        <p:spPr>
          <a:xfrm>
            <a:off x="7223760" y="1728216"/>
            <a:ext cx="3950208" cy="274320"/>
          </a:xfrm>
          <a:prstGeom prst="rect">
            <a:avLst/>
          </a:prstGeom>
          <a:noFill/>
          <a:ln/>
        </p:spPr>
        <p:txBody>
          <a:bodyPr wrap="square" lIns="0" tIns="0" rIns="0" bIns="0" rtlCol="0" anchor="ctr"/>
          <a:lstStyle/>
          <a:p>
            <a:pPr rtl="1" algn="r" indent="0" marL="0">
              <a:buNone/>
            </a:pPr>
            <a:r>
              <a:rPr lang="en-US" sz="1400" b="1" dirty="0">
                <a:solidFill>
                  <a:srgbClr val="15192E"/>
                </a:solidFill>
                <a:latin typeface="Tahoma" pitchFamily="34" charset="0"/>
                <a:ea typeface="Tahoma" pitchFamily="34" charset="-122"/>
                <a:cs typeface="Tahoma" pitchFamily="34" charset="-120"/>
              </a:rPr>
              <a:t>کارتابل</a:t>
            </a:r>
            <a:endParaRPr lang="en-US" sz="1400" dirty="0"/>
          </a:p>
        </p:txBody>
      </p:sp>
      <p:sp>
        <p:nvSpPr>
          <p:cNvPr id="8" name="Text 5"/>
          <p:cNvSpPr/>
          <p:nvPr/>
        </p:nvSpPr>
        <p:spPr>
          <a:xfrm>
            <a:off x="7223760" y="1993392"/>
            <a:ext cx="3950208" cy="365760"/>
          </a:xfrm>
          <a:prstGeom prst="rect">
            <a:avLst/>
          </a:prstGeom>
          <a:noFill/>
          <a:ln/>
        </p:spPr>
        <p:txBody>
          <a:bodyPr wrap="square" lIns="0" tIns="0" rIns="0" bIns="0" rtlCol="0" anchor="t"/>
          <a:lstStyle/>
          <a:p>
            <a:pPr rtl="1" algn="r" indent="0" marL="0">
              <a:buNone/>
            </a:pPr>
            <a:r>
              <a:rPr lang="en-US" sz="1100" dirty="0">
                <a:solidFill>
                  <a:srgbClr val="5B6178"/>
                </a:solidFill>
                <a:latin typeface="Tahoma" pitchFamily="34" charset="0"/>
                <a:ea typeface="Tahoma" pitchFamily="34" charset="-122"/>
                <a:cs typeface="Tahoma" pitchFamily="34" charset="-120"/>
              </a:rPr>
              <a:t>هدف ارتباط، مشتری کیست، بهترین کانال — و دستور کار تماس یا جلسه</a:t>
            </a:r>
            <a:endParaRPr lang="en-US" sz="1100" dirty="0"/>
          </a:p>
        </p:txBody>
      </p:sp>
      <p:sp>
        <p:nvSpPr>
          <p:cNvPr id="9" name="Shape 6"/>
          <p:cNvSpPr/>
          <p:nvPr/>
        </p:nvSpPr>
        <p:spPr>
          <a:xfrm>
            <a:off x="11283696" y="2414016"/>
            <a:ext cx="274320" cy="274320"/>
          </a:xfrm>
          <a:prstGeom prst="roundRect">
            <a:avLst>
              <a:gd name="adj" fmla="val 50000"/>
            </a:avLst>
          </a:prstGeom>
          <a:solidFill>
            <a:srgbClr val="1E2761"/>
          </a:solidFill>
          <a:ln w="12700">
            <a:solidFill>
              <a:srgbClr val="1E2761"/>
            </a:solidFill>
            <a:prstDash val="solid"/>
          </a:ln>
        </p:spPr>
      </p:sp>
      <p:sp>
        <p:nvSpPr>
          <p:cNvPr id="10" name="Text 7"/>
          <p:cNvSpPr/>
          <p:nvPr/>
        </p:nvSpPr>
        <p:spPr>
          <a:xfrm>
            <a:off x="11283696" y="2414016"/>
            <a:ext cx="274320" cy="274320"/>
          </a:xfrm>
          <a:prstGeom prst="rect">
            <a:avLst/>
          </a:prstGeom>
          <a:noFill/>
          <a:ln/>
        </p:spPr>
        <p:txBody>
          <a:bodyPr wrap="square" lIns="0" tIns="0" rIns="0" bIns="0" rtlCol="0" anchor="ctr"/>
          <a:lstStyle/>
          <a:p>
            <a:pPr rtl="1" algn="ctr" indent="0" marL="0">
              <a:buNone/>
            </a:pPr>
            <a:r>
              <a:rPr lang="en-US" sz="1100" b="1" dirty="0">
                <a:solidFill>
                  <a:srgbClr val="FFFFFF"/>
                </a:solidFill>
                <a:latin typeface="Tahoma" pitchFamily="34" charset="0"/>
                <a:ea typeface="Tahoma" pitchFamily="34" charset="-122"/>
                <a:cs typeface="Tahoma" pitchFamily="34" charset="-120"/>
              </a:rPr>
              <a:t>‏۲</a:t>
            </a:r>
            <a:endParaRPr lang="en-US" sz="1100" dirty="0"/>
          </a:p>
        </p:txBody>
      </p:sp>
      <p:sp>
        <p:nvSpPr>
          <p:cNvPr id="11" name="Text 8"/>
          <p:cNvSpPr/>
          <p:nvPr/>
        </p:nvSpPr>
        <p:spPr>
          <a:xfrm>
            <a:off x="7223760" y="2386584"/>
            <a:ext cx="3950208" cy="274320"/>
          </a:xfrm>
          <a:prstGeom prst="rect">
            <a:avLst/>
          </a:prstGeom>
          <a:noFill/>
          <a:ln/>
        </p:spPr>
        <p:txBody>
          <a:bodyPr wrap="square" lIns="0" tIns="0" rIns="0" bIns="0" rtlCol="0" anchor="ctr"/>
          <a:lstStyle/>
          <a:p>
            <a:pPr rtl="1" algn="r" indent="0" marL="0">
              <a:buNone/>
            </a:pPr>
            <a:r>
              <a:rPr lang="en-US" sz="1400" b="1" dirty="0">
                <a:solidFill>
                  <a:srgbClr val="15192E"/>
                </a:solidFill>
                <a:latin typeface="Tahoma" pitchFamily="34" charset="0"/>
                <a:ea typeface="Tahoma" pitchFamily="34" charset="-122"/>
                <a:cs typeface="Tahoma" pitchFamily="34" charset="-120"/>
              </a:rPr>
              <a:t>نبض بازار</a:t>
            </a:r>
            <a:endParaRPr lang="en-US" sz="1400" dirty="0"/>
          </a:p>
        </p:txBody>
      </p:sp>
      <p:sp>
        <p:nvSpPr>
          <p:cNvPr id="12" name="Text 9"/>
          <p:cNvSpPr/>
          <p:nvPr/>
        </p:nvSpPr>
        <p:spPr>
          <a:xfrm>
            <a:off x="7223760" y="2651760"/>
            <a:ext cx="3950208" cy="365760"/>
          </a:xfrm>
          <a:prstGeom prst="rect">
            <a:avLst/>
          </a:prstGeom>
          <a:noFill/>
          <a:ln/>
        </p:spPr>
        <p:txBody>
          <a:bodyPr wrap="square" lIns="0" tIns="0" rIns="0" bIns="0" rtlCol="0" anchor="t"/>
          <a:lstStyle/>
          <a:p>
            <a:pPr rtl="1" algn="r" indent="0" marL="0">
              <a:buNone/>
            </a:pPr>
            <a:r>
              <a:rPr lang="en-US" sz="1100" dirty="0">
                <a:solidFill>
                  <a:srgbClr val="5B6178"/>
                </a:solidFill>
                <a:latin typeface="Tahoma" pitchFamily="34" charset="0"/>
                <a:ea typeface="Tahoma" pitchFamily="34" charset="-122"/>
                <a:cs typeface="Tahoma" pitchFamily="34" charset="-120"/>
              </a:rPr>
              <a:t>خلاصه و پیش‌بینی دوره، با خطای بک‌تست کنار هر عدد</a:t>
            </a:r>
            <a:endParaRPr lang="en-US" sz="1100" dirty="0"/>
          </a:p>
        </p:txBody>
      </p:sp>
      <p:sp>
        <p:nvSpPr>
          <p:cNvPr id="13" name="Shape 10"/>
          <p:cNvSpPr/>
          <p:nvPr/>
        </p:nvSpPr>
        <p:spPr>
          <a:xfrm>
            <a:off x="11283696" y="3072384"/>
            <a:ext cx="274320" cy="274320"/>
          </a:xfrm>
          <a:prstGeom prst="roundRect">
            <a:avLst>
              <a:gd name="adj" fmla="val 50000"/>
            </a:avLst>
          </a:prstGeom>
          <a:solidFill>
            <a:srgbClr val="1E2761"/>
          </a:solidFill>
          <a:ln w="12700">
            <a:solidFill>
              <a:srgbClr val="1E2761"/>
            </a:solidFill>
            <a:prstDash val="solid"/>
          </a:ln>
        </p:spPr>
      </p:sp>
      <p:sp>
        <p:nvSpPr>
          <p:cNvPr id="14" name="Text 11"/>
          <p:cNvSpPr/>
          <p:nvPr/>
        </p:nvSpPr>
        <p:spPr>
          <a:xfrm>
            <a:off x="11283696" y="3072384"/>
            <a:ext cx="274320" cy="274320"/>
          </a:xfrm>
          <a:prstGeom prst="rect">
            <a:avLst/>
          </a:prstGeom>
          <a:noFill/>
          <a:ln/>
        </p:spPr>
        <p:txBody>
          <a:bodyPr wrap="square" lIns="0" tIns="0" rIns="0" bIns="0" rtlCol="0" anchor="ctr"/>
          <a:lstStyle/>
          <a:p>
            <a:pPr rtl="1" algn="ctr" indent="0" marL="0">
              <a:buNone/>
            </a:pPr>
            <a:r>
              <a:rPr lang="en-US" sz="1100" b="1" dirty="0">
                <a:solidFill>
                  <a:srgbClr val="FFFFFF"/>
                </a:solidFill>
                <a:latin typeface="Tahoma" pitchFamily="34" charset="0"/>
                <a:ea typeface="Tahoma" pitchFamily="34" charset="-122"/>
                <a:cs typeface="Tahoma" pitchFamily="34" charset="-120"/>
              </a:rPr>
              <a:t>‏۳</a:t>
            </a:r>
            <a:endParaRPr lang="en-US" sz="1100" dirty="0"/>
          </a:p>
        </p:txBody>
      </p:sp>
      <p:sp>
        <p:nvSpPr>
          <p:cNvPr id="15" name="Text 12"/>
          <p:cNvSpPr/>
          <p:nvPr/>
        </p:nvSpPr>
        <p:spPr>
          <a:xfrm>
            <a:off x="7223760" y="3044952"/>
            <a:ext cx="3950208" cy="274320"/>
          </a:xfrm>
          <a:prstGeom prst="rect">
            <a:avLst/>
          </a:prstGeom>
          <a:noFill/>
          <a:ln/>
        </p:spPr>
        <p:txBody>
          <a:bodyPr wrap="square" lIns="0" tIns="0" rIns="0" bIns="0" rtlCol="0" anchor="ctr"/>
          <a:lstStyle/>
          <a:p>
            <a:pPr rtl="1" algn="r" indent="0" marL="0">
              <a:buNone/>
            </a:pPr>
            <a:r>
              <a:rPr lang="en-US" sz="1400" b="1" dirty="0">
                <a:solidFill>
                  <a:srgbClr val="15192E"/>
                </a:solidFill>
                <a:latin typeface="Tahoma" pitchFamily="34" charset="0"/>
                <a:ea typeface="Tahoma" pitchFamily="34" charset="-122"/>
                <a:cs typeface="Tahoma" pitchFamily="34" charset="-120"/>
              </a:rPr>
              <a:t>مرکز سیگنال</a:t>
            </a:r>
            <a:endParaRPr lang="en-US" sz="1400" dirty="0"/>
          </a:p>
        </p:txBody>
      </p:sp>
      <p:sp>
        <p:nvSpPr>
          <p:cNvPr id="16" name="Text 13"/>
          <p:cNvSpPr/>
          <p:nvPr/>
        </p:nvSpPr>
        <p:spPr>
          <a:xfrm>
            <a:off x="7223760" y="3310128"/>
            <a:ext cx="3950208" cy="365760"/>
          </a:xfrm>
          <a:prstGeom prst="rect">
            <a:avLst/>
          </a:prstGeom>
          <a:noFill/>
          <a:ln/>
        </p:spPr>
        <p:txBody>
          <a:bodyPr wrap="square" lIns="0" tIns="0" rIns="0" bIns="0" rtlCol="0" anchor="t"/>
          <a:lstStyle/>
          <a:p>
            <a:pPr rtl="1" algn="r" indent="0" marL="0">
              <a:buNone/>
            </a:pPr>
            <a:r>
              <a:rPr lang="en-US" sz="1100" dirty="0">
                <a:solidFill>
                  <a:srgbClr val="5B6178"/>
                </a:solidFill>
                <a:latin typeface="Tahoma" pitchFamily="34" charset="0"/>
                <a:ea typeface="Tahoma" pitchFamily="34" charset="-122"/>
                <a:cs typeface="Tahoma" pitchFamily="34" charset="-120"/>
              </a:rPr>
              <a:t>شکایت، درخواست توسعه و تعامل CRM روی یک کلید مشترک</a:t>
            </a:r>
            <a:endParaRPr lang="en-US" sz="1100" dirty="0"/>
          </a:p>
        </p:txBody>
      </p:sp>
      <p:sp>
        <p:nvSpPr>
          <p:cNvPr id="17" name="Shape 14"/>
          <p:cNvSpPr/>
          <p:nvPr/>
        </p:nvSpPr>
        <p:spPr>
          <a:xfrm>
            <a:off x="11283696" y="3730752"/>
            <a:ext cx="274320" cy="274320"/>
          </a:xfrm>
          <a:prstGeom prst="roundRect">
            <a:avLst>
              <a:gd name="adj" fmla="val 50000"/>
            </a:avLst>
          </a:prstGeom>
          <a:solidFill>
            <a:srgbClr val="1E2761"/>
          </a:solidFill>
          <a:ln w="12700">
            <a:solidFill>
              <a:srgbClr val="1E2761"/>
            </a:solidFill>
            <a:prstDash val="solid"/>
          </a:ln>
        </p:spPr>
      </p:sp>
      <p:sp>
        <p:nvSpPr>
          <p:cNvPr id="18" name="Text 15"/>
          <p:cNvSpPr/>
          <p:nvPr/>
        </p:nvSpPr>
        <p:spPr>
          <a:xfrm>
            <a:off x="11283696" y="3730752"/>
            <a:ext cx="274320" cy="274320"/>
          </a:xfrm>
          <a:prstGeom prst="rect">
            <a:avLst/>
          </a:prstGeom>
          <a:noFill/>
          <a:ln/>
        </p:spPr>
        <p:txBody>
          <a:bodyPr wrap="square" lIns="0" tIns="0" rIns="0" bIns="0" rtlCol="0" anchor="ctr"/>
          <a:lstStyle/>
          <a:p>
            <a:pPr rtl="1" algn="ctr" indent="0" marL="0">
              <a:buNone/>
            </a:pPr>
            <a:r>
              <a:rPr lang="en-US" sz="1100" b="1" dirty="0">
                <a:solidFill>
                  <a:srgbClr val="FFFFFF"/>
                </a:solidFill>
                <a:latin typeface="Tahoma" pitchFamily="34" charset="0"/>
                <a:ea typeface="Tahoma" pitchFamily="34" charset="-122"/>
                <a:cs typeface="Tahoma" pitchFamily="34" charset="-120"/>
              </a:rPr>
              <a:t>‏۴</a:t>
            </a:r>
            <a:endParaRPr lang="en-US" sz="1100" dirty="0"/>
          </a:p>
        </p:txBody>
      </p:sp>
      <p:sp>
        <p:nvSpPr>
          <p:cNvPr id="19" name="Text 16"/>
          <p:cNvSpPr/>
          <p:nvPr/>
        </p:nvSpPr>
        <p:spPr>
          <a:xfrm>
            <a:off x="7223760" y="3703320"/>
            <a:ext cx="3950208" cy="274320"/>
          </a:xfrm>
          <a:prstGeom prst="rect">
            <a:avLst/>
          </a:prstGeom>
          <a:noFill/>
          <a:ln/>
        </p:spPr>
        <p:txBody>
          <a:bodyPr wrap="square" lIns="0" tIns="0" rIns="0" bIns="0" rtlCol="0" anchor="ctr"/>
          <a:lstStyle/>
          <a:p>
            <a:pPr rtl="1" algn="r" indent="0" marL="0">
              <a:buNone/>
            </a:pPr>
            <a:r>
              <a:rPr lang="en-US" sz="1400" b="1" dirty="0">
                <a:solidFill>
                  <a:srgbClr val="15192E"/>
                </a:solidFill>
                <a:latin typeface="Tahoma" pitchFamily="34" charset="0"/>
                <a:ea typeface="Tahoma" pitchFamily="34" charset="-122"/>
                <a:cs typeface="Tahoma" pitchFamily="34" charset="-120"/>
              </a:rPr>
              <a:t>آفر</a:t>
            </a:r>
            <a:endParaRPr lang="en-US" sz="1400" dirty="0"/>
          </a:p>
        </p:txBody>
      </p:sp>
      <p:sp>
        <p:nvSpPr>
          <p:cNvPr id="20" name="Text 17"/>
          <p:cNvSpPr/>
          <p:nvPr/>
        </p:nvSpPr>
        <p:spPr>
          <a:xfrm>
            <a:off x="7223760" y="3968496"/>
            <a:ext cx="3950208" cy="365760"/>
          </a:xfrm>
          <a:prstGeom prst="rect">
            <a:avLst/>
          </a:prstGeom>
          <a:noFill/>
          <a:ln/>
        </p:spPr>
        <p:txBody>
          <a:bodyPr wrap="square" lIns="0" tIns="0" rIns="0" bIns="0" rtlCol="0" anchor="t"/>
          <a:lstStyle/>
          <a:p>
            <a:pPr rtl="1" algn="r" indent="0" marL="0">
              <a:buNone/>
            </a:pPr>
            <a:r>
              <a:rPr lang="en-US" sz="1100" dirty="0">
                <a:solidFill>
                  <a:srgbClr val="5B6178"/>
                </a:solidFill>
                <a:latin typeface="Tahoma" pitchFamily="34" charset="0"/>
                <a:ea typeface="Tahoma" pitchFamily="34" charset="-122"/>
                <a:cs typeface="Tahoma" pitchFamily="34" charset="-120"/>
              </a:rPr>
              <a:t>به چه کسی، چه تخفیفی، چه مهلتی — با دلیل داده‌محور</a:t>
            </a:r>
            <a:endParaRPr lang="en-US" sz="1100" dirty="0"/>
          </a:p>
        </p:txBody>
      </p:sp>
      <p:sp>
        <p:nvSpPr>
          <p:cNvPr id="21" name="Shape 18"/>
          <p:cNvSpPr/>
          <p:nvPr/>
        </p:nvSpPr>
        <p:spPr>
          <a:xfrm>
            <a:off x="11283696" y="4389120"/>
            <a:ext cx="274320" cy="274320"/>
          </a:xfrm>
          <a:prstGeom prst="roundRect">
            <a:avLst>
              <a:gd name="adj" fmla="val 50000"/>
            </a:avLst>
          </a:prstGeom>
          <a:solidFill>
            <a:srgbClr val="1E2761"/>
          </a:solidFill>
          <a:ln w="12700">
            <a:solidFill>
              <a:srgbClr val="1E2761"/>
            </a:solidFill>
            <a:prstDash val="solid"/>
          </a:ln>
        </p:spPr>
      </p:sp>
      <p:sp>
        <p:nvSpPr>
          <p:cNvPr id="22" name="Text 19"/>
          <p:cNvSpPr/>
          <p:nvPr/>
        </p:nvSpPr>
        <p:spPr>
          <a:xfrm>
            <a:off x="11283696" y="4389120"/>
            <a:ext cx="274320" cy="274320"/>
          </a:xfrm>
          <a:prstGeom prst="rect">
            <a:avLst/>
          </a:prstGeom>
          <a:noFill/>
          <a:ln/>
        </p:spPr>
        <p:txBody>
          <a:bodyPr wrap="square" lIns="0" tIns="0" rIns="0" bIns="0" rtlCol="0" anchor="ctr"/>
          <a:lstStyle/>
          <a:p>
            <a:pPr rtl="1" algn="ctr" indent="0" marL="0">
              <a:buNone/>
            </a:pPr>
            <a:r>
              <a:rPr lang="en-US" sz="1100" b="1" dirty="0">
                <a:solidFill>
                  <a:srgbClr val="FFFFFF"/>
                </a:solidFill>
                <a:latin typeface="Tahoma" pitchFamily="34" charset="0"/>
                <a:ea typeface="Tahoma" pitchFamily="34" charset="-122"/>
                <a:cs typeface="Tahoma" pitchFamily="34" charset="-120"/>
              </a:rPr>
              <a:t>‏۵</a:t>
            </a:r>
            <a:endParaRPr lang="en-US" sz="1100" dirty="0"/>
          </a:p>
        </p:txBody>
      </p:sp>
      <p:sp>
        <p:nvSpPr>
          <p:cNvPr id="23" name="Text 20"/>
          <p:cNvSpPr/>
          <p:nvPr/>
        </p:nvSpPr>
        <p:spPr>
          <a:xfrm>
            <a:off x="7223760" y="4361688"/>
            <a:ext cx="3950208" cy="274320"/>
          </a:xfrm>
          <a:prstGeom prst="rect">
            <a:avLst/>
          </a:prstGeom>
          <a:noFill/>
          <a:ln/>
        </p:spPr>
        <p:txBody>
          <a:bodyPr wrap="square" lIns="0" tIns="0" rIns="0" bIns="0" rtlCol="0" anchor="ctr"/>
          <a:lstStyle/>
          <a:p>
            <a:pPr rtl="1" algn="r" indent="0" marL="0">
              <a:buNone/>
            </a:pPr>
            <a:r>
              <a:rPr lang="en-US" sz="1400" b="1" dirty="0">
                <a:solidFill>
                  <a:srgbClr val="15192E"/>
                </a:solidFill>
                <a:latin typeface="Tahoma" pitchFamily="34" charset="0"/>
                <a:ea typeface="Tahoma" pitchFamily="34" charset="-122"/>
                <a:cs typeface="Tahoma" pitchFamily="34" charset="-120"/>
              </a:rPr>
              <a:t>کارتابل کارشناس</a:t>
            </a:r>
            <a:endParaRPr lang="en-US" sz="1400" dirty="0"/>
          </a:p>
        </p:txBody>
      </p:sp>
      <p:sp>
        <p:nvSpPr>
          <p:cNvPr id="24" name="Text 21"/>
          <p:cNvSpPr/>
          <p:nvPr/>
        </p:nvSpPr>
        <p:spPr>
          <a:xfrm>
            <a:off x="7223760" y="4626864"/>
            <a:ext cx="3950208" cy="365760"/>
          </a:xfrm>
          <a:prstGeom prst="rect">
            <a:avLst/>
          </a:prstGeom>
          <a:noFill/>
          <a:ln/>
        </p:spPr>
        <p:txBody>
          <a:bodyPr wrap="square" lIns="0" tIns="0" rIns="0" bIns="0" rtlCol="0" anchor="t"/>
          <a:lstStyle/>
          <a:p>
            <a:pPr rtl="1" algn="r" indent="0" marL="0">
              <a:buNone/>
            </a:pPr>
            <a:r>
              <a:rPr lang="en-US" sz="1100" dirty="0">
                <a:solidFill>
                  <a:srgbClr val="5B6178"/>
                </a:solidFill>
                <a:latin typeface="Tahoma" pitchFamily="34" charset="0"/>
                <a:ea typeface="Tahoma" pitchFamily="34" charset="-122"/>
                <a:cs typeface="Tahoma" pitchFamily="34" charset="-120"/>
              </a:rPr>
              <a:t>ارجاع کار تماسی، گزارش ساختاریافته، تصمیم مدیر</a:t>
            </a:r>
            <a:endParaRPr lang="en-US" sz="1100" dirty="0"/>
          </a:p>
        </p:txBody>
      </p:sp>
      <p:sp>
        <p:nvSpPr>
          <p:cNvPr id="25" name="Text 22"/>
          <p:cNvSpPr/>
          <p:nvPr/>
        </p:nvSpPr>
        <p:spPr>
          <a:xfrm>
            <a:off x="566928" y="6071616"/>
            <a:ext cx="11027664" cy="310896"/>
          </a:xfrm>
          <a:prstGeom prst="rect">
            <a:avLst/>
          </a:prstGeom>
          <a:noFill/>
          <a:ln/>
        </p:spPr>
        <p:txBody>
          <a:bodyPr wrap="square" lIns="0" tIns="0" rIns="0" bIns="0" rtlCol="0" anchor="ctr"/>
          <a:lstStyle/>
          <a:p>
            <a:pPr rtl="1" algn="r" indent="0" marL="0">
              <a:buNone/>
            </a:pPr>
            <a:r>
              <a:rPr lang="en-US" sz="1050" dirty="0">
                <a:solidFill>
                  <a:srgbClr val="5B6178"/>
                </a:solidFill>
                <a:latin typeface="Tahoma" pitchFamily="34" charset="0"/>
                <a:ea typeface="Tahoma" pitchFamily="34" charset="-122"/>
                <a:cs typeface="Tahoma" pitchFamily="34" charset="-120"/>
              </a:rPr>
              <a:t>‏۱۷٬۶۳۶ رفرنس قابل ردیابی — روی هر عدد کلیک کنید، شیت و شناسهٔ رکورد و تاریخ را می‌بینید.</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768096"/>
          </a:xfrm>
          <a:prstGeom prst="rect">
            <a:avLst/>
          </a:prstGeom>
          <a:noFill/>
          <a:ln/>
        </p:spPr>
        <p:txBody>
          <a:bodyPr wrap="square" lIns="0" tIns="0" rIns="0" bIns="0" rtlCol="0" anchor="ctr"/>
          <a:lstStyle/>
          <a:p>
            <a:pPr rtl="1" algn="r" indent="0" marL="0">
              <a:buNone/>
            </a:pPr>
            <a:r>
              <a:rPr lang="en-US" sz="3100" b="1" dirty="0">
                <a:solidFill>
                  <a:srgbClr val="15192E"/>
                </a:solidFill>
                <a:latin typeface="Tahoma" pitchFamily="34" charset="0"/>
                <a:ea typeface="Tahoma" pitchFamily="34" charset="-122"/>
                <a:cs typeface="Tahoma" pitchFamily="34" charset="-120"/>
              </a:rPr>
              <a:t>کیس ۱ — در آفر، اهرم مهلت است نه تخفیف</a:t>
            </a:r>
            <a:endParaRPr lang="en-US" sz="3100" dirty="0"/>
          </a:p>
        </p:txBody>
      </p:sp>
      <p:sp>
        <p:nvSpPr>
          <p:cNvPr id="3" name="Text 1"/>
          <p:cNvSpPr/>
          <p:nvPr/>
        </p:nvSpPr>
        <p:spPr>
          <a:xfrm>
            <a:off x="566928" y="1115568"/>
            <a:ext cx="11027664" cy="420624"/>
          </a:xfrm>
          <a:prstGeom prst="rect">
            <a:avLst/>
          </a:prstGeom>
          <a:noFill/>
          <a:ln/>
        </p:spPr>
        <p:txBody>
          <a:bodyPr wrap="square" lIns="0" tIns="0" rIns="0" bIns="0" rtlCol="0" anchor="t"/>
          <a:lstStyle/>
          <a:p>
            <a:pPr rtl="1" algn="r" indent="0" marL="0">
              <a:buNone/>
            </a:pPr>
            <a:r>
              <a:rPr lang="en-US" sz="1400" dirty="0">
                <a:solidFill>
                  <a:srgbClr val="5B6178"/>
                </a:solidFill>
                <a:latin typeface="Tahoma" pitchFamily="34" charset="0"/>
                <a:ea typeface="Tahoma" pitchFamily="34" charset="-122"/>
                <a:cs typeface="Tahoma" pitchFamily="34" charset="-120"/>
              </a:rPr>
              <a:t>پنج فرضیهٔ رایج را روی ۲٬۵۰۰ آفر تاریخی همین شرکت آزمودیم. چهارتا رد شد، یکی ماند.</a:t>
            </a:r>
            <a:endParaRPr lang="en-US" sz="1400" dirty="0"/>
          </a:p>
        </p:txBody>
      </p:sp>
      <p:graphicFrame>
        <p:nvGraphicFramePr>
          <p:cNvPr id="4" name="Chart 0" descr=""/>
          <p:cNvGraphicFramePr/>
          <p:nvPr/>
        </p:nvGraphicFramePr>
        <p:xfrm>
          <a:off x="6190488" y="1737360"/>
          <a:ext cx="5404104" cy="2670048"/>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5404104" cy="914400"/>
        </p:xfrm>
        <a:graphic>
          <a:graphicData uri="http://schemas.openxmlformats.org/drawingml/2006/table">
            <a:tbl>
              <a:tblPr/>
              <a:tblGrid>
                <a:gridCol w="1554480"/>
                <a:gridCol w="1517904"/>
                <a:gridCol w="2331720"/>
              </a:tblGrid>
              <a:tr h="384048">
                <a:tc>
                  <a:txBody>
                    <a:bodyPr/>
                    <a:lstStyle/>
                    <a:p>
                      <a:pPr rtl="1" algn="r" indent="0" marL="0">
                        <a:buNone/>
                      </a:pPr>
                      <a:r>
                        <a:rPr lang="en-US" sz="1100" b="1" dirty="0">
                          <a:solidFill>
                            <a:srgbClr val="FFFFFF"/>
                          </a:solidFill>
                          <a:latin typeface="Tahoma" pitchFamily="34" charset="0"/>
                          <a:ea typeface="Tahoma" pitchFamily="34" charset="-122"/>
                          <a:cs typeface="Tahoma" pitchFamily="34" charset="-120"/>
                        </a:rPr>
                        <a:t>حکم</a:t>
                      </a:r>
                      <a:endParaRPr lang="en-US" sz="110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1E2761"/>
                    </a:solidFill>
                  </a:tcPr>
                </a:tc>
                <a:tc>
                  <a:txBody>
                    <a:bodyPr/>
                    <a:lstStyle/>
                    <a:p>
                      <a:pPr rtl="1" algn="r" indent="0" marL="0">
                        <a:buNone/>
                      </a:pPr>
                      <a:r>
                        <a:rPr lang="en-US" sz="1100" b="1" dirty="0">
                          <a:solidFill>
                            <a:srgbClr val="FFFFFF"/>
                          </a:solidFill>
                          <a:latin typeface="Tahoma" pitchFamily="34" charset="0"/>
                          <a:ea typeface="Tahoma" pitchFamily="34" charset="-122"/>
                          <a:cs typeface="Tahoma" pitchFamily="34" charset="-120"/>
                        </a:rPr>
                        <a:t>آزمون</a:t>
                      </a:r>
                      <a:endParaRPr lang="en-US" sz="110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1E2761"/>
                    </a:solidFill>
                  </a:tcPr>
                </a:tc>
                <a:tc>
                  <a:txBody>
                    <a:bodyPr/>
                    <a:lstStyle/>
                    <a:p>
                      <a:pPr rtl="1" algn="r" indent="0" marL="0">
                        <a:buNone/>
                      </a:pPr>
                      <a:r>
                        <a:rPr lang="en-US" sz="1100" b="1" dirty="0">
                          <a:solidFill>
                            <a:srgbClr val="FFFFFF"/>
                          </a:solidFill>
                          <a:latin typeface="Tahoma" pitchFamily="34" charset="0"/>
                          <a:ea typeface="Tahoma" pitchFamily="34" charset="-122"/>
                          <a:cs typeface="Tahoma" pitchFamily="34" charset="-120"/>
                        </a:rPr>
                        <a:t>فرضیه</a:t>
                      </a:r>
                      <a:endParaRPr lang="en-US" sz="110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1E2761"/>
                    </a:solidFill>
                  </a:tcPr>
                </a:tc>
              </a:tr>
              <a:tr h="384048">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رد</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p = ۰٫۹۰</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عمق تخفیف</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r>
              <a:tr h="384048">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رد</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p = ۰٫۵۶</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دلیل آفر</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رد</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p = ۰٫۱۴</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نوع آفر</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r>
              <a:tr h="384048">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رد</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p = ۰٫۳۵</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سابقهٔ پذیرش خودش</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rtl="1" algn="r" indent="0" marL="0">
                        <a:buNone/>
                      </a:pPr>
                      <a:r>
                        <a:rPr lang="en-US" sz="1250" b="1" dirty="0">
                          <a:solidFill>
                            <a:srgbClr val="1B7F4B"/>
                          </a:solidFill>
                          <a:latin typeface="Tahoma" pitchFamily="34" charset="0"/>
                          <a:ea typeface="Tahoma" pitchFamily="34" charset="-122"/>
                          <a:cs typeface="Tahoma" pitchFamily="34" charset="-120"/>
                        </a:rPr>
                        <a:t>ماند</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EAF6EF"/>
                    </a:solidFill>
                  </a:tcPr>
                </a:tc>
                <a:tc>
                  <a:txBody>
                    <a:bodyPr/>
                    <a:lstStyle/>
                    <a:p>
                      <a:pPr rtl="1" algn="r" indent="0" marL="0">
                        <a:buNone/>
                      </a:pPr>
                      <a:r>
                        <a:rPr lang="en-US" sz="1250" b="1" dirty="0">
                          <a:solidFill>
                            <a:srgbClr val="1B7F4B"/>
                          </a:solidFill>
                          <a:latin typeface="Tahoma" pitchFamily="34" charset="0"/>
                          <a:ea typeface="Tahoma" pitchFamily="34" charset="-122"/>
                          <a:cs typeface="Tahoma" pitchFamily="34" charset="-120"/>
                        </a:rPr>
                        <a:t>p &lt; ۰٫۰۰۰۱</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EAF6EF"/>
                    </a:solidFill>
                  </a:tcPr>
                </a:tc>
                <a:tc>
                  <a:txBody>
                    <a:bodyPr/>
                    <a:lstStyle/>
                    <a:p>
                      <a:pPr rtl="1" algn="r" indent="0" marL="0">
                        <a:buNone/>
                      </a:pPr>
                      <a:r>
                        <a:rPr lang="en-US" sz="1250" b="1" dirty="0">
                          <a:solidFill>
                            <a:srgbClr val="1B7F4B"/>
                          </a:solidFill>
                          <a:latin typeface="Tahoma" pitchFamily="34" charset="0"/>
                          <a:ea typeface="Tahoma" pitchFamily="34" charset="-122"/>
                          <a:cs typeface="Tahoma" pitchFamily="34" charset="-120"/>
                        </a:rPr>
                        <a:t>طول اعتبار آفر</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EAF6EF"/>
                    </a:solidFill>
                  </a:tcPr>
                </a:tc>
              </a:tr>
            </a:tbl>
          </a:graphicData>
        </a:graphic>
      </p:graphicFrame>
      <p:sp>
        <p:nvSpPr>
          <p:cNvPr id="6" name="Shape 2"/>
          <p:cNvSpPr/>
          <p:nvPr/>
        </p:nvSpPr>
        <p:spPr>
          <a:xfrm>
            <a:off x="566928" y="4626864"/>
            <a:ext cx="5404104" cy="932688"/>
          </a:xfrm>
          <a:prstGeom prst="roundRect">
            <a:avLst>
              <a:gd name="adj" fmla="val 9804"/>
            </a:avLst>
          </a:prstGeom>
          <a:solidFill>
            <a:srgbClr val="F4F6FB"/>
          </a:solidFill>
          <a:ln w="12700">
            <a:solidFill>
              <a:srgbClr val="DDE3F0"/>
            </a:solidFill>
            <a:prstDash val="solid"/>
          </a:ln>
        </p:spPr>
      </p:sp>
      <p:sp>
        <p:nvSpPr>
          <p:cNvPr id="7" name="Text 3"/>
          <p:cNvSpPr/>
          <p:nvPr/>
        </p:nvSpPr>
        <p:spPr>
          <a:xfrm>
            <a:off x="768096" y="4718304"/>
            <a:ext cx="5001768" cy="749808"/>
          </a:xfrm>
          <a:prstGeom prst="rect">
            <a:avLst/>
          </a:prstGeom>
          <a:noFill/>
          <a:ln/>
        </p:spPr>
        <p:txBody>
          <a:bodyPr wrap="square" lIns="0" tIns="0" rIns="0" bIns="0" rtlCol="0" anchor="ctr"/>
          <a:lstStyle/>
          <a:p>
            <a:pPr rtl="1" algn="r" indent="0" marL="0">
              <a:buNone/>
            </a:pPr>
            <a:r>
              <a:rPr lang="en-US" sz="1200" dirty="0">
                <a:solidFill>
                  <a:srgbClr val="15192E"/>
                </a:solidFill>
                <a:latin typeface="Tahoma" pitchFamily="34" charset="0"/>
                <a:ea typeface="Tahoma" pitchFamily="34" charset="-122"/>
                <a:cs typeface="Tahoma" pitchFamily="34" charset="-120"/>
              </a:rPr>
              <a:t>اثر در هر سه نوع آفر جداگانه تکرار می‌شود و با عمق تخفیف هم‌بسته نیست (میانگین تخفیف در چهار باند ۴٫۶٪ تا ۴٫۹٪).</a:t>
            </a:r>
            <a:endParaRPr lang="en-US" sz="1200" dirty="0"/>
          </a:p>
        </p:txBody>
      </p:sp>
      <p:sp>
        <p:nvSpPr>
          <p:cNvPr id="8" name="Shape 4"/>
          <p:cNvSpPr/>
          <p:nvPr/>
        </p:nvSpPr>
        <p:spPr>
          <a:xfrm>
            <a:off x="566928" y="5687568"/>
            <a:ext cx="11027664" cy="841248"/>
          </a:xfrm>
          <a:prstGeom prst="roundRect">
            <a:avLst>
              <a:gd name="adj" fmla="val 10870"/>
            </a:avLst>
          </a:prstGeom>
          <a:solidFill>
            <a:srgbClr val="1E2761"/>
          </a:solidFill>
          <a:ln w="12700">
            <a:solidFill>
              <a:srgbClr val="1E2761"/>
            </a:solidFill>
            <a:prstDash val="solid"/>
          </a:ln>
        </p:spPr>
      </p:sp>
      <p:sp>
        <p:nvSpPr>
          <p:cNvPr id="9" name="Text 5"/>
          <p:cNvSpPr/>
          <p:nvPr/>
        </p:nvSpPr>
        <p:spPr>
          <a:xfrm>
            <a:off x="841248" y="5760720"/>
            <a:ext cx="10479024" cy="694944"/>
          </a:xfrm>
          <a:prstGeom prst="rect">
            <a:avLst/>
          </a:prstGeom>
          <a:noFill/>
          <a:ln/>
        </p:spPr>
        <p:txBody>
          <a:bodyPr wrap="square" lIns="0" tIns="0" rIns="0" bIns="0" rtlCol="0" anchor="ctr"/>
          <a:lstStyle/>
          <a:p>
            <a:pPr rtl="1" algn="r" indent="0" marL="0">
              <a:buNone/>
            </a:pPr>
            <a:r>
              <a:rPr lang="en-US" sz="1250" dirty="0">
                <a:solidFill>
                  <a:srgbClr val="FFFFFF"/>
                </a:solidFill>
                <a:latin typeface="Tahoma" pitchFamily="34" charset="0"/>
                <a:ea typeface="Tahoma" pitchFamily="34" charset="-122"/>
                <a:cs typeface="Tahoma" pitchFamily="34" charset="-120"/>
              </a:rPr>
              <a:t>پذیرش داخل پنجرهٔ ۸ تا ۱۴ روزه ۶۲٫۲٪، بیرون از آن ۴۵٫۲٪ — شرکت امروز میانهٔ مهلت ۱۸ روز می‌دهد و فقط ۲۶٪ آفرهایش داخل پنجره است. بردن همه به مهلت ۱۰ روزه، ۲۵٪ ارزش انتظاری بیشتر می‌دهد؛ بدون یک ریال تخفیف بیشتر.</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768096"/>
          </a:xfrm>
          <a:prstGeom prst="rect">
            <a:avLst/>
          </a:prstGeom>
          <a:noFill/>
          <a:ln/>
        </p:spPr>
        <p:txBody>
          <a:bodyPr wrap="square" lIns="0" tIns="0" rIns="0" bIns="0" rtlCol="0" anchor="ctr"/>
          <a:lstStyle/>
          <a:p>
            <a:pPr rtl="1" algn="r" indent="0" marL="0">
              <a:buNone/>
            </a:pPr>
            <a:r>
              <a:rPr lang="en-US" sz="3100" b="1" dirty="0">
                <a:solidFill>
                  <a:srgbClr val="15192E"/>
                </a:solidFill>
                <a:latin typeface="Tahoma" pitchFamily="34" charset="0"/>
                <a:ea typeface="Tahoma" pitchFamily="34" charset="-122"/>
                <a:cs typeface="Tahoma" pitchFamily="34" charset="-120"/>
              </a:rPr>
              <a:t>کیس ۲ — سه موتور سیگنال که تنها با هم معنا می‌دهند</a:t>
            </a:r>
            <a:endParaRPr lang="en-US" sz="3100" dirty="0"/>
          </a:p>
        </p:txBody>
      </p:sp>
      <p:sp>
        <p:nvSpPr>
          <p:cNvPr id="3" name="Text 1"/>
          <p:cNvSpPr/>
          <p:nvPr/>
        </p:nvSpPr>
        <p:spPr>
          <a:xfrm>
            <a:off x="566928" y="1115568"/>
            <a:ext cx="11027664" cy="420624"/>
          </a:xfrm>
          <a:prstGeom prst="rect">
            <a:avLst/>
          </a:prstGeom>
          <a:noFill/>
          <a:ln/>
        </p:spPr>
        <p:txBody>
          <a:bodyPr wrap="square" lIns="0" tIns="0" rIns="0" bIns="0" rtlCol="0" anchor="t"/>
          <a:lstStyle/>
          <a:p>
            <a:pPr rtl="1" algn="r" indent="0" marL="0">
              <a:buNone/>
            </a:pPr>
            <a:r>
              <a:rPr lang="en-US" sz="1400" dirty="0">
                <a:solidFill>
                  <a:srgbClr val="5B6178"/>
                </a:solidFill>
                <a:latin typeface="Tahoma" pitchFamily="34" charset="0"/>
                <a:ea typeface="Tahoma" pitchFamily="34" charset="-122"/>
                <a:cs typeface="Tahoma" pitchFamily="34" charset="-120"/>
              </a:rPr>
              <a:t>شکایت، درخواست توسعه و تعامل CRM روی یک کلید مشترک نگاشت شدند — و به‌شدت هم‌بسته‌اند.</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719072"/>
          <a:ext cx="5404104" cy="914400"/>
        </p:xfrm>
        <a:graphic>
          <a:graphicData uri="http://schemas.openxmlformats.org/drawingml/2006/table">
            <a:tbl>
              <a:tblPr/>
              <a:tblGrid>
                <a:gridCol w="1097280"/>
                <a:gridCol w="1517904"/>
                <a:gridCol w="2788920"/>
              </a:tblGrid>
              <a:tr h="420624">
                <a:tc>
                  <a:txBody>
                    <a:bodyPr/>
                    <a:lstStyle/>
                    <a:p>
                      <a:pPr rtl="1" algn="r" indent="0" marL="0">
                        <a:buNone/>
                      </a:pPr>
                      <a:r>
                        <a:rPr lang="en-US" sz="1100" b="1" dirty="0">
                          <a:solidFill>
                            <a:srgbClr val="FFFFFF"/>
                          </a:solidFill>
                          <a:latin typeface="Tahoma" pitchFamily="34" charset="0"/>
                          <a:ea typeface="Tahoma" pitchFamily="34" charset="-122"/>
                          <a:cs typeface="Tahoma" pitchFamily="34" charset="-120"/>
                        </a:rPr>
                        <a:t>معناداری</a:t>
                      </a:r>
                      <a:endParaRPr lang="en-US" sz="110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1E2761"/>
                    </a:solidFill>
                  </a:tcPr>
                </a:tc>
                <a:tc>
                  <a:txBody>
                    <a:bodyPr/>
                    <a:lstStyle/>
                    <a:p>
                      <a:pPr rtl="1" algn="r" indent="0" marL="0">
                        <a:buNone/>
                      </a:pPr>
                      <a:r>
                        <a:rPr lang="en-US" sz="1100" b="1" dirty="0">
                          <a:solidFill>
                            <a:srgbClr val="FFFFFF"/>
                          </a:solidFill>
                          <a:latin typeface="Tahoma" pitchFamily="34" charset="0"/>
                          <a:ea typeface="Tahoma" pitchFamily="34" charset="-122"/>
                          <a:cs typeface="Tahoma" pitchFamily="34" charset="-120"/>
                        </a:rPr>
                        <a:t>همبستگی رتبه‌ای</a:t>
                      </a:r>
                      <a:endParaRPr lang="en-US" sz="110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1E2761"/>
                    </a:solidFill>
                  </a:tcPr>
                </a:tc>
                <a:tc>
                  <a:txBody>
                    <a:bodyPr/>
                    <a:lstStyle/>
                    <a:p>
                      <a:pPr rtl="1" algn="r" indent="0" marL="0">
                        <a:buNone/>
                      </a:pPr>
                      <a:r>
                        <a:rPr lang="en-US" sz="1100" b="1" dirty="0">
                          <a:solidFill>
                            <a:srgbClr val="FFFFFF"/>
                          </a:solidFill>
                          <a:latin typeface="Tahoma" pitchFamily="34" charset="0"/>
                          <a:ea typeface="Tahoma" pitchFamily="34" charset="-122"/>
                          <a:cs typeface="Tahoma" pitchFamily="34" charset="-120"/>
                        </a:rPr>
                        <a:t>جفت موتور</a:t>
                      </a:r>
                      <a:endParaRPr lang="en-US" sz="110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1E2761"/>
                    </a:solidFill>
                  </a:tcPr>
                </a:tc>
              </a:tr>
              <a:tr h="420624">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p &lt; ۰٫۰۰۱</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ρ = ۰٫۵۸۵</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شکایت ~ درخواست توسعه</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r>
              <a:tr h="420624">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p &lt; ۰٫۰۰۱</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ρ = ۰٫۵۹۳</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شکایت ~ تعامل CRM</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r>
              <a:tr h="420624">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p &lt; ۰٫۰۰۱</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ρ = ۰٫۶۴۴</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درخواست توسعه ~ تعامل CRM</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r>
            </a:tbl>
          </a:graphicData>
        </a:graphic>
      </p:graphicFrame>
      <p:sp>
        <p:nvSpPr>
          <p:cNvPr id="5" name="Shape 2"/>
          <p:cNvSpPr/>
          <p:nvPr/>
        </p:nvSpPr>
        <p:spPr>
          <a:xfrm>
            <a:off x="566928" y="3803904"/>
            <a:ext cx="5404104" cy="1225296"/>
          </a:xfrm>
          <a:prstGeom prst="roundRect">
            <a:avLst>
              <a:gd name="adj" fmla="val 7463"/>
            </a:avLst>
          </a:prstGeom>
          <a:solidFill>
            <a:srgbClr val="F4F6FB"/>
          </a:solidFill>
          <a:ln w="12700">
            <a:solidFill>
              <a:srgbClr val="DDE3F0"/>
            </a:solidFill>
            <a:prstDash val="solid"/>
          </a:ln>
        </p:spPr>
      </p:sp>
      <p:sp>
        <p:nvSpPr>
          <p:cNvPr id="6" name="Text 3"/>
          <p:cNvSpPr/>
          <p:nvPr/>
        </p:nvSpPr>
        <p:spPr>
          <a:xfrm>
            <a:off x="786384" y="3913632"/>
            <a:ext cx="4965192" cy="1005840"/>
          </a:xfrm>
          <a:prstGeom prst="rect">
            <a:avLst/>
          </a:prstGeom>
          <a:noFill/>
          <a:ln/>
        </p:spPr>
        <p:txBody>
          <a:bodyPr wrap="square" lIns="0" tIns="0" rIns="0" bIns="0" rtlCol="0" anchor="ctr"/>
          <a:lstStyle/>
          <a:p>
            <a:pPr rtl="1" algn="r" indent="0" marL="0">
              <a:buNone/>
            </a:pPr>
            <a:r>
              <a:rPr lang="en-US" sz="1250" dirty="0">
                <a:solidFill>
                  <a:srgbClr val="15192E"/>
                </a:solidFill>
                <a:latin typeface="Tahoma" pitchFamily="34" charset="0"/>
                <a:ea typeface="Tahoma" pitchFamily="34" charset="-122"/>
                <a:cs typeface="Tahoma" pitchFamily="34" charset="-120"/>
              </a:rPr>
              <a:t>مشتری‌ای که در یک کانال پرسروصداست، در هر سه پرسروصداست. پس شمردن جدا‌جدا، سه بار شمردنِ یک مشکل است — و به همین دلیل «ارزش در خطر» را یک‌بار در سطح مشتری حساب می‌کنیم، نه یک‌بار به‌ازای هر منبع.</a:t>
            </a:r>
            <a:endParaRPr lang="en-US" sz="1250" dirty="0"/>
          </a:p>
        </p:txBody>
      </p:sp>
      <p:sp>
        <p:nvSpPr>
          <p:cNvPr id="7" name="Shape 4"/>
          <p:cNvSpPr/>
          <p:nvPr/>
        </p:nvSpPr>
        <p:spPr>
          <a:xfrm>
            <a:off x="6190488" y="1719072"/>
            <a:ext cx="5404104" cy="3054096"/>
          </a:xfrm>
          <a:prstGeom prst="roundRect">
            <a:avLst>
              <a:gd name="adj" fmla="val 2994"/>
            </a:avLst>
          </a:prstGeom>
          <a:solidFill>
            <a:srgbClr val="FDF1F1"/>
          </a:solidFill>
          <a:ln w="12700">
            <a:solidFill>
              <a:srgbClr val="F0CFCF"/>
            </a:solidFill>
            <a:prstDash val="solid"/>
          </a:ln>
        </p:spPr>
      </p:sp>
      <p:sp>
        <p:nvSpPr>
          <p:cNvPr id="8" name="Text 5"/>
          <p:cNvSpPr/>
          <p:nvPr/>
        </p:nvSpPr>
        <p:spPr>
          <a:xfrm>
            <a:off x="6428232" y="1847088"/>
            <a:ext cx="4946904" cy="384048"/>
          </a:xfrm>
          <a:prstGeom prst="rect">
            <a:avLst/>
          </a:prstGeom>
          <a:noFill/>
          <a:ln/>
        </p:spPr>
        <p:txBody>
          <a:bodyPr wrap="square" lIns="0" tIns="0" rIns="0" bIns="0" rtlCol="0" anchor="ctr"/>
          <a:lstStyle/>
          <a:p>
            <a:pPr rtl="1" algn="r" indent="0" marL="0">
              <a:buNone/>
            </a:pPr>
            <a:r>
              <a:rPr lang="en-US" sz="1550" b="1" dirty="0">
                <a:solidFill>
                  <a:srgbClr val="A4161A"/>
                </a:solidFill>
                <a:latin typeface="Tahoma" pitchFamily="34" charset="0"/>
                <a:ea typeface="Tahoma" pitchFamily="34" charset="-122"/>
                <a:cs typeface="Tahoma" pitchFamily="34" charset="-120"/>
              </a:rPr>
              <a:t>اگر فقط یک کانال را ببینید، چقدر را از دست می‌دهید؟</a:t>
            </a:r>
            <a:endParaRPr lang="en-US" sz="1550" dirty="0"/>
          </a:p>
        </p:txBody>
      </p:sp>
      <p:sp>
        <p:nvSpPr>
          <p:cNvPr id="9" name="Text 6"/>
          <p:cNvSpPr/>
          <p:nvPr/>
        </p:nvSpPr>
        <p:spPr>
          <a:xfrm>
            <a:off x="6428232" y="2286000"/>
            <a:ext cx="4946904" cy="1947672"/>
          </a:xfrm>
          <a:prstGeom prst="rect">
            <a:avLst/>
          </a:prstGeom>
          <a:noFill/>
          <a:ln/>
        </p:spPr>
        <p:txBody>
          <a:bodyPr wrap="square" lIns="0" tIns="0" rIns="0" bIns="0" rtlCol="0" anchor="t"/>
          <a:lstStyle/>
          <a:p>
            <a:pPr algn="r" indent="0" marL="0">
              <a:lnSpc>
                <a:spcPct val="116000"/>
              </a:lnSpc>
              <a:spcAft>
                <a:spcPts val="800"/>
              </a:spcAft>
              <a:buNone/>
            </a:pPr>
            <a:r>
              <a:rPr lang="en-US" sz="1300" dirty="0">
                <a:solidFill>
                  <a:srgbClr val="15192E"/>
                </a:solidFill>
                <a:latin typeface="Tahoma" pitchFamily="34" charset="0"/>
                <a:ea typeface="Tahoma" pitchFamily="34" charset="-122"/>
                <a:cs typeface="Tahoma" pitchFamily="34" charset="-120"/>
              </a:rPr>
              <a:t>‏• ‏فقط شکایت‌ها را ببینید: ۲۶ مورد از ۴۰ مشتری پرارزش را نمی‌بینید</a:t>
            </a:r>
            <a:endParaRPr lang="en-US" sz="1300" dirty="0"/>
          </a:p>
          <a:p>
            <a:pPr algn="r" indent="0" marL="0">
              <a:lnSpc>
                <a:spcPct val="116000"/>
              </a:lnSpc>
              <a:spcAft>
                <a:spcPts val="800"/>
              </a:spcAft>
              <a:buNone/>
            </a:pPr>
            <a:r>
              <a:rPr lang="en-US" sz="1300" dirty="0">
                <a:solidFill>
                  <a:srgbClr val="15192E"/>
                </a:solidFill>
                <a:latin typeface="Tahoma" pitchFamily="34" charset="0"/>
                <a:ea typeface="Tahoma" pitchFamily="34" charset="-122"/>
                <a:cs typeface="Tahoma" pitchFamily="34" charset="-120"/>
              </a:rPr>
              <a:t>‏• ‏فقط درخواست‌های توسعه را ببینید: ۱۸ مورد از ۴۰ را نمی‌بینید</a:t>
            </a:r>
            <a:endParaRPr lang="en-US" sz="1300" dirty="0"/>
          </a:p>
          <a:p>
            <a:pPr algn="r" indent="0" marL="0">
              <a:lnSpc>
                <a:spcPct val="116000"/>
              </a:lnSpc>
              <a:spcAft>
                <a:spcPts val="800"/>
              </a:spcAft>
              <a:buNone/>
            </a:pPr>
            <a:r>
              <a:rPr lang="en-US" sz="1300" dirty="0">
                <a:solidFill>
                  <a:srgbClr val="15192E"/>
                </a:solidFill>
                <a:latin typeface="Tahoma" pitchFamily="34" charset="0"/>
                <a:ea typeface="Tahoma" pitchFamily="34" charset="-122"/>
                <a:cs typeface="Tahoma" pitchFamily="34" charset="-120"/>
              </a:rPr>
              <a:t>‏• ‏۱۰۶ مشتری در هر سه کانال حاضرند — و ۳۲٪ کل ارزش دست همین‌هاست</a:t>
            </a:r>
            <a:endParaRPr lang="en-US" sz="1300" dirty="0"/>
          </a:p>
          <a:p>
            <a:pPr algn="r" indent="0" marL="0">
              <a:lnSpc>
                <a:spcPct val="116000"/>
              </a:lnSpc>
              <a:spcAft>
                <a:spcPts val="800"/>
              </a:spcAft>
              <a:buNone/>
            </a:pPr>
            <a:r>
              <a:rPr lang="en-US" sz="1300" dirty="0">
                <a:solidFill>
                  <a:srgbClr val="15192E"/>
                </a:solidFill>
                <a:latin typeface="Tahoma" pitchFamily="34" charset="0"/>
                <a:ea typeface="Tahoma" pitchFamily="34" charset="-122"/>
                <a:cs typeface="Tahoma" pitchFamily="34" charset="-120"/>
              </a:rPr>
              <a:t>‏• ‏همان ۴۰ مشتری بالای فهرست، ۷۰٫۵٪ کل ارزش را نگه داشته‌اند</a:t>
            </a:r>
            <a:endParaRPr lang="en-US" sz="1300" dirty="0"/>
          </a:p>
        </p:txBody>
      </p:sp>
      <p:sp>
        <p:nvSpPr>
          <p:cNvPr id="10" name="Shape 7"/>
          <p:cNvSpPr/>
          <p:nvPr/>
        </p:nvSpPr>
        <p:spPr>
          <a:xfrm>
            <a:off x="566928" y="5138928"/>
            <a:ext cx="11027664" cy="1115568"/>
          </a:xfrm>
          <a:prstGeom prst="roundRect">
            <a:avLst>
              <a:gd name="adj" fmla="val 8197"/>
            </a:avLst>
          </a:prstGeom>
          <a:solidFill>
            <a:srgbClr val="1E2761"/>
          </a:solidFill>
          <a:ln w="12700">
            <a:solidFill>
              <a:srgbClr val="1E2761"/>
            </a:solidFill>
            <a:prstDash val="solid"/>
          </a:ln>
        </p:spPr>
      </p:sp>
      <p:sp>
        <p:nvSpPr>
          <p:cNvPr id="11" name="Text 8"/>
          <p:cNvSpPr/>
          <p:nvPr/>
        </p:nvSpPr>
        <p:spPr>
          <a:xfrm>
            <a:off x="841248" y="5248656"/>
            <a:ext cx="10479024" cy="896112"/>
          </a:xfrm>
          <a:prstGeom prst="rect">
            <a:avLst/>
          </a:prstGeom>
          <a:noFill/>
          <a:ln/>
        </p:spPr>
        <p:txBody>
          <a:bodyPr wrap="square" lIns="0" tIns="0" rIns="0" bIns="0" rtlCol="0" anchor="ctr"/>
          <a:lstStyle/>
          <a:p>
            <a:pPr rtl="1" algn="r" indent="0" marL="0">
              <a:buNone/>
            </a:pPr>
            <a:r>
              <a:rPr lang="en-US" sz="1300" dirty="0">
                <a:solidFill>
                  <a:srgbClr val="FFFFFF"/>
                </a:solidFill>
                <a:latin typeface="Tahoma" pitchFamily="34" charset="0"/>
                <a:ea typeface="Tahoma" pitchFamily="34" charset="-122"/>
                <a:cs typeface="Tahoma" pitchFamily="34" charset="-120"/>
              </a:rPr>
              <a:t>و یک صداقت: آزمودیم که آیا رسیدگی، خرید بعدی را بالا می‌برد — چهار آزمون، p بین ۰٫۴۰ و ۰٫۵۵، هیچ‌کدام معنادار نشد. پس عدد این تب را «ارزش از‌دست‌رفتنی» نامیدیم، نه «افزایش فروش».</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768096"/>
          </a:xfrm>
          <a:prstGeom prst="rect">
            <a:avLst/>
          </a:prstGeom>
          <a:noFill/>
          <a:ln/>
        </p:spPr>
        <p:txBody>
          <a:bodyPr wrap="square" lIns="0" tIns="0" rIns="0" bIns="0" rtlCol="0" anchor="ctr"/>
          <a:lstStyle/>
          <a:p>
            <a:pPr rtl="1" algn="r" indent="0" marL="0">
              <a:buNone/>
            </a:pPr>
            <a:r>
              <a:rPr lang="en-US" sz="3100" b="1" dirty="0">
                <a:solidFill>
                  <a:srgbClr val="15192E"/>
                </a:solidFill>
                <a:latin typeface="Tahoma" pitchFamily="34" charset="0"/>
                <a:ea typeface="Tahoma" pitchFamily="34" charset="-122"/>
                <a:cs typeface="Tahoma" pitchFamily="34" charset="-120"/>
              </a:rPr>
              <a:t>کوپایلوت شخصی: بازیابی روی متن، محاسبه با ابزار</a:t>
            </a:r>
            <a:endParaRPr lang="en-US" sz="3100" dirty="0"/>
          </a:p>
        </p:txBody>
      </p:sp>
      <p:sp>
        <p:nvSpPr>
          <p:cNvPr id="3" name="Text 1"/>
          <p:cNvSpPr/>
          <p:nvPr/>
        </p:nvSpPr>
        <p:spPr>
          <a:xfrm>
            <a:off x="566928" y="1115568"/>
            <a:ext cx="11027664" cy="420624"/>
          </a:xfrm>
          <a:prstGeom prst="rect">
            <a:avLst/>
          </a:prstGeom>
          <a:noFill/>
          <a:ln/>
        </p:spPr>
        <p:txBody>
          <a:bodyPr wrap="square" lIns="0" tIns="0" rIns="0" bIns="0" rtlCol="0" anchor="t"/>
          <a:lstStyle/>
          <a:p>
            <a:pPr rtl="1" algn="r" indent="0" marL="0">
              <a:buNone/>
            </a:pPr>
            <a:r>
              <a:rPr lang="en-US" sz="1400" dirty="0">
                <a:solidFill>
                  <a:srgbClr val="5B6178"/>
                </a:solidFill>
                <a:latin typeface="Tahoma" pitchFamily="34" charset="0"/>
                <a:ea typeface="Tahoma" pitchFamily="34" charset="-122"/>
                <a:cs typeface="Tahoma" pitchFamily="34" charset="-120"/>
              </a:rPr>
              <a:t>مدل زبانی هیچ عددی تولید نمی‌کند؛ ۱۵ ابزار پایتونی را صدا می‌زند و خروجی‌شان را روایت می‌کند.</a:t>
            </a:r>
            <a:endParaRPr lang="en-US" sz="1400" dirty="0"/>
          </a:p>
        </p:txBody>
      </p:sp>
      <p:pic>
        <p:nvPicPr>
          <p:cNvPr id="4" name="Image 0" descr="/home/claude/nafis_copilot/deck/img/copilot.png">    </p:cNvPr>
          <p:cNvPicPr>
            <a:picLocks noChangeAspect="1"/>
          </p:cNvPicPr>
          <p:nvPr/>
        </p:nvPicPr>
        <p:blipFill>
          <a:blip r:embed="rId1"/>
          <a:stretch>
            <a:fillRect/>
          </a:stretch>
        </p:blipFill>
        <p:spPr>
          <a:xfrm>
            <a:off x="8869680" y="1700784"/>
            <a:ext cx="2724912" cy="4179313"/>
          </a:xfrm>
          <a:prstGeom prst="rect">
            <a:avLst/>
          </a:prstGeom>
          <a:effectLst>
            <a:outerShdw sx="100000" sy="100000" kx="0" ky="0" algn="bl" rotWithShape="0" blurRad="114300" dist="25400" dir="5400000">
              <a:srgbClr val="9AA3BC">
                <a:alpha val="35000"/>
              </a:srgbClr>
            </a:outerShdw>
          </a:effectLst>
        </p:spPr>
      </p:pic>
      <p:sp>
        <p:nvSpPr>
          <p:cNvPr id="5" name="Shape 2"/>
          <p:cNvSpPr/>
          <p:nvPr/>
        </p:nvSpPr>
        <p:spPr>
          <a:xfrm>
            <a:off x="8229600" y="1783080"/>
            <a:ext cx="292608" cy="292608"/>
          </a:xfrm>
          <a:prstGeom prst="roundRect">
            <a:avLst>
              <a:gd name="adj" fmla="val 50000"/>
            </a:avLst>
          </a:prstGeom>
          <a:solidFill>
            <a:srgbClr val="1E2761"/>
          </a:solidFill>
          <a:ln w="12700">
            <a:solidFill>
              <a:srgbClr val="1E2761"/>
            </a:solidFill>
            <a:prstDash val="solid"/>
          </a:ln>
        </p:spPr>
      </p:sp>
      <p:sp>
        <p:nvSpPr>
          <p:cNvPr id="6" name="Text 3"/>
          <p:cNvSpPr/>
          <p:nvPr/>
        </p:nvSpPr>
        <p:spPr>
          <a:xfrm>
            <a:off x="8229600" y="1783080"/>
            <a:ext cx="292608" cy="292608"/>
          </a:xfrm>
          <a:prstGeom prst="rect">
            <a:avLst/>
          </a:prstGeom>
          <a:noFill/>
          <a:ln/>
        </p:spPr>
        <p:txBody>
          <a:bodyPr wrap="square" lIns="0" tIns="0" rIns="0" bIns="0" rtlCol="0" anchor="ctr"/>
          <a:lstStyle/>
          <a:p>
            <a:pPr rtl="1" algn="ctr" indent="0" marL="0">
              <a:buNone/>
            </a:pPr>
            <a:r>
              <a:rPr lang="en-US" sz="1100" b="1" dirty="0">
                <a:solidFill>
                  <a:srgbClr val="FFFFFF"/>
                </a:solidFill>
                <a:latin typeface="Tahoma" pitchFamily="34" charset="0"/>
                <a:ea typeface="Tahoma" pitchFamily="34" charset="-122"/>
                <a:cs typeface="Tahoma" pitchFamily="34" charset="-120"/>
              </a:rPr>
              <a:t>‏۱</a:t>
            </a:r>
            <a:endParaRPr lang="en-US" sz="1100" dirty="0"/>
          </a:p>
        </p:txBody>
      </p:sp>
      <p:sp>
        <p:nvSpPr>
          <p:cNvPr id="7" name="Text 4"/>
          <p:cNvSpPr/>
          <p:nvPr/>
        </p:nvSpPr>
        <p:spPr>
          <a:xfrm>
            <a:off x="566928" y="1737360"/>
            <a:ext cx="7534656" cy="310896"/>
          </a:xfrm>
          <a:prstGeom prst="rect">
            <a:avLst/>
          </a:prstGeom>
          <a:noFill/>
          <a:ln/>
        </p:spPr>
        <p:txBody>
          <a:bodyPr wrap="square" lIns="0" tIns="0" rIns="0" bIns="0" rtlCol="0" anchor="ctr"/>
          <a:lstStyle/>
          <a:p>
            <a:pPr rtl="1" algn="r" indent="0" marL="0">
              <a:buNone/>
            </a:pPr>
            <a:r>
              <a:rPr lang="en-US" sz="1450" b="1" dirty="0">
                <a:solidFill>
                  <a:srgbClr val="15192E"/>
                </a:solidFill>
                <a:latin typeface="Tahoma" pitchFamily="34" charset="0"/>
                <a:ea typeface="Tahoma" pitchFamily="34" charset="-122"/>
                <a:cs typeface="Tahoma" pitchFamily="34" charset="-120"/>
              </a:rPr>
              <a:t>پرسش کارشناس</a:t>
            </a:r>
            <a:endParaRPr lang="en-US" sz="1450" dirty="0"/>
          </a:p>
        </p:txBody>
      </p:sp>
      <p:sp>
        <p:nvSpPr>
          <p:cNvPr id="8" name="Text 5"/>
          <p:cNvSpPr/>
          <p:nvPr/>
        </p:nvSpPr>
        <p:spPr>
          <a:xfrm>
            <a:off x="566928" y="2048256"/>
            <a:ext cx="7534656" cy="438912"/>
          </a:xfrm>
          <a:prstGeom prst="rect">
            <a:avLst/>
          </a:prstGeom>
          <a:noFill/>
          <a:ln/>
        </p:spPr>
        <p:txBody>
          <a:bodyPr wrap="square" lIns="0" tIns="0" rIns="0" bIns="0" rtlCol="0" anchor="t"/>
          <a:lstStyle/>
          <a:p>
            <a:pPr rtl="1" algn="r" indent="0" marL="0">
              <a:buNone/>
            </a:pPr>
            <a:r>
              <a:rPr lang="en-US" sz="1150" dirty="0">
                <a:solidFill>
                  <a:srgbClr val="5B6178"/>
                </a:solidFill>
                <a:latin typeface="Tahoma" pitchFamily="34" charset="0"/>
                <a:ea typeface="Tahoma" pitchFamily="34" charset="-122"/>
                <a:cs typeface="Tahoma" pitchFamily="34" charset="-120"/>
              </a:rPr>
              <a:t>به زبان خودش، فارسی — «چرا به این مشتری آفر می‌دهیم؟»</a:t>
            </a:r>
            <a:endParaRPr lang="en-US" sz="1150" dirty="0"/>
          </a:p>
        </p:txBody>
      </p:sp>
      <p:sp>
        <p:nvSpPr>
          <p:cNvPr id="9" name="Shape 6"/>
          <p:cNvSpPr/>
          <p:nvPr/>
        </p:nvSpPr>
        <p:spPr>
          <a:xfrm>
            <a:off x="8229600" y="2587752"/>
            <a:ext cx="292608" cy="292608"/>
          </a:xfrm>
          <a:prstGeom prst="roundRect">
            <a:avLst>
              <a:gd name="adj" fmla="val 50000"/>
            </a:avLst>
          </a:prstGeom>
          <a:solidFill>
            <a:srgbClr val="1E2761"/>
          </a:solidFill>
          <a:ln w="12700">
            <a:solidFill>
              <a:srgbClr val="1E2761"/>
            </a:solidFill>
            <a:prstDash val="solid"/>
          </a:ln>
        </p:spPr>
      </p:sp>
      <p:sp>
        <p:nvSpPr>
          <p:cNvPr id="10" name="Text 7"/>
          <p:cNvSpPr/>
          <p:nvPr/>
        </p:nvSpPr>
        <p:spPr>
          <a:xfrm>
            <a:off x="8229600" y="2587752"/>
            <a:ext cx="292608" cy="292608"/>
          </a:xfrm>
          <a:prstGeom prst="rect">
            <a:avLst/>
          </a:prstGeom>
          <a:noFill/>
          <a:ln/>
        </p:spPr>
        <p:txBody>
          <a:bodyPr wrap="square" lIns="0" tIns="0" rIns="0" bIns="0" rtlCol="0" anchor="ctr"/>
          <a:lstStyle/>
          <a:p>
            <a:pPr rtl="1" algn="ctr" indent="0" marL="0">
              <a:buNone/>
            </a:pPr>
            <a:r>
              <a:rPr lang="en-US" sz="1100" b="1" dirty="0">
                <a:solidFill>
                  <a:srgbClr val="FFFFFF"/>
                </a:solidFill>
                <a:latin typeface="Tahoma" pitchFamily="34" charset="0"/>
                <a:ea typeface="Tahoma" pitchFamily="34" charset="-122"/>
                <a:cs typeface="Tahoma" pitchFamily="34" charset="-120"/>
              </a:rPr>
              <a:t>‏۲</a:t>
            </a:r>
            <a:endParaRPr lang="en-US" sz="1100" dirty="0"/>
          </a:p>
        </p:txBody>
      </p:sp>
      <p:sp>
        <p:nvSpPr>
          <p:cNvPr id="11" name="Text 8"/>
          <p:cNvSpPr/>
          <p:nvPr/>
        </p:nvSpPr>
        <p:spPr>
          <a:xfrm>
            <a:off x="566928" y="2542032"/>
            <a:ext cx="7534656" cy="310896"/>
          </a:xfrm>
          <a:prstGeom prst="rect">
            <a:avLst/>
          </a:prstGeom>
          <a:noFill/>
          <a:ln/>
        </p:spPr>
        <p:txBody>
          <a:bodyPr wrap="square" lIns="0" tIns="0" rIns="0" bIns="0" rtlCol="0" anchor="ctr"/>
          <a:lstStyle/>
          <a:p>
            <a:pPr rtl="1" algn="r" indent="0" marL="0">
              <a:buNone/>
            </a:pPr>
            <a:r>
              <a:rPr lang="en-US" sz="1450" b="1" dirty="0">
                <a:solidFill>
                  <a:srgbClr val="15192E"/>
                </a:solidFill>
                <a:latin typeface="Tahoma" pitchFamily="34" charset="0"/>
                <a:ea typeface="Tahoma" pitchFamily="34" charset="-122"/>
                <a:cs typeface="Tahoma" pitchFamily="34" charset="-120"/>
              </a:rPr>
              <a:t>بازیابی</a:t>
            </a:r>
            <a:endParaRPr lang="en-US" sz="1450" dirty="0"/>
          </a:p>
        </p:txBody>
      </p:sp>
      <p:sp>
        <p:nvSpPr>
          <p:cNvPr id="12" name="Text 9"/>
          <p:cNvSpPr/>
          <p:nvPr/>
        </p:nvSpPr>
        <p:spPr>
          <a:xfrm>
            <a:off x="566928" y="2852928"/>
            <a:ext cx="7534656" cy="438912"/>
          </a:xfrm>
          <a:prstGeom prst="rect">
            <a:avLst/>
          </a:prstGeom>
          <a:noFill/>
          <a:ln/>
        </p:spPr>
        <p:txBody>
          <a:bodyPr wrap="square" lIns="0" tIns="0" rIns="0" bIns="0" rtlCol="0" anchor="t"/>
          <a:lstStyle/>
          <a:p>
            <a:pPr rtl="1" algn="r" indent="0" marL="0">
              <a:buNone/>
            </a:pPr>
            <a:r>
              <a:rPr lang="en-US" sz="1150" dirty="0">
                <a:solidFill>
                  <a:srgbClr val="5B6178"/>
                </a:solidFill>
                <a:latin typeface="Tahoma" pitchFamily="34" charset="0"/>
                <a:ea typeface="Tahoma" pitchFamily="34" charset="-122"/>
                <a:cs typeface="Tahoma" pitchFamily="34" charset="-120"/>
              </a:rPr>
              <a:t>روی ۴٬۵۶۵ رکورد متن آزاد: شکایت، گزارش کارشناس، درخواست فنی</a:t>
            </a:r>
            <a:endParaRPr lang="en-US" sz="1150" dirty="0"/>
          </a:p>
        </p:txBody>
      </p:sp>
      <p:sp>
        <p:nvSpPr>
          <p:cNvPr id="13" name="Shape 10"/>
          <p:cNvSpPr/>
          <p:nvPr/>
        </p:nvSpPr>
        <p:spPr>
          <a:xfrm>
            <a:off x="8229600" y="3392424"/>
            <a:ext cx="292608" cy="292608"/>
          </a:xfrm>
          <a:prstGeom prst="roundRect">
            <a:avLst>
              <a:gd name="adj" fmla="val 50000"/>
            </a:avLst>
          </a:prstGeom>
          <a:solidFill>
            <a:srgbClr val="1E2761"/>
          </a:solidFill>
          <a:ln w="12700">
            <a:solidFill>
              <a:srgbClr val="1E2761"/>
            </a:solidFill>
            <a:prstDash val="solid"/>
          </a:ln>
        </p:spPr>
      </p:sp>
      <p:sp>
        <p:nvSpPr>
          <p:cNvPr id="14" name="Text 11"/>
          <p:cNvSpPr/>
          <p:nvPr/>
        </p:nvSpPr>
        <p:spPr>
          <a:xfrm>
            <a:off x="8229600" y="3392424"/>
            <a:ext cx="292608" cy="292608"/>
          </a:xfrm>
          <a:prstGeom prst="rect">
            <a:avLst/>
          </a:prstGeom>
          <a:noFill/>
          <a:ln/>
        </p:spPr>
        <p:txBody>
          <a:bodyPr wrap="square" lIns="0" tIns="0" rIns="0" bIns="0" rtlCol="0" anchor="ctr"/>
          <a:lstStyle/>
          <a:p>
            <a:pPr rtl="1" algn="ctr" indent="0" marL="0">
              <a:buNone/>
            </a:pPr>
            <a:r>
              <a:rPr lang="en-US" sz="1100" b="1" dirty="0">
                <a:solidFill>
                  <a:srgbClr val="FFFFFF"/>
                </a:solidFill>
                <a:latin typeface="Tahoma" pitchFamily="34" charset="0"/>
                <a:ea typeface="Tahoma" pitchFamily="34" charset="-122"/>
                <a:cs typeface="Tahoma" pitchFamily="34" charset="-120"/>
              </a:rPr>
              <a:t>‏۳</a:t>
            </a:r>
            <a:endParaRPr lang="en-US" sz="1100" dirty="0"/>
          </a:p>
        </p:txBody>
      </p:sp>
      <p:sp>
        <p:nvSpPr>
          <p:cNvPr id="15" name="Text 12"/>
          <p:cNvSpPr/>
          <p:nvPr/>
        </p:nvSpPr>
        <p:spPr>
          <a:xfrm>
            <a:off x="566928" y="3346704"/>
            <a:ext cx="7534656" cy="310896"/>
          </a:xfrm>
          <a:prstGeom prst="rect">
            <a:avLst/>
          </a:prstGeom>
          <a:noFill/>
          <a:ln/>
        </p:spPr>
        <p:txBody>
          <a:bodyPr wrap="square" lIns="0" tIns="0" rIns="0" bIns="0" rtlCol="0" anchor="ctr"/>
          <a:lstStyle/>
          <a:p>
            <a:pPr rtl="1" algn="r" indent="0" marL="0">
              <a:buNone/>
            </a:pPr>
            <a:r>
              <a:rPr lang="en-US" sz="1450" b="1" dirty="0">
                <a:solidFill>
                  <a:srgbClr val="15192E"/>
                </a:solidFill>
                <a:latin typeface="Tahoma" pitchFamily="34" charset="0"/>
                <a:ea typeface="Tahoma" pitchFamily="34" charset="-122"/>
                <a:cs typeface="Tahoma" pitchFamily="34" charset="-120"/>
              </a:rPr>
              <a:t>فراخوانی ابزار</a:t>
            </a:r>
            <a:endParaRPr lang="en-US" sz="1450" dirty="0"/>
          </a:p>
        </p:txBody>
      </p:sp>
      <p:sp>
        <p:nvSpPr>
          <p:cNvPr id="16" name="Text 13"/>
          <p:cNvSpPr/>
          <p:nvPr/>
        </p:nvSpPr>
        <p:spPr>
          <a:xfrm>
            <a:off x="566928" y="3657600"/>
            <a:ext cx="7534656" cy="438912"/>
          </a:xfrm>
          <a:prstGeom prst="rect">
            <a:avLst/>
          </a:prstGeom>
          <a:noFill/>
          <a:ln/>
        </p:spPr>
        <p:txBody>
          <a:bodyPr wrap="square" lIns="0" tIns="0" rIns="0" bIns="0" rtlCol="0" anchor="t"/>
          <a:lstStyle/>
          <a:p>
            <a:pPr rtl="1" algn="r" indent="0" marL="0">
              <a:buNone/>
            </a:pPr>
            <a:r>
              <a:rPr lang="en-US" sz="1150" dirty="0">
                <a:solidFill>
                  <a:srgbClr val="5B6178"/>
                </a:solidFill>
                <a:latin typeface="Tahoma" pitchFamily="34" charset="0"/>
                <a:ea typeface="Tahoma" pitchFamily="34" charset="-122"/>
                <a:cs typeface="Tahoma" pitchFamily="34" charset="-120"/>
              </a:rPr>
              <a:t>ابزار درست انتخاب و اجرا می‌شود؛ عدد از پایتون می‌آید نه از مدل</a:t>
            </a:r>
            <a:endParaRPr lang="en-US" sz="1150" dirty="0"/>
          </a:p>
        </p:txBody>
      </p:sp>
      <p:sp>
        <p:nvSpPr>
          <p:cNvPr id="17" name="Shape 14"/>
          <p:cNvSpPr/>
          <p:nvPr/>
        </p:nvSpPr>
        <p:spPr>
          <a:xfrm>
            <a:off x="8229600" y="4197096"/>
            <a:ext cx="292608" cy="292608"/>
          </a:xfrm>
          <a:prstGeom prst="roundRect">
            <a:avLst>
              <a:gd name="adj" fmla="val 50000"/>
            </a:avLst>
          </a:prstGeom>
          <a:solidFill>
            <a:srgbClr val="1E2761"/>
          </a:solidFill>
          <a:ln w="12700">
            <a:solidFill>
              <a:srgbClr val="1E2761"/>
            </a:solidFill>
            <a:prstDash val="solid"/>
          </a:ln>
        </p:spPr>
      </p:sp>
      <p:sp>
        <p:nvSpPr>
          <p:cNvPr id="18" name="Text 15"/>
          <p:cNvSpPr/>
          <p:nvPr/>
        </p:nvSpPr>
        <p:spPr>
          <a:xfrm>
            <a:off x="8229600" y="4197096"/>
            <a:ext cx="292608" cy="292608"/>
          </a:xfrm>
          <a:prstGeom prst="rect">
            <a:avLst/>
          </a:prstGeom>
          <a:noFill/>
          <a:ln/>
        </p:spPr>
        <p:txBody>
          <a:bodyPr wrap="square" lIns="0" tIns="0" rIns="0" bIns="0" rtlCol="0" anchor="ctr"/>
          <a:lstStyle/>
          <a:p>
            <a:pPr rtl="1" algn="ctr" indent="0" marL="0">
              <a:buNone/>
            </a:pPr>
            <a:r>
              <a:rPr lang="en-US" sz="1100" b="1" dirty="0">
                <a:solidFill>
                  <a:srgbClr val="FFFFFF"/>
                </a:solidFill>
                <a:latin typeface="Tahoma" pitchFamily="34" charset="0"/>
                <a:ea typeface="Tahoma" pitchFamily="34" charset="-122"/>
                <a:cs typeface="Tahoma" pitchFamily="34" charset="-120"/>
              </a:rPr>
              <a:t>‏۴</a:t>
            </a:r>
            <a:endParaRPr lang="en-US" sz="1100" dirty="0"/>
          </a:p>
        </p:txBody>
      </p:sp>
      <p:sp>
        <p:nvSpPr>
          <p:cNvPr id="19" name="Text 16"/>
          <p:cNvSpPr/>
          <p:nvPr/>
        </p:nvSpPr>
        <p:spPr>
          <a:xfrm>
            <a:off x="566928" y="4151376"/>
            <a:ext cx="7534656" cy="310896"/>
          </a:xfrm>
          <a:prstGeom prst="rect">
            <a:avLst/>
          </a:prstGeom>
          <a:noFill/>
          <a:ln/>
        </p:spPr>
        <p:txBody>
          <a:bodyPr wrap="square" lIns="0" tIns="0" rIns="0" bIns="0" rtlCol="0" anchor="ctr"/>
          <a:lstStyle/>
          <a:p>
            <a:pPr rtl="1" algn="r" indent="0" marL="0">
              <a:buNone/>
            </a:pPr>
            <a:r>
              <a:rPr lang="en-US" sz="1450" b="1" dirty="0">
                <a:solidFill>
                  <a:srgbClr val="15192E"/>
                </a:solidFill>
                <a:latin typeface="Tahoma" pitchFamily="34" charset="0"/>
                <a:ea typeface="Tahoma" pitchFamily="34" charset="-122"/>
                <a:cs typeface="Tahoma" pitchFamily="34" charset="-120"/>
              </a:rPr>
              <a:t>روایت با رفرنس</a:t>
            </a:r>
            <a:endParaRPr lang="en-US" sz="1450" dirty="0"/>
          </a:p>
        </p:txBody>
      </p:sp>
      <p:sp>
        <p:nvSpPr>
          <p:cNvPr id="20" name="Text 17"/>
          <p:cNvSpPr/>
          <p:nvPr/>
        </p:nvSpPr>
        <p:spPr>
          <a:xfrm>
            <a:off x="566928" y="4462272"/>
            <a:ext cx="7534656" cy="438912"/>
          </a:xfrm>
          <a:prstGeom prst="rect">
            <a:avLst/>
          </a:prstGeom>
          <a:noFill/>
          <a:ln/>
        </p:spPr>
        <p:txBody>
          <a:bodyPr wrap="square" lIns="0" tIns="0" rIns="0" bIns="0" rtlCol="0" anchor="t"/>
          <a:lstStyle/>
          <a:p>
            <a:pPr rtl="1" algn="r" indent="0" marL="0">
              <a:buNone/>
            </a:pPr>
            <a:r>
              <a:rPr lang="en-US" sz="1150" dirty="0">
                <a:solidFill>
                  <a:srgbClr val="5B6178"/>
                </a:solidFill>
                <a:latin typeface="Tahoma" pitchFamily="34" charset="0"/>
                <a:ea typeface="Tahoma" pitchFamily="34" charset="-122"/>
                <a:cs typeface="Tahoma" pitchFamily="34" charset="-120"/>
              </a:rPr>
              <a:t>زیر هر ادعا نام شیت، شناسهٔ رکورد و تاریخ نوشته می‌شود</a:t>
            </a:r>
            <a:endParaRPr lang="en-US" sz="1150" dirty="0"/>
          </a:p>
        </p:txBody>
      </p:sp>
      <p:sp>
        <p:nvSpPr>
          <p:cNvPr id="21" name="Shape 18"/>
          <p:cNvSpPr/>
          <p:nvPr/>
        </p:nvSpPr>
        <p:spPr>
          <a:xfrm>
            <a:off x="8229600" y="5001768"/>
            <a:ext cx="292608" cy="292608"/>
          </a:xfrm>
          <a:prstGeom prst="roundRect">
            <a:avLst>
              <a:gd name="adj" fmla="val 50000"/>
            </a:avLst>
          </a:prstGeom>
          <a:solidFill>
            <a:srgbClr val="C77700"/>
          </a:solidFill>
          <a:ln w="12700">
            <a:solidFill>
              <a:srgbClr val="C77700"/>
            </a:solidFill>
            <a:prstDash val="solid"/>
          </a:ln>
        </p:spPr>
      </p:sp>
      <p:sp>
        <p:nvSpPr>
          <p:cNvPr id="22" name="Text 19"/>
          <p:cNvSpPr/>
          <p:nvPr/>
        </p:nvSpPr>
        <p:spPr>
          <a:xfrm>
            <a:off x="8229600" y="5001768"/>
            <a:ext cx="292608" cy="292608"/>
          </a:xfrm>
          <a:prstGeom prst="rect">
            <a:avLst/>
          </a:prstGeom>
          <a:noFill/>
          <a:ln/>
        </p:spPr>
        <p:txBody>
          <a:bodyPr wrap="square" lIns="0" tIns="0" rIns="0" bIns="0" rtlCol="0" anchor="ctr"/>
          <a:lstStyle/>
          <a:p>
            <a:pPr rtl="1" algn="ctr" indent="0" marL="0">
              <a:buNone/>
            </a:pPr>
            <a:r>
              <a:rPr lang="en-US" sz="1100" b="1" dirty="0">
                <a:solidFill>
                  <a:srgbClr val="FFFFFF"/>
                </a:solidFill>
                <a:latin typeface="Tahoma" pitchFamily="34" charset="0"/>
                <a:ea typeface="Tahoma" pitchFamily="34" charset="-122"/>
                <a:cs typeface="Tahoma" pitchFamily="34" charset="-120"/>
              </a:rPr>
              <a:t>‏۵</a:t>
            </a:r>
            <a:endParaRPr lang="en-US" sz="1100" dirty="0"/>
          </a:p>
        </p:txBody>
      </p:sp>
      <p:sp>
        <p:nvSpPr>
          <p:cNvPr id="23" name="Text 20"/>
          <p:cNvSpPr/>
          <p:nvPr/>
        </p:nvSpPr>
        <p:spPr>
          <a:xfrm>
            <a:off x="566928" y="4956048"/>
            <a:ext cx="7534656" cy="310896"/>
          </a:xfrm>
          <a:prstGeom prst="rect">
            <a:avLst/>
          </a:prstGeom>
          <a:noFill/>
          <a:ln/>
        </p:spPr>
        <p:txBody>
          <a:bodyPr wrap="square" lIns="0" tIns="0" rIns="0" bIns="0" rtlCol="0" anchor="ctr"/>
          <a:lstStyle/>
          <a:p>
            <a:pPr rtl="1" algn="r" indent="0" marL="0">
              <a:buNone/>
            </a:pPr>
            <a:r>
              <a:rPr lang="en-US" sz="1450" b="1" dirty="0">
                <a:solidFill>
                  <a:srgbClr val="15192E"/>
                </a:solidFill>
                <a:latin typeface="Tahoma" pitchFamily="34" charset="0"/>
                <a:ea typeface="Tahoma" pitchFamily="34" charset="-122"/>
                <a:cs typeface="Tahoma" pitchFamily="34" charset="-120"/>
              </a:rPr>
              <a:t>پشتیبان قطعی</a:t>
            </a:r>
            <a:endParaRPr lang="en-US" sz="1450" dirty="0"/>
          </a:p>
        </p:txBody>
      </p:sp>
      <p:sp>
        <p:nvSpPr>
          <p:cNvPr id="24" name="Text 21"/>
          <p:cNvSpPr/>
          <p:nvPr/>
        </p:nvSpPr>
        <p:spPr>
          <a:xfrm>
            <a:off x="566928" y="5266944"/>
            <a:ext cx="7534656" cy="438912"/>
          </a:xfrm>
          <a:prstGeom prst="rect">
            <a:avLst/>
          </a:prstGeom>
          <a:noFill/>
          <a:ln/>
        </p:spPr>
        <p:txBody>
          <a:bodyPr wrap="square" lIns="0" tIns="0" rIns="0" bIns="0" rtlCol="0" anchor="t"/>
          <a:lstStyle/>
          <a:p>
            <a:pPr rtl="1" algn="r" indent="0" marL="0">
              <a:buNone/>
            </a:pPr>
            <a:r>
              <a:rPr lang="en-US" sz="1150" dirty="0">
                <a:solidFill>
                  <a:srgbClr val="5B6178"/>
                </a:solidFill>
                <a:latin typeface="Tahoma" pitchFamily="34" charset="0"/>
                <a:ea typeface="Tahoma" pitchFamily="34" charset="-122"/>
                <a:cs typeface="Tahoma" pitchFamily="34" charset="-120"/>
              </a:rPr>
              <a:t>بدون کلید API یا شبکه، موتور قاعده‌محور همان ابزارها را صدا می‌زند</a:t>
            </a:r>
            <a:endParaRPr lang="en-US" sz="1150" dirty="0"/>
          </a:p>
        </p:txBody>
      </p:sp>
      <p:sp>
        <p:nvSpPr>
          <p:cNvPr id="25" name="Text 22"/>
          <p:cNvSpPr/>
          <p:nvPr/>
        </p:nvSpPr>
        <p:spPr>
          <a:xfrm>
            <a:off x="566928" y="6071616"/>
            <a:ext cx="11027664" cy="310896"/>
          </a:xfrm>
          <a:prstGeom prst="rect">
            <a:avLst/>
          </a:prstGeom>
          <a:noFill/>
          <a:ln/>
        </p:spPr>
        <p:txBody>
          <a:bodyPr wrap="square" lIns="0" tIns="0" rIns="0" bIns="0" rtlCol="0" anchor="ctr"/>
          <a:lstStyle/>
          <a:p>
            <a:pPr rtl="1" algn="r" indent="0" marL="0">
              <a:buNone/>
            </a:pPr>
            <a:r>
              <a:rPr lang="en-US" sz="1050" dirty="0">
                <a:solidFill>
                  <a:srgbClr val="5B6178"/>
                </a:solidFill>
                <a:latin typeface="Tahoma" pitchFamily="34" charset="0"/>
                <a:ea typeface="Tahoma" pitchFamily="34" charset="-122"/>
                <a:cs typeface="Tahoma" pitchFamily="34" charset="-120"/>
              </a:rPr>
              <a:t>اگر مدل عدد بسازد، قابل راستی‌آزمایی نیست. برای همین اجازهٔ محاسبه ندارد — فقط اجازهٔ انتخاب ابزار و روایت.</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768096"/>
          </a:xfrm>
          <a:prstGeom prst="rect">
            <a:avLst/>
          </a:prstGeom>
          <a:noFill/>
          <a:ln/>
        </p:spPr>
        <p:txBody>
          <a:bodyPr wrap="square" lIns="0" tIns="0" rIns="0" bIns="0" rtlCol="0" anchor="ctr"/>
          <a:lstStyle/>
          <a:p>
            <a:pPr rtl="1" algn="r" indent="0" marL="0">
              <a:buNone/>
            </a:pPr>
            <a:r>
              <a:rPr lang="en-US" sz="3100" b="1" dirty="0">
                <a:solidFill>
                  <a:srgbClr val="15192E"/>
                </a:solidFill>
                <a:latin typeface="Tahoma" pitchFamily="34" charset="0"/>
                <a:ea typeface="Tahoma" pitchFamily="34" charset="-122"/>
                <a:cs typeface="Tahoma" pitchFamily="34" charset="-120"/>
              </a:rPr>
              <a:t>کارت مشتری پر‌اهمیت: از «چه خبر است» به «چه کن»</a:t>
            </a:r>
            <a:endParaRPr lang="en-US" sz="3100" dirty="0"/>
          </a:p>
        </p:txBody>
      </p:sp>
      <p:sp>
        <p:nvSpPr>
          <p:cNvPr id="3" name="Text 1"/>
          <p:cNvSpPr/>
          <p:nvPr/>
        </p:nvSpPr>
        <p:spPr>
          <a:xfrm>
            <a:off x="566928" y="1115568"/>
            <a:ext cx="11027664" cy="420624"/>
          </a:xfrm>
          <a:prstGeom prst="rect">
            <a:avLst/>
          </a:prstGeom>
          <a:noFill/>
          <a:ln/>
        </p:spPr>
        <p:txBody>
          <a:bodyPr wrap="square" lIns="0" tIns="0" rIns="0" bIns="0" rtlCol="0" anchor="t"/>
          <a:lstStyle/>
          <a:p>
            <a:pPr rtl="1" algn="r" indent="0" marL="0">
              <a:buNone/>
            </a:pPr>
            <a:r>
              <a:rPr lang="en-US" sz="1400" dirty="0">
                <a:solidFill>
                  <a:srgbClr val="5B6178"/>
                </a:solidFill>
                <a:latin typeface="Tahoma" pitchFamily="34" charset="0"/>
                <a:ea typeface="Tahoma" pitchFamily="34" charset="-122"/>
                <a:cs typeface="Tahoma" pitchFamily="34" charset="-120"/>
              </a:rPr>
              <a:t>هر مشتری کارتابل، یک کارت با هدف، هویت، کانال، کارها و دستور کار گفت‌وگو.</a:t>
            </a:r>
            <a:endParaRPr lang="en-US" sz="1400" dirty="0"/>
          </a:p>
        </p:txBody>
      </p:sp>
      <p:pic>
        <p:nvPicPr>
          <p:cNvPr id="4" name="Image 0" descr="/home/claude/nafis_copilot/deck/img/card.png">    </p:cNvPr>
          <p:cNvPicPr>
            <a:picLocks noChangeAspect="1"/>
          </p:cNvPicPr>
          <p:nvPr/>
        </p:nvPicPr>
        <p:blipFill>
          <a:blip r:embed="rId1"/>
          <a:stretch>
            <a:fillRect/>
          </a:stretch>
        </p:blipFill>
        <p:spPr>
          <a:xfrm>
            <a:off x="8348472" y="1737360"/>
            <a:ext cx="3246120" cy="4271211"/>
          </a:xfrm>
          <a:prstGeom prst="rect">
            <a:avLst/>
          </a:prstGeom>
          <a:effectLst>
            <a:outerShdw sx="100000" sy="100000" kx="0" ky="0" algn="bl" rotWithShape="0" blurRad="114300" dist="25400" dir="5400000">
              <a:srgbClr val="9AA3BC">
                <a:alpha val="35000"/>
              </a:srgbClr>
            </a:outerShdw>
          </a:effectLst>
        </p:spPr>
      </p:pic>
      <p:sp>
        <p:nvSpPr>
          <p:cNvPr id="5" name="Text 2"/>
          <p:cNvSpPr/>
          <p:nvPr/>
        </p:nvSpPr>
        <p:spPr>
          <a:xfrm>
            <a:off x="566928" y="1719072"/>
            <a:ext cx="7488936" cy="274320"/>
          </a:xfrm>
          <a:prstGeom prst="rect">
            <a:avLst/>
          </a:prstGeom>
          <a:noFill/>
          <a:ln/>
        </p:spPr>
        <p:txBody>
          <a:bodyPr wrap="square" lIns="0" tIns="0" rIns="0" bIns="0" rtlCol="0" anchor="ctr"/>
          <a:lstStyle/>
          <a:p>
            <a:pPr rtl="1" algn="r" indent="0" marL="0">
              <a:buNone/>
            </a:pPr>
            <a:r>
              <a:rPr lang="en-US" sz="1350" b="1" dirty="0">
                <a:solidFill>
                  <a:srgbClr val="1E2761"/>
                </a:solidFill>
                <a:latin typeface="Tahoma" pitchFamily="34" charset="0"/>
                <a:ea typeface="Tahoma" pitchFamily="34" charset="-122"/>
                <a:cs typeface="Tahoma" pitchFamily="34" charset="-120"/>
              </a:rPr>
              <a:t>هدف ارتباط با مبلغش</a:t>
            </a:r>
            <a:endParaRPr lang="en-US" sz="1350" dirty="0"/>
          </a:p>
        </p:txBody>
      </p:sp>
      <p:sp>
        <p:nvSpPr>
          <p:cNvPr id="6" name="Text 3"/>
          <p:cNvSpPr/>
          <p:nvPr/>
        </p:nvSpPr>
        <p:spPr>
          <a:xfrm>
            <a:off x="566928" y="1984248"/>
            <a:ext cx="7488936" cy="420624"/>
          </a:xfrm>
          <a:prstGeom prst="rect">
            <a:avLst/>
          </a:prstGeom>
          <a:noFill/>
          <a:ln/>
        </p:spPr>
        <p:txBody>
          <a:bodyPr wrap="square" lIns="0" tIns="0" rIns="0" bIns="0" rtlCol="0" anchor="t"/>
          <a:lstStyle/>
          <a:p>
            <a:pPr rtl="1" algn="r" indent="0" marL="0">
              <a:buNone/>
            </a:pPr>
            <a:r>
              <a:rPr lang="en-US" sz="1150" dirty="0">
                <a:solidFill>
                  <a:srgbClr val="5B6178"/>
                </a:solidFill>
                <a:latin typeface="Tahoma" pitchFamily="34" charset="0"/>
                <a:ea typeface="Tahoma" pitchFamily="34" charset="-122"/>
                <a:cs typeface="Tahoma" pitchFamily="34" charset="-120"/>
              </a:rPr>
              <a:t>وصول مطالبات معوق — ۱۵٫۸ میلیون</a:t>
            </a:r>
            <a:endParaRPr lang="en-US" sz="1150" dirty="0"/>
          </a:p>
        </p:txBody>
      </p:sp>
      <p:sp>
        <p:nvSpPr>
          <p:cNvPr id="7" name="Text 4"/>
          <p:cNvSpPr/>
          <p:nvPr/>
        </p:nvSpPr>
        <p:spPr>
          <a:xfrm>
            <a:off x="566928" y="2414016"/>
            <a:ext cx="7488936" cy="274320"/>
          </a:xfrm>
          <a:prstGeom prst="rect">
            <a:avLst/>
          </a:prstGeom>
          <a:noFill/>
          <a:ln/>
        </p:spPr>
        <p:txBody>
          <a:bodyPr wrap="square" lIns="0" tIns="0" rIns="0" bIns="0" rtlCol="0" anchor="ctr"/>
          <a:lstStyle/>
          <a:p>
            <a:pPr rtl="1" algn="r" indent="0" marL="0">
              <a:buNone/>
            </a:pPr>
            <a:r>
              <a:rPr lang="en-US" sz="1350" b="1" dirty="0">
                <a:solidFill>
                  <a:srgbClr val="1E2761"/>
                </a:solidFill>
                <a:latin typeface="Tahoma" pitchFamily="34" charset="0"/>
                <a:ea typeface="Tahoma" pitchFamily="34" charset="-122"/>
                <a:cs typeface="Tahoma" pitchFamily="34" charset="-120"/>
              </a:rPr>
              <a:t>مشتری کیست</a:t>
            </a:r>
            <a:endParaRPr lang="en-US" sz="1350" dirty="0"/>
          </a:p>
        </p:txBody>
      </p:sp>
      <p:sp>
        <p:nvSpPr>
          <p:cNvPr id="8" name="Text 5"/>
          <p:cNvSpPr/>
          <p:nvPr/>
        </p:nvSpPr>
        <p:spPr>
          <a:xfrm>
            <a:off x="566928" y="2679192"/>
            <a:ext cx="7488936" cy="420624"/>
          </a:xfrm>
          <a:prstGeom prst="rect">
            <a:avLst/>
          </a:prstGeom>
          <a:noFill/>
          <a:ln/>
        </p:spPr>
        <p:txBody>
          <a:bodyPr wrap="square" lIns="0" tIns="0" rIns="0" bIns="0" rtlCol="0" anchor="t"/>
          <a:lstStyle/>
          <a:p>
            <a:pPr rtl="1" algn="r" indent="0" marL="0">
              <a:buNone/>
            </a:pPr>
            <a:r>
              <a:rPr lang="en-US" sz="1150" dirty="0">
                <a:solidFill>
                  <a:srgbClr val="5B6178"/>
                </a:solidFill>
                <a:latin typeface="Tahoma" pitchFamily="34" charset="0"/>
                <a:ea typeface="Tahoma" pitchFamily="34" charset="-122"/>
                <a:cs typeface="Tahoma" pitchFamily="34" charset="-120"/>
              </a:rPr>
              <a:t>بخش، رتبهٔ فروش، بخش RFM، ماه‌های فعال</a:t>
            </a:r>
            <a:endParaRPr lang="en-US" sz="1150" dirty="0"/>
          </a:p>
        </p:txBody>
      </p:sp>
      <p:sp>
        <p:nvSpPr>
          <p:cNvPr id="9" name="Text 6"/>
          <p:cNvSpPr/>
          <p:nvPr/>
        </p:nvSpPr>
        <p:spPr>
          <a:xfrm>
            <a:off x="566928" y="3108960"/>
            <a:ext cx="7488936" cy="274320"/>
          </a:xfrm>
          <a:prstGeom prst="rect">
            <a:avLst/>
          </a:prstGeom>
          <a:noFill/>
          <a:ln/>
        </p:spPr>
        <p:txBody>
          <a:bodyPr wrap="square" lIns="0" tIns="0" rIns="0" bIns="0" rtlCol="0" anchor="ctr"/>
          <a:lstStyle/>
          <a:p>
            <a:pPr rtl="1" algn="r" indent="0" marL="0">
              <a:buNone/>
            </a:pPr>
            <a:r>
              <a:rPr lang="en-US" sz="1350" b="1" dirty="0">
                <a:solidFill>
                  <a:srgbClr val="1E2761"/>
                </a:solidFill>
                <a:latin typeface="Tahoma" pitchFamily="34" charset="0"/>
                <a:ea typeface="Tahoma" pitchFamily="34" charset="-122"/>
                <a:cs typeface="Tahoma" pitchFamily="34" charset="-120"/>
              </a:rPr>
              <a:t>بهترین کانال</a:t>
            </a:r>
            <a:endParaRPr lang="en-US" sz="1350" dirty="0"/>
          </a:p>
        </p:txBody>
      </p:sp>
      <p:sp>
        <p:nvSpPr>
          <p:cNvPr id="10" name="Text 7"/>
          <p:cNvSpPr/>
          <p:nvPr/>
        </p:nvSpPr>
        <p:spPr>
          <a:xfrm>
            <a:off x="566928" y="3374136"/>
            <a:ext cx="7488936" cy="420624"/>
          </a:xfrm>
          <a:prstGeom prst="rect">
            <a:avLst/>
          </a:prstGeom>
          <a:noFill/>
          <a:ln/>
        </p:spPr>
        <p:txBody>
          <a:bodyPr wrap="square" lIns="0" tIns="0" rIns="0" bIns="0" rtlCol="0" anchor="t"/>
          <a:lstStyle/>
          <a:p>
            <a:pPr rtl="1" algn="r" indent="0" marL="0">
              <a:buNone/>
            </a:pPr>
            <a:r>
              <a:rPr lang="en-US" sz="1150" dirty="0">
                <a:solidFill>
                  <a:srgbClr val="5B6178"/>
                </a:solidFill>
                <a:latin typeface="Tahoma" pitchFamily="34" charset="0"/>
                <a:ea typeface="Tahoma" pitchFamily="34" charset="-122"/>
                <a:cs typeface="Tahoma" pitchFamily="34" charset="-120"/>
              </a:rPr>
              <a:t>از سابقهٔ واقعی CRM همین مشتری، نه از قالب</a:t>
            </a:r>
            <a:endParaRPr lang="en-US" sz="1150" dirty="0"/>
          </a:p>
        </p:txBody>
      </p:sp>
      <p:sp>
        <p:nvSpPr>
          <p:cNvPr id="11" name="Text 8"/>
          <p:cNvSpPr/>
          <p:nvPr/>
        </p:nvSpPr>
        <p:spPr>
          <a:xfrm>
            <a:off x="566928" y="3803904"/>
            <a:ext cx="7488936" cy="274320"/>
          </a:xfrm>
          <a:prstGeom prst="rect">
            <a:avLst/>
          </a:prstGeom>
          <a:noFill/>
          <a:ln/>
        </p:spPr>
        <p:txBody>
          <a:bodyPr wrap="square" lIns="0" tIns="0" rIns="0" bIns="0" rtlCol="0" anchor="ctr"/>
          <a:lstStyle/>
          <a:p>
            <a:pPr rtl="1" algn="r" indent="0" marL="0">
              <a:buNone/>
            </a:pPr>
            <a:r>
              <a:rPr lang="en-US" sz="1350" b="1" dirty="0">
                <a:solidFill>
                  <a:srgbClr val="1E2761"/>
                </a:solidFill>
                <a:latin typeface="Tahoma" pitchFamily="34" charset="0"/>
                <a:ea typeface="Tahoma" pitchFamily="34" charset="-122"/>
                <a:cs typeface="Tahoma" pitchFamily="34" charset="-120"/>
              </a:rPr>
              <a:t>کارها با مسئول</a:t>
            </a:r>
            <a:endParaRPr lang="en-US" sz="1350" dirty="0"/>
          </a:p>
        </p:txBody>
      </p:sp>
      <p:sp>
        <p:nvSpPr>
          <p:cNvPr id="12" name="Text 9"/>
          <p:cNvSpPr/>
          <p:nvPr/>
        </p:nvSpPr>
        <p:spPr>
          <a:xfrm>
            <a:off x="566928" y="4069080"/>
            <a:ext cx="7488936" cy="420624"/>
          </a:xfrm>
          <a:prstGeom prst="rect">
            <a:avLst/>
          </a:prstGeom>
          <a:noFill/>
          <a:ln/>
        </p:spPr>
        <p:txBody>
          <a:bodyPr wrap="square" lIns="0" tIns="0" rIns="0" bIns="0" rtlCol="0" anchor="t"/>
          <a:lstStyle/>
          <a:p>
            <a:pPr rtl="1" algn="r" indent="0" marL="0">
              <a:buNone/>
            </a:pPr>
            <a:r>
              <a:rPr lang="en-US" sz="1150" dirty="0">
                <a:solidFill>
                  <a:srgbClr val="5B6178"/>
                </a:solidFill>
                <a:latin typeface="Tahoma" pitchFamily="34" charset="0"/>
                <a:ea typeface="Tahoma" pitchFamily="34" charset="-122"/>
                <a:cs typeface="Tahoma" pitchFamily="34" charset="-120"/>
              </a:rPr>
              <a:t>حداکثر چهار کار، تایتل‌وار، هر کدام با واحد مسئول</a:t>
            </a:r>
            <a:endParaRPr lang="en-US" sz="1150" dirty="0"/>
          </a:p>
        </p:txBody>
      </p:sp>
      <p:sp>
        <p:nvSpPr>
          <p:cNvPr id="13" name="Text 10"/>
          <p:cNvSpPr/>
          <p:nvPr/>
        </p:nvSpPr>
        <p:spPr>
          <a:xfrm>
            <a:off x="566928" y="4498848"/>
            <a:ext cx="7488936" cy="274320"/>
          </a:xfrm>
          <a:prstGeom prst="rect">
            <a:avLst/>
          </a:prstGeom>
          <a:noFill/>
          <a:ln/>
        </p:spPr>
        <p:txBody>
          <a:bodyPr wrap="square" lIns="0" tIns="0" rIns="0" bIns="0" rtlCol="0" anchor="ctr"/>
          <a:lstStyle/>
          <a:p>
            <a:pPr rtl="1" algn="r" indent="0" marL="0">
              <a:buNone/>
            </a:pPr>
            <a:r>
              <a:rPr lang="en-US" sz="1350" b="1" dirty="0">
                <a:solidFill>
                  <a:srgbClr val="1E2761"/>
                </a:solidFill>
                <a:latin typeface="Tahoma" pitchFamily="34" charset="0"/>
                <a:ea typeface="Tahoma" pitchFamily="34" charset="-122"/>
                <a:cs typeface="Tahoma" pitchFamily="34" charset="-120"/>
              </a:rPr>
              <a:t>همین حالا</a:t>
            </a:r>
            <a:endParaRPr lang="en-US" sz="1350" dirty="0"/>
          </a:p>
        </p:txBody>
      </p:sp>
      <p:sp>
        <p:nvSpPr>
          <p:cNvPr id="14" name="Text 11"/>
          <p:cNvSpPr/>
          <p:nvPr/>
        </p:nvSpPr>
        <p:spPr>
          <a:xfrm>
            <a:off x="566928" y="4764024"/>
            <a:ext cx="7488936" cy="420624"/>
          </a:xfrm>
          <a:prstGeom prst="rect">
            <a:avLst/>
          </a:prstGeom>
          <a:noFill/>
          <a:ln/>
        </p:spPr>
        <p:txBody>
          <a:bodyPr wrap="square" lIns="0" tIns="0" rIns="0" bIns="0" rtlCol="0" anchor="t"/>
          <a:lstStyle/>
          <a:p>
            <a:pPr rtl="1" algn="r" indent="0" marL="0">
              <a:buNone/>
            </a:pPr>
            <a:r>
              <a:rPr lang="en-US" sz="1150" dirty="0">
                <a:solidFill>
                  <a:srgbClr val="5B6178"/>
                </a:solidFill>
                <a:latin typeface="Tahoma" pitchFamily="34" charset="0"/>
                <a:ea typeface="Tahoma" pitchFamily="34" charset="-122"/>
                <a:cs typeface="Tahoma" pitchFamily="34" charset="-120"/>
              </a:rPr>
              <a:t>یک جمله: دقیقاً کاری که این ساعت باید انجام شود</a:t>
            </a:r>
            <a:endParaRPr lang="en-US" sz="1150" dirty="0"/>
          </a:p>
        </p:txBody>
      </p:sp>
      <p:sp>
        <p:nvSpPr>
          <p:cNvPr id="15" name="Text 12"/>
          <p:cNvSpPr/>
          <p:nvPr/>
        </p:nvSpPr>
        <p:spPr>
          <a:xfrm>
            <a:off x="566928" y="5193792"/>
            <a:ext cx="7488936" cy="274320"/>
          </a:xfrm>
          <a:prstGeom prst="rect">
            <a:avLst/>
          </a:prstGeom>
          <a:noFill/>
          <a:ln/>
        </p:spPr>
        <p:txBody>
          <a:bodyPr wrap="square" lIns="0" tIns="0" rIns="0" bIns="0" rtlCol="0" anchor="ctr"/>
          <a:lstStyle/>
          <a:p>
            <a:pPr rtl="1" algn="r" indent="0" marL="0">
              <a:buNone/>
            </a:pPr>
            <a:r>
              <a:rPr lang="en-US" sz="1350" b="1" dirty="0">
                <a:solidFill>
                  <a:srgbClr val="1E2761"/>
                </a:solidFill>
                <a:latin typeface="Tahoma" pitchFamily="34" charset="0"/>
                <a:ea typeface="Tahoma" pitchFamily="34" charset="-122"/>
                <a:cs typeface="Tahoma" pitchFamily="34" charset="-120"/>
              </a:rPr>
              <a:t>دستور کار تماس یا جلسه</a:t>
            </a:r>
            <a:endParaRPr lang="en-US" sz="1350" dirty="0"/>
          </a:p>
        </p:txBody>
      </p:sp>
      <p:sp>
        <p:nvSpPr>
          <p:cNvPr id="16" name="Text 13"/>
          <p:cNvSpPr/>
          <p:nvPr/>
        </p:nvSpPr>
        <p:spPr>
          <a:xfrm>
            <a:off x="566928" y="5458968"/>
            <a:ext cx="7488936" cy="420624"/>
          </a:xfrm>
          <a:prstGeom prst="rect">
            <a:avLst/>
          </a:prstGeom>
          <a:noFill/>
          <a:ln/>
        </p:spPr>
        <p:txBody>
          <a:bodyPr wrap="square" lIns="0" tIns="0" rIns="0" bIns="0" rtlCol="0" anchor="t"/>
          <a:lstStyle/>
          <a:p>
            <a:pPr rtl="1" algn="r" indent="0" marL="0">
              <a:buNone/>
            </a:pPr>
            <a:r>
              <a:rPr lang="en-US" sz="1150" dirty="0">
                <a:solidFill>
                  <a:srgbClr val="5B6178"/>
                </a:solidFill>
                <a:latin typeface="Tahoma" pitchFamily="34" charset="0"/>
                <a:ea typeface="Tahoma" pitchFamily="34" charset="-122"/>
                <a:cs typeface="Tahoma" pitchFamily="34" charset="-120"/>
              </a:rPr>
              <a:t>شروع گفت‌وگو، نکته‌ها با عدد و شناسهٔ فاکتور، جملهٔ بستن، و رفتار و زبان بدن متناسب با اهمیت مشتری</a:t>
            </a:r>
            <a:endParaRPr lang="en-US" sz="1150" dirty="0"/>
          </a:p>
        </p:txBody>
      </p:sp>
      <p:sp>
        <p:nvSpPr>
          <p:cNvPr id="17" name="Text 14"/>
          <p:cNvSpPr/>
          <p:nvPr/>
        </p:nvSpPr>
        <p:spPr>
          <a:xfrm>
            <a:off x="566928" y="6071616"/>
            <a:ext cx="11027664" cy="310896"/>
          </a:xfrm>
          <a:prstGeom prst="rect">
            <a:avLst/>
          </a:prstGeom>
          <a:noFill/>
          <a:ln/>
        </p:spPr>
        <p:txBody>
          <a:bodyPr wrap="square" lIns="0" tIns="0" rIns="0" bIns="0" rtlCol="0" anchor="ctr"/>
          <a:lstStyle/>
          <a:p>
            <a:pPr rtl="1" algn="r" indent="0" marL="0">
              <a:buNone/>
            </a:pPr>
            <a:r>
              <a:rPr lang="en-US" sz="1050" dirty="0">
                <a:solidFill>
                  <a:srgbClr val="5B6178"/>
                </a:solidFill>
                <a:latin typeface="Tahoma" pitchFamily="34" charset="0"/>
                <a:ea typeface="Tahoma" pitchFamily="34" charset="-122"/>
                <a:cs typeface="Tahoma" pitchFamily="34" charset="-120"/>
              </a:rPr>
              <a:t>رفتار و لحن از قواعد ارتباط مؤثر می‌آید و با اولویت مشتری و نوع کانال تنظیم می‌شود — برای مشتری بحرانی، مدیر شخصاً می‌رود؛ برای کم‌ارزش، پیگیری مکتوب کافی است.</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768096"/>
          </a:xfrm>
          <a:prstGeom prst="rect">
            <a:avLst/>
          </a:prstGeom>
          <a:noFill/>
          <a:ln/>
        </p:spPr>
        <p:txBody>
          <a:bodyPr wrap="square" lIns="0" tIns="0" rIns="0" bIns="0" rtlCol="0" anchor="ctr"/>
          <a:lstStyle/>
          <a:p>
            <a:pPr rtl="1" algn="r" indent="0" marL="0">
              <a:buNone/>
            </a:pPr>
            <a:r>
              <a:rPr lang="en-US" sz="3100" b="1" dirty="0">
                <a:solidFill>
                  <a:srgbClr val="15192E"/>
                </a:solidFill>
                <a:latin typeface="Tahoma" pitchFamily="34" charset="0"/>
                <a:ea typeface="Tahoma" pitchFamily="34" charset="-122"/>
                <a:cs typeface="Tahoma" pitchFamily="34" charset="-120"/>
              </a:rPr>
              <a:t>فلوی یک کار: از کارتابل مدیر تا تصمیم بسته</a:t>
            </a:r>
            <a:endParaRPr lang="en-US" sz="3100" dirty="0"/>
          </a:p>
        </p:txBody>
      </p:sp>
      <p:sp>
        <p:nvSpPr>
          <p:cNvPr id="3" name="Text 1"/>
          <p:cNvSpPr/>
          <p:nvPr/>
        </p:nvSpPr>
        <p:spPr>
          <a:xfrm>
            <a:off x="566928" y="1115568"/>
            <a:ext cx="11027664" cy="420624"/>
          </a:xfrm>
          <a:prstGeom prst="rect">
            <a:avLst/>
          </a:prstGeom>
          <a:noFill/>
          <a:ln/>
        </p:spPr>
        <p:txBody>
          <a:bodyPr wrap="square" lIns="0" tIns="0" rIns="0" bIns="0" rtlCol="0" anchor="t"/>
          <a:lstStyle/>
          <a:p>
            <a:pPr rtl="1" algn="r" indent="0" marL="0">
              <a:buNone/>
            </a:pPr>
            <a:r>
              <a:rPr lang="en-US" sz="1400" dirty="0">
                <a:solidFill>
                  <a:srgbClr val="5B6178"/>
                </a:solidFill>
                <a:latin typeface="Tahoma" pitchFamily="34" charset="0"/>
                <a:ea typeface="Tahoma" pitchFamily="34" charset="-122"/>
                <a:cs typeface="Tahoma" pitchFamily="34" charset="-120"/>
              </a:rPr>
              <a:t>همان حلقه‌ای که در CRM موجود بسته نمی‌شد — چون فیلدی برای بستنش وجود نداشت.</a:t>
            </a:r>
            <a:endParaRPr lang="en-US" sz="1400" dirty="0"/>
          </a:p>
        </p:txBody>
      </p:sp>
      <p:sp>
        <p:nvSpPr>
          <p:cNvPr id="4" name="Shape 2"/>
          <p:cNvSpPr/>
          <p:nvPr/>
        </p:nvSpPr>
        <p:spPr>
          <a:xfrm>
            <a:off x="9506102" y="1755648"/>
            <a:ext cx="2088490" cy="2231136"/>
          </a:xfrm>
          <a:prstGeom prst="roundRect">
            <a:avLst>
              <a:gd name="adj" fmla="val 4378"/>
            </a:avLst>
          </a:prstGeom>
          <a:solidFill>
            <a:srgbClr val="F4F6FB"/>
          </a:solidFill>
          <a:ln w="12700">
            <a:solidFill>
              <a:srgbClr val="DDE3F0"/>
            </a:solidFill>
            <a:prstDash val="solid"/>
          </a:ln>
        </p:spPr>
      </p:sp>
      <p:sp>
        <p:nvSpPr>
          <p:cNvPr id="5" name="Shape 3"/>
          <p:cNvSpPr/>
          <p:nvPr/>
        </p:nvSpPr>
        <p:spPr>
          <a:xfrm>
            <a:off x="10376611" y="1920240"/>
            <a:ext cx="347472" cy="347472"/>
          </a:xfrm>
          <a:prstGeom prst="roundRect">
            <a:avLst>
              <a:gd name="adj" fmla="val 50000"/>
            </a:avLst>
          </a:prstGeom>
          <a:solidFill>
            <a:srgbClr val="1E2761"/>
          </a:solidFill>
          <a:ln w="12700">
            <a:solidFill>
              <a:srgbClr val="1E2761"/>
            </a:solidFill>
            <a:prstDash val="solid"/>
          </a:ln>
        </p:spPr>
      </p:sp>
      <p:sp>
        <p:nvSpPr>
          <p:cNvPr id="6" name="Text 4"/>
          <p:cNvSpPr/>
          <p:nvPr/>
        </p:nvSpPr>
        <p:spPr>
          <a:xfrm>
            <a:off x="10376611" y="1920240"/>
            <a:ext cx="347472" cy="347472"/>
          </a:xfrm>
          <a:prstGeom prst="rect">
            <a:avLst/>
          </a:prstGeom>
          <a:noFill/>
          <a:ln/>
        </p:spPr>
        <p:txBody>
          <a:bodyPr wrap="square" lIns="0" tIns="0" rIns="0" bIns="0" rtlCol="0" anchor="ctr"/>
          <a:lstStyle/>
          <a:p>
            <a:pPr rtl="1" algn="ctr" indent="0" marL="0">
              <a:buNone/>
            </a:pPr>
            <a:r>
              <a:rPr lang="en-US" sz="1300" b="1" dirty="0">
                <a:solidFill>
                  <a:srgbClr val="FFFFFF"/>
                </a:solidFill>
                <a:latin typeface="Tahoma" pitchFamily="34" charset="0"/>
                <a:ea typeface="Tahoma" pitchFamily="34" charset="-122"/>
                <a:cs typeface="Tahoma" pitchFamily="34" charset="-120"/>
              </a:rPr>
              <a:t>‏۱</a:t>
            </a:r>
            <a:endParaRPr lang="en-US" sz="1300" dirty="0"/>
          </a:p>
        </p:txBody>
      </p:sp>
      <p:sp>
        <p:nvSpPr>
          <p:cNvPr id="7" name="Text 5"/>
          <p:cNvSpPr/>
          <p:nvPr/>
        </p:nvSpPr>
        <p:spPr>
          <a:xfrm>
            <a:off x="9652406" y="2377440"/>
            <a:ext cx="1795882" cy="384048"/>
          </a:xfrm>
          <a:prstGeom prst="rect">
            <a:avLst/>
          </a:prstGeom>
          <a:noFill/>
          <a:ln/>
        </p:spPr>
        <p:txBody>
          <a:bodyPr wrap="square" lIns="0" tIns="0" rIns="0" bIns="0" rtlCol="0" anchor="ctr"/>
          <a:lstStyle/>
          <a:p>
            <a:pPr rtl="1" algn="ctr" indent="0" marL="0">
              <a:buNone/>
            </a:pPr>
            <a:r>
              <a:rPr lang="en-US" sz="1350" b="1" dirty="0">
                <a:solidFill>
                  <a:srgbClr val="15192E"/>
                </a:solidFill>
                <a:latin typeface="Tahoma" pitchFamily="34" charset="0"/>
                <a:ea typeface="Tahoma" pitchFamily="34" charset="-122"/>
                <a:cs typeface="Tahoma" pitchFamily="34" charset="-120"/>
              </a:rPr>
              <a:t>مدیر فروش</a:t>
            </a:r>
            <a:endParaRPr lang="en-US" sz="1350" dirty="0"/>
          </a:p>
        </p:txBody>
      </p:sp>
      <p:sp>
        <p:nvSpPr>
          <p:cNvPr id="8" name="Text 6"/>
          <p:cNvSpPr/>
          <p:nvPr/>
        </p:nvSpPr>
        <p:spPr>
          <a:xfrm>
            <a:off x="9652406" y="2761488"/>
            <a:ext cx="1795882" cy="1298448"/>
          </a:xfrm>
          <a:prstGeom prst="rect">
            <a:avLst/>
          </a:prstGeom>
          <a:noFill/>
          <a:ln/>
        </p:spPr>
        <p:txBody>
          <a:bodyPr wrap="square" lIns="0" tIns="0" rIns="0" bIns="0" rtlCol="0" anchor="t"/>
          <a:lstStyle/>
          <a:p>
            <a:pPr rtl="1" algn="ctr" indent="0" marL="0">
              <a:buNone/>
            </a:pPr>
            <a:r>
              <a:rPr lang="en-US" sz="1100" dirty="0">
                <a:solidFill>
                  <a:srgbClr val="5B6178"/>
                </a:solidFill>
                <a:latin typeface="Tahoma" pitchFamily="34" charset="0"/>
                <a:ea typeface="Tahoma" pitchFamily="34" charset="-122"/>
                <a:cs typeface="Tahoma" pitchFamily="34" charset="-120"/>
              </a:rPr>
              <a:t>کار تماسی را در کارتابل می‌بیند و «ارجاع به کارشناس» می‌زند</a:t>
            </a:r>
            <a:endParaRPr lang="en-US" sz="1100" dirty="0"/>
          </a:p>
        </p:txBody>
      </p:sp>
      <p:sp>
        <p:nvSpPr>
          <p:cNvPr id="9" name="Shape 7"/>
          <p:cNvSpPr/>
          <p:nvPr/>
        </p:nvSpPr>
        <p:spPr>
          <a:xfrm>
            <a:off x="7271309" y="1755648"/>
            <a:ext cx="2088490" cy="2231136"/>
          </a:xfrm>
          <a:prstGeom prst="roundRect">
            <a:avLst>
              <a:gd name="adj" fmla="val 4378"/>
            </a:avLst>
          </a:prstGeom>
          <a:solidFill>
            <a:srgbClr val="F4F6FB"/>
          </a:solidFill>
          <a:ln w="12700">
            <a:solidFill>
              <a:srgbClr val="DDE3F0"/>
            </a:solidFill>
            <a:prstDash val="solid"/>
          </a:ln>
        </p:spPr>
      </p:sp>
      <p:sp>
        <p:nvSpPr>
          <p:cNvPr id="10" name="Shape 8"/>
          <p:cNvSpPr/>
          <p:nvPr/>
        </p:nvSpPr>
        <p:spPr>
          <a:xfrm>
            <a:off x="8141818" y="1920240"/>
            <a:ext cx="347472" cy="347472"/>
          </a:xfrm>
          <a:prstGeom prst="roundRect">
            <a:avLst>
              <a:gd name="adj" fmla="val 50000"/>
            </a:avLst>
          </a:prstGeom>
          <a:solidFill>
            <a:srgbClr val="1E2761"/>
          </a:solidFill>
          <a:ln w="12700">
            <a:solidFill>
              <a:srgbClr val="1E2761"/>
            </a:solidFill>
            <a:prstDash val="solid"/>
          </a:ln>
        </p:spPr>
      </p:sp>
      <p:sp>
        <p:nvSpPr>
          <p:cNvPr id="11" name="Text 9"/>
          <p:cNvSpPr/>
          <p:nvPr/>
        </p:nvSpPr>
        <p:spPr>
          <a:xfrm>
            <a:off x="8141818" y="1920240"/>
            <a:ext cx="347472" cy="347472"/>
          </a:xfrm>
          <a:prstGeom prst="rect">
            <a:avLst/>
          </a:prstGeom>
          <a:noFill/>
          <a:ln/>
        </p:spPr>
        <p:txBody>
          <a:bodyPr wrap="square" lIns="0" tIns="0" rIns="0" bIns="0" rtlCol="0" anchor="ctr"/>
          <a:lstStyle/>
          <a:p>
            <a:pPr rtl="1" algn="ctr" indent="0" marL="0">
              <a:buNone/>
            </a:pPr>
            <a:r>
              <a:rPr lang="en-US" sz="1300" b="1" dirty="0">
                <a:solidFill>
                  <a:srgbClr val="FFFFFF"/>
                </a:solidFill>
                <a:latin typeface="Tahoma" pitchFamily="34" charset="0"/>
                <a:ea typeface="Tahoma" pitchFamily="34" charset="-122"/>
                <a:cs typeface="Tahoma" pitchFamily="34" charset="-120"/>
              </a:rPr>
              <a:t>‏۲</a:t>
            </a:r>
            <a:endParaRPr lang="en-US" sz="1300" dirty="0"/>
          </a:p>
        </p:txBody>
      </p:sp>
      <p:sp>
        <p:nvSpPr>
          <p:cNvPr id="12" name="Text 10"/>
          <p:cNvSpPr/>
          <p:nvPr/>
        </p:nvSpPr>
        <p:spPr>
          <a:xfrm>
            <a:off x="7417613" y="2377440"/>
            <a:ext cx="1795882" cy="384048"/>
          </a:xfrm>
          <a:prstGeom prst="rect">
            <a:avLst/>
          </a:prstGeom>
          <a:noFill/>
          <a:ln/>
        </p:spPr>
        <p:txBody>
          <a:bodyPr wrap="square" lIns="0" tIns="0" rIns="0" bIns="0" rtlCol="0" anchor="ctr"/>
          <a:lstStyle/>
          <a:p>
            <a:pPr rtl="1" algn="ctr" indent="0" marL="0">
              <a:buNone/>
            </a:pPr>
            <a:r>
              <a:rPr lang="en-US" sz="1350" b="1" dirty="0">
                <a:solidFill>
                  <a:srgbClr val="15192E"/>
                </a:solidFill>
                <a:latin typeface="Tahoma" pitchFamily="34" charset="0"/>
                <a:ea typeface="Tahoma" pitchFamily="34" charset="-122"/>
                <a:cs typeface="Tahoma" pitchFamily="34" charset="-120"/>
              </a:rPr>
              <a:t>پیشنهاد سامانه</a:t>
            </a:r>
            <a:endParaRPr lang="en-US" sz="1350" dirty="0"/>
          </a:p>
        </p:txBody>
      </p:sp>
      <p:sp>
        <p:nvSpPr>
          <p:cNvPr id="13" name="Text 11"/>
          <p:cNvSpPr/>
          <p:nvPr/>
        </p:nvSpPr>
        <p:spPr>
          <a:xfrm>
            <a:off x="7417613" y="2761488"/>
            <a:ext cx="1795882" cy="1298448"/>
          </a:xfrm>
          <a:prstGeom prst="rect">
            <a:avLst/>
          </a:prstGeom>
          <a:noFill/>
          <a:ln/>
        </p:spPr>
        <p:txBody>
          <a:bodyPr wrap="square" lIns="0" tIns="0" rIns="0" bIns="0" rtlCol="0" anchor="t"/>
          <a:lstStyle/>
          <a:p>
            <a:pPr rtl="1" algn="ctr" indent="0" marL="0">
              <a:buNone/>
            </a:pPr>
            <a:r>
              <a:rPr lang="en-US" sz="1100" dirty="0">
                <a:solidFill>
                  <a:srgbClr val="5B6178"/>
                </a:solidFill>
                <a:latin typeface="Tahoma" pitchFamily="34" charset="0"/>
                <a:ea typeface="Tahoma" pitchFamily="34" charset="-122"/>
                <a:cs typeface="Tahoma" pitchFamily="34" charset="-120"/>
              </a:rPr>
              <a:t>کارشناس مالک را پیشنهاد می‌دهد و دلیلش را می‌نویسد؛ اگر پرکار بود، سبک‌ترین کارتابل</a:t>
            </a:r>
            <a:endParaRPr lang="en-US" sz="1100" dirty="0"/>
          </a:p>
        </p:txBody>
      </p:sp>
      <p:sp>
        <p:nvSpPr>
          <p:cNvPr id="14" name="Shape 12"/>
          <p:cNvSpPr/>
          <p:nvPr/>
        </p:nvSpPr>
        <p:spPr>
          <a:xfrm>
            <a:off x="5036515" y="1755648"/>
            <a:ext cx="2088490" cy="2231136"/>
          </a:xfrm>
          <a:prstGeom prst="roundRect">
            <a:avLst>
              <a:gd name="adj" fmla="val 4378"/>
            </a:avLst>
          </a:prstGeom>
          <a:solidFill>
            <a:srgbClr val="F4F6FB"/>
          </a:solidFill>
          <a:ln w="12700">
            <a:solidFill>
              <a:srgbClr val="DDE3F0"/>
            </a:solidFill>
            <a:prstDash val="solid"/>
          </a:ln>
        </p:spPr>
      </p:sp>
      <p:sp>
        <p:nvSpPr>
          <p:cNvPr id="15" name="Shape 13"/>
          <p:cNvSpPr/>
          <p:nvPr/>
        </p:nvSpPr>
        <p:spPr>
          <a:xfrm>
            <a:off x="5907024" y="1920240"/>
            <a:ext cx="347472" cy="347472"/>
          </a:xfrm>
          <a:prstGeom prst="roundRect">
            <a:avLst>
              <a:gd name="adj" fmla="val 50000"/>
            </a:avLst>
          </a:prstGeom>
          <a:solidFill>
            <a:srgbClr val="C77700"/>
          </a:solidFill>
          <a:ln w="12700">
            <a:solidFill>
              <a:srgbClr val="C77700"/>
            </a:solidFill>
            <a:prstDash val="solid"/>
          </a:ln>
        </p:spPr>
      </p:sp>
      <p:sp>
        <p:nvSpPr>
          <p:cNvPr id="16" name="Text 14"/>
          <p:cNvSpPr/>
          <p:nvPr/>
        </p:nvSpPr>
        <p:spPr>
          <a:xfrm>
            <a:off x="5907024" y="1920240"/>
            <a:ext cx="347472" cy="347472"/>
          </a:xfrm>
          <a:prstGeom prst="rect">
            <a:avLst/>
          </a:prstGeom>
          <a:noFill/>
          <a:ln/>
        </p:spPr>
        <p:txBody>
          <a:bodyPr wrap="square" lIns="0" tIns="0" rIns="0" bIns="0" rtlCol="0" anchor="ctr"/>
          <a:lstStyle/>
          <a:p>
            <a:pPr rtl="1" algn="ctr" indent="0" marL="0">
              <a:buNone/>
            </a:pPr>
            <a:r>
              <a:rPr lang="en-US" sz="1300" b="1" dirty="0">
                <a:solidFill>
                  <a:srgbClr val="FFFFFF"/>
                </a:solidFill>
                <a:latin typeface="Tahoma" pitchFamily="34" charset="0"/>
                <a:ea typeface="Tahoma" pitchFamily="34" charset="-122"/>
                <a:cs typeface="Tahoma" pitchFamily="34" charset="-120"/>
              </a:rPr>
              <a:t>‏۳</a:t>
            </a:r>
            <a:endParaRPr lang="en-US" sz="1300" dirty="0"/>
          </a:p>
        </p:txBody>
      </p:sp>
      <p:sp>
        <p:nvSpPr>
          <p:cNvPr id="17" name="Text 15"/>
          <p:cNvSpPr/>
          <p:nvPr/>
        </p:nvSpPr>
        <p:spPr>
          <a:xfrm>
            <a:off x="5182819" y="2377440"/>
            <a:ext cx="1795882" cy="384048"/>
          </a:xfrm>
          <a:prstGeom prst="rect">
            <a:avLst/>
          </a:prstGeom>
          <a:noFill/>
          <a:ln/>
        </p:spPr>
        <p:txBody>
          <a:bodyPr wrap="square" lIns="0" tIns="0" rIns="0" bIns="0" rtlCol="0" anchor="ctr"/>
          <a:lstStyle/>
          <a:p>
            <a:pPr rtl="1" algn="ctr" indent="0" marL="0">
              <a:buNone/>
            </a:pPr>
            <a:r>
              <a:rPr lang="en-US" sz="1350" b="1" dirty="0">
                <a:solidFill>
                  <a:srgbClr val="15192E"/>
                </a:solidFill>
                <a:latin typeface="Tahoma" pitchFamily="34" charset="0"/>
                <a:ea typeface="Tahoma" pitchFamily="34" charset="-122"/>
                <a:cs typeface="Tahoma" pitchFamily="34" charset="-120"/>
              </a:rPr>
              <a:t>کارتابل کارشناس</a:t>
            </a:r>
            <a:endParaRPr lang="en-US" sz="1350" dirty="0"/>
          </a:p>
        </p:txBody>
      </p:sp>
      <p:sp>
        <p:nvSpPr>
          <p:cNvPr id="18" name="Text 16"/>
          <p:cNvSpPr/>
          <p:nvPr/>
        </p:nvSpPr>
        <p:spPr>
          <a:xfrm>
            <a:off x="5182819" y="2761488"/>
            <a:ext cx="1795882" cy="1298448"/>
          </a:xfrm>
          <a:prstGeom prst="rect">
            <a:avLst/>
          </a:prstGeom>
          <a:noFill/>
          <a:ln/>
        </p:spPr>
        <p:txBody>
          <a:bodyPr wrap="square" lIns="0" tIns="0" rIns="0" bIns="0" rtlCol="0" anchor="t"/>
          <a:lstStyle/>
          <a:p>
            <a:pPr rtl="1" algn="ctr" indent="0" marL="0">
              <a:buNone/>
            </a:pPr>
            <a:r>
              <a:rPr lang="en-US" sz="1100" dirty="0">
                <a:solidFill>
                  <a:srgbClr val="5B6178"/>
                </a:solidFill>
                <a:latin typeface="Tahoma" pitchFamily="34" charset="0"/>
                <a:ea typeface="Tahoma" pitchFamily="34" charset="-122"/>
                <a:cs typeface="Tahoma" pitchFamily="34" charset="-120"/>
              </a:rPr>
              <a:t>کل بستهٔ کار می‌رود: هدف، کانال، کارها، دستور کار تماس و رفرنس‌ها</a:t>
            </a:r>
            <a:endParaRPr lang="en-US" sz="1100" dirty="0"/>
          </a:p>
        </p:txBody>
      </p:sp>
      <p:sp>
        <p:nvSpPr>
          <p:cNvPr id="19" name="Shape 17"/>
          <p:cNvSpPr/>
          <p:nvPr/>
        </p:nvSpPr>
        <p:spPr>
          <a:xfrm>
            <a:off x="2801722" y="1755648"/>
            <a:ext cx="2088490" cy="2231136"/>
          </a:xfrm>
          <a:prstGeom prst="roundRect">
            <a:avLst>
              <a:gd name="adj" fmla="val 4378"/>
            </a:avLst>
          </a:prstGeom>
          <a:solidFill>
            <a:srgbClr val="F4F6FB"/>
          </a:solidFill>
          <a:ln w="12700">
            <a:solidFill>
              <a:srgbClr val="DDE3F0"/>
            </a:solidFill>
            <a:prstDash val="solid"/>
          </a:ln>
        </p:spPr>
      </p:sp>
      <p:sp>
        <p:nvSpPr>
          <p:cNvPr id="20" name="Shape 18"/>
          <p:cNvSpPr/>
          <p:nvPr/>
        </p:nvSpPr>
        <p:spPr>
          <a:xfrm>
            <a:off x="3672230" y="1920240"/>
            <a:ext cx="347472" cy="347472"/>
          </a:xfrm>
          <a:prstGeom prst="roundRect">
            <a:avLst>
              <a:gd name="adj" fmla="val 50000"/>
            </a:avLst>
          </a:prstGeom>
          <a:solidFill>
            <a:srgbClr val="C77700"/>
          </a:solidFill>
          <a:ln w="12700">
            <a:solidFill>
              <a:srgbClr val="C77700"/>
            </a:solidFill>
            <a:prstDash val="solid"/>
          </a:ln>
        </p:spPr>
      </p:sp>
      <p:sp>
        <p:nvSpPr>
          <p:cNvPr id="21" name="Text 19"/>
          <p:cNvSpPr/>
          <p:nvPr/>
        </p:nvSpPr>
        <p:spPr>
          <a:xfrm>
            <a:off x="3672230" y="1920240"/>
            <a:ext cx="347472" cy="347472"/>
          </a:xfrm>
          <a:prstGeom prst="rect">
            <a:avLst/>
          </a:prstGeom>
          <a:noFill/>
          <a:ln/>
        </p:spPr>
        <p:txBody>
          <a:bodyPr wrap="square" lIns="0" tIns="0" rIns="0" bIns="0" rtlCol="0" anchor="ctr"/>
          <a:lstStyle/>
          <a:p>
            <a:pPr rtl="1" algn="ctr" indent="0" marL="0">
              <a:buNone/>
            </a:pPr>
            <a:r>
              <a:rPr lang="en-US" sz="1300" b="1" dirty="0">
                <a:solidFill>
                  <a:srgbClr val="FFFFFF"/>
                </a:solidFill>
                <a:latin typeface="Tahoma" pitchFamily="34" charset="0"/>
                <a:ea typeface="Tahoma" pitchFamily="34" charset="-122"/>
                <a:cs typeface="Tahoma" pitchFamily="34" charset="-120"/>
              </a:rPr>
              <a:t>‏۴</a:t>
            </a:r>
            <a:endParaRPr lang="en-US" sz="1300" dirty="0"/>
          </a:p>
        </p:txBody>
      </p:sp>
      <p:sp>
        <p:nvSpPr>
          <p:cNvPr id="22" name="Text 20"/>
          <p:cNvSpPr/>
          <p:nvPr/>
        </p:nvSpPr>
        <p:spPr>
          <a:xfrm>
            <a:off x="2948026" y="2377440"/>
            <a:ext cx="1795882" cy="384048"/>
          </a:xfrm>
          <a:prstGeom prst="rect">
            <a:avLst/>
          </a:prstGeom>
          <a:noFill/>
          <a:ln/>
        </p:spPr>
        <p:txBody>
          <a:bodyPr wrap="square" lIns="0" tIns="0" rIns="0" bIns="0" rtlCol="0" anchor="ctr"/>
          <a:lstStyle/>
          <a:p>
            <a:pPr rtl="1" algn="ctr" indent="0" marL="0">
              <a:buNone/>
            </a:pPr>
            <a:r>
              <a:rPr lang="en-US" sz="1350" b="1" dirty="0">
                <a:solidFill>
                  <a:srgbClr val="15192E"/>
                </a:solidFill>
                <a:latin typeface="Tahoma" pitchFamily="34" charset="0"/>
                <a:ea typeface="Tahoma" pitchFamily="34" charset="-122"/>
                <a:cs typeface="Tahoma" pitchFamily="34" charset="-120"/>
              </a:rPr>
              <a:t>گزارش ساختاریافته</a:t>
            </a:r>
            <a:endParaRPr lang="en-US" sz="1350" dirty="0"/>
          </a:p>
        </p:txBody>
      </p:sp>
      <p:sp>
        <p:nvSpPr>
          <p:cNvPr id="23" name="Text 21"/>
          <p:cNvSpPr/>
          <p:nvPr/>
        </p:nvSpPr>
        <p:spPr>
          <a:xfrm>
            <a:off x="2948026" y="2761488"/>
            <a:ext cx="1795882" cy="1298448"/>
          </a:xfrm>
          <a:prstGeom prst="rect">
            <a:avLst/>
          </a:prstGeom>
          <a:noFill/>
          <a:ln/>
        </p:spPr>
        <p:txBody>
          <a:bodyPr wrap="square" lIns="0" tIns="0" rIns="0" bIns="0" rtlCol="0" anchor="t"/>
          <a:lstStyle/>
          <a:p>
            <a:pPr rtl="1" algn="ctr" indent="0" marL="0">
              <a:buNone/>
            </a:pPr>
            <a:r>
              <a:rPr lang="en-US" sz="1100" dirty="0">
                <a:solidFill>
                  <a:srgbClr val="5B6178"/>
                </a:solidFill>
                <a:latin typeface="Tahoma" pitchFamily="34" charset="0"/>
                <a:ea typeface="Tahoma" pitchFamily="34" charset="-122"/>
                <a:cs typeface="Tahoma" pitchFamily="34" charset="-120"/>
              </a:rPr>
              <a:t>پنج فیلد الزامی؛ سرور بدون آن‌ها ثبت نمی‌کند</a:t>
            </a:r>
            <a:endParaRPr lang="en-US" sz="1100" dirty="0"/>
          </a:p>
        </p:txBody>
      </p:sp>
      <p:sp>
        <p:nvSpPr>
          <p:cNvPr id="24" name="Shape 22"/>
          <p:cNvSpPr/>
          <p:nvPr/>
        </p:nvSpPr>
        <p:spPr>
          <a:xfrm>
            <a:off x="566928" y="1755648"/>
            <a:ext cx="2088490" cy="2231136"/>
          </a:xfrm>
          <a:prstGeom prst="roundRect">
            <a:avLst>
              <a:gd name="adj" fmla="val 4378"/>
            </a:avLst>
          </a:prstGeom>
          <a:solidFill>
            <a:srgbClr val="EAF6EF"/>
          </a:solidFill>
          <a:ln w="12700">
            <a:solidFill>
              <a:srgbClr val="C3E3D2"/>
            </a:solidFill>
            <a:prstDash val="solid"/>
          </a:ln>
        </p:spPr>
      </p:sp>
      <p:sp>
        <p:nvSpPr>
          <p:cNvPr id="25" name="Shape 23"/>
          <p:cNvSpPr/>
          <p:nvPr/>
        </p:nvSpPr>
        <p:spPr>
          <a:xfrm>
            <a:off x="1437437" y="1920240"/>
            <a:ext cx="347472" cy="347472"/>
          </a:xfrm>
          <a:prstGeom prst="roundRect">
            <a:avLst>
              <a:gd name="adj" fmla="val 50000"/>
            </a:avLst>
          </a:prstGeom>
          <a:solidFill>
            <a:srgbClr val="1B7F4B"/>
          </a:solidFill>
          <a:ln w="12700">
            <a:solidFill>
              <a:srgbClr val="1B7F4B"/>
            </a:solidFill>
            <a:prstDash val="solid"/>
          </a:ln>
        </p:spPr>
      </p:sp>
      <p:sp>
        <p:nvSpPr>
          <p:cNvPr id="26" name="Text 24"/>
          <p:cNvSpPr/>
          <p:nvPr/>
        </p:nvSpPr>
        <p:spPr>
          <a:xfrm>
            <a:off x="1437437" y="1920240"/>
            <a:ext cx="347472" cy="347472"/>
          </a:xfrm>
          <a:prstGeom prst="rect">
            <a:avLst/>
          </a:prstGeom>
          <a:noFill/>
          <a:ln/>
        </p:spPr>
        <p:txBody>
          <a:bodyPr wrap="square" lIns="0" tIns="0" rIns="0" bIns="0" rtlCol="0" anchor="ctr"/>
          <a:lstStyle/>
          <a:p>
            <a:pPr rtl="1" algn="ctr" indent="0" marL="0">
              <a:buNone/>
            </a:pPr>
            <a:r>
              <a:rPr lang="en-US" sz="1300" b="1" dirty="0">
                <a:solidFill>
                  <a:srgbClr val="FFFFFF"/>
                </a:solidFill>
                <a:latin typeface="Tahoma" pitchFamily="34" charset="0"/>
                <a:ea typeface="Tahoma" pitchFamily="34" charset="-122"/>
                <a:cs typeface="Tahoma" pitchFamily="34" charset="-120"/>
              </a:rPr>
              <a:t>‏۵</a:t>
            </a:r>
            <a:endParaRPr lang="en-US" sz="1300" dirty="0"/>
          </a:p>
        </p:txBody>
      </p:sp>
      <p:sp>
        <p:nvSpPr>
          <p:cNvPr id="27" name="Text 25"/>
          <p:cNvSpPr/>
          <p:nvPr/>
        </p:nvSpPr>
        <p:spPr>
          <a:xfrm>
            <a:off x="713232" y="2377440"/>
            <a:ext cx="1795882" cy="384048"/>
          </a:xfrm>
          <a:prstGeom prst="rect">
            <a:avLst/>
          </a:prstGeom>
          <a:noFill/>
          <a:ln/>
        </p:spPr>
        <p:txBody>
          <a:bodyPr wrap="square" lIns="0" tIns="0" rIns="0" bIns="0" rtlCol="0" anchor="ctr"/>
          <a:lstStyle/>
          <a:p>
            <a:pPr rtl="1" algn="ctr" indent="0" marL="0">
              <a:buNone/>
            </a:pPr>
            <a:r>
              <a:rPr lang="en-US" sz="1350" b="1" dirty="0">
                <a:solidFill>
                  <a:srgbClr val="15192E"/>
                </a:solidFill>
                <a:latin typeface="Tahoma" pitchFamily="34" charset="0"/>
                <a:ea typeface="Tahoma" pitchFamily="34" charset="-122"/>
                <a:cs typeface="Tahoma" pitchFamily="34" charset="-120"/>
              </a:rPr>
              <a:t>تصمیم مدیر</a:t>
            </a:r>
            <a:endParaRPr lang="en-US" sz="1350" dirty="0"/>
          </a:p>
        </p:txBody>
      </p:sp>
      <p:sp>
        <p:nvSpPr>
          <p:cNvPr id="28" name="Text 26"/>
          <p:cNvSpPr/>
          <p:nvPr/>
        </p:nvSpPr>
        <p:spPr>
          <a:xfrm>
            <a:off x="713232" y="2761488"/>
            <a:ext cx="1795882" cy="1298448"/>
          </a:xfrm>
          <a:prstGeom prst="rect">
            <a:avLst/>
          </a:prstGeom>
          <a:noFill/>
          <a:ln/>
        </p:spPr>
        <p:txBody>
          <a:bodyPr wrap="square" lIns="0" tIns="0" rIns="0" bIns="0" rtlCol="0" anchor="t"/>
          <a:lstStyle/>
          <a:p>
            <a:pPr rtl="1" algn="ctr" indent="0" marL="0">
              <a:buNone/>
            </a:pPr>
            <a:r>
              <a:rPr lang="en-US" sz="1100" dirty="0">
                <a:solidFill>
                  <a:srgbClr val="5B6178"/>
                </a:solidFill>
                <a:latin typeface="Tahoma" pitchFamily="34" charset="0"/>
                <a:ea typeface="Tahoma" pitchFamily="34" charset="-122"/>
                <a:cs typeface="Tahoma" pitchFamily="34" charset="-120"/>
              </a:rPr>
              <a:t>بسته شد / هفتهٔ بعد چک شود / خودم پیگیری می‌کنم / جلسه / کمیته</a:t>
            </a:r>
            <a:endParaRPr lang="en-US" sz="1100" dirty="0"/>
          </a:p>
        </p:txBody>
      </p:sp>
      <p:sp>
        <p:nvSpPr>
          <p:cNvPr id="29" name="Shape 27"/>
          <p:cNvSpPr/>
          <p:nvPr/>
        </p:nvSpPr>
        <p:spPr>
          <a:xfrm>
            <a:off x="566928" y="4315968"/>
            <a:ext cx="11027664" cy="1060704"/>
          </a:xfrm>
          <a:prstGeom prst="roundRect">
            <a:avLst>
              <a:gd name="adj" fmla="val 8621"/>
            </a:avLst>
          </a:prstGeom>
          <a:solidFill>
            <a:srgbClr val="F4F6FB"/>
          </a:solidFill>
          <a:ln w="12700">
            <a:solidFill>
              <a:srgbClr val="DDE3F0"/>
            </a:solidFill>
            <a:prstDash val="solid"/>
          </a:ln>
        </p:spPr>
      </p:sp>
      <p:sp>
        <p:nvSpPr>
          <p:cNvPr id="30" name="Text 28"/>
          <p:cNvSpPr/>
          <p:nvPr/>
        </p:nvSpPr>
        <p:spPr>
          <a:xfrm>
            <a:off x="804672" y="4425696"/>
            <a:ext cx="10552176" cy="841248"/>
          </a:xfrm>
          <a:prstGeom prst="rect">
            <a:avLst/>
          </a:prstGeom>
          <a:noFill/>
          <a:ln/>
        </p:spPr>
        <p:txBody>
          <a:bodyPr wrap="square" lIns="0" tIns="0" rIns="0" bIns="0" rtlCol="0" anchor="ctr"/>
          <a:lstStyle/>
          <a:p>
            <a:pPr rtl="1" algn="r" indent="0" marL="0">
              <a:buNone/>
            </a:pPr>
            <a:r>
              <a:rPr lang="en-US" sz="1250" dirty="0">
                <a:solidFill>
                  <a:srgbClr val="15192E"/>
                </a:solidFill>
                <a:latin typeface="Tahoma" pitchFamily="34" charset="0"/>
                <a:ea typeface="Tahoma" pitchFamily="34" charset="-122"/>
                <a:cs typeface="Tahoma" pitchFamily="34" charset="-120"/>
              </a:rPr>
              <a:t>چرا پیشنهاد کارشناس داده‌محور است: هر ۶۲۴ مشتری دقیقاً یک کارشناس مالک دارند و هر ۴٬۱۸۴ تعامل CRM را همان مالک ثبت کرده. اما «تخصص» را رد کردیم — سهم کیفیت در هر هشت کارشناس بین ۱۲٫۱٪ و ۱۷٫۳٪ است، پس عددی پشتش نیست و نمی‌سازیمش.</a:t>
            </a:r>
            <a:endParaRPr lang="en-US" sz="1250" dirty="0"/>
          </a:p>
        </p:txBody>
      </p:sp>
      <p:sp>
        <p:nvSpPr>
          <p:cNvPr id="31" name="Shape 29"/>
          <p:cNvSpPr/>
          <p:nvPr/>
        </p:nvSpPr>
        <p:spPr>
          <a:xfrm>
            <a:off x="566928" y="5596128"/>
            <a:ext cx="11027664" cy="786384"/>
          </a:xfrm>
          <a:prstGeom prst="roundRect">
            <a:avLst>
              <a:gd name="adj" fmla="val 11628"/>
            </a:avLst>
          </a:prstGeom>
          <a:solidFill>
            <a:srgbClr val="1E2761"/>
          </a:solidFill>
          <a:ln w="12700">
            <a:solidFill>
              <a:srgbClr val="1E2761"/>
            </a:solidFill>
            <a:prstDash val="solid"/>
          </a:ln>
        </p:spPr>
      </p:sp>
      <p:sp>
        <p:nvSpPr>
          <p:cNvPr id="32" name="Text 30"/>
          <p:cNvSpPr/>
          <p:nvPr/>
        </p:nvSpPr>
        <p:spPr>
          <a:xfrm>
            <a:off x="841248" y="5669280"/>
            <a:ext cx="10479024" cy="640080"/>
          </a:xfrm>
          <a:prstGeom prst="rect">
            <a:avLst/>
          </a:prstGeom>
          <a:noFill/>
          <a:ln/>
        </p:spPr>
        <p:txBody>
          <a:bodyPr wrap="square" lIns="0" tIns="0" rIns="0" bIns="0" rtlCol="0" anchor="ctr"/>
          <a:lstStyle/>
          <a:p>
            <a:pPr rtl="1" algn="r" indent="0" marL="0">
              <a:buNone/>
            </a:pPr>
            <a:r>
              <a:rPr lang="en-US" sz="1250" dirty="0">
                <a:solidFill>
                  <a:srgbClr val="FFFFFF"/>
                </a:solidFill>
                <a:latin typeface="Tahoma" pitchFamily="34" charset="0"/>
                <a:ea typeface="Tahoma" pitchFamily="34" charset="-122"/>
                <a:cs typeface="Tahoma" pitchFamily="34" charset="-120"/>
              </a:rPr>
              <a:t>پنج فیلد الزامی گزارش: نتیجهٔ تماس · آنچه مشتری گفت (نقل قول) · عدد یا تعهد گرفته‌شده · مانع باقی‌مانده · تصمیم پیشنهادی به مدیر</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768096"/>
          </a:xfrm>
          <a:prstGeom prst="rect">
            <a:avLst/>
          </a:prstGeom>
          <a:noFill/>
          <a:ln/>
        </p:spPr>
        <p:txBody>
          <a:bodyPr wrap="square" lIns="0" tIns="0" rIns="0" bIns="0" rtlCol="0" anchor="ctr"/>
          <a:lstStyle/>
          <a:p>
            <a:pPr rtl="1" algn="r" indent="0" marL="0">
              <a:buNone/>
            </a:pPr>
            <a:r>
              <a:rPr lang="en-US" sz="3100" b="1" dirty="0">
                <a:solidFill>
                  <a:srgbClr val="15192E"/>
                </a:solidFill>
                <a:latin typeface="Tahoma" pitchFamily="34" charset="0"/>
                <a:ea typeface="Tahoma" pitchFamily="34" charset="-122"/>
                <a:cs typeface="Tahoma" pitchFamily="34" charset="-120"/>
              </a:rPr>
              <a:t>داده چطور به تحلیل می‌رسد — به زبان ساده</a:t>
            </a:r>
            <a:endParaRPr lang="en-US" sz="3100" dirty="0"/>
          </a:p>
        </p:txBody>
      </p:sp>
      <p:sp>
        <p:nvSpPr>
          <p:cNvPr id="3" name="Text 1"/>
          <p:cNvSpPr/>
          <p:nvPr/>
        </p:nvSpPr>
        <p:spPr>
          <a:xfrm>
            <a:off x="566928" y="1115568"/>
            <a:ext cx="11027664" cy="420624"/>
          </a:xfrm>
          <a:prstGeom prst="rect">
            <a:avLst/>
          </a:prstGeom>
          <a:noFill/>
          <a:ln/>
        </p:spPr>
        <p:txBody>
          <a:bodyPr wrap="square" lIns="0" tIns="0" rIns="0" bIns="0" rtlCol="0" anchor="t"/>
          <a:lstStyle/>
          <a:p>
            <a:pPr rtl="1" algn="r" indent="0" marL="0">
              <a:buNone/>
            </a:pPr>
            <a:r>
              <a:rPr lang="en-US" sz="1400" dirty="0">
                <a:solidFill>
                  <a:srgbClr val="5B6178"/>
                </a:solidFill>
                <a:latin typeface="Tahoma" pitchFamily="34" charset="0"/>
                <a:ea typeface="Tahoma" pitchFamily="34" charset="-122"/>
                <a:cs typeface="Tahoma" pitchFamily="34" charset="-120"/>
              </a:rPr>
              <a:t>پنج قدم، و در هر قدم یک تصمیم که اگر اشتباه گرفته شود، همه‌چیز بعدش غلط است.</a:t>
            </a:r>
            <a:endParaRPr lang="en-US" sz="1400" dirty="0"/>
          </a:p>
        </p:txBody>
      </p:sp>
      <p:sp>
        <p:nvSpPr>
          <p:cNvPr id="4" name="Shape 2"/>
          <p:cNvSpPr/>
          <p:nvPr/>
        </p:nvSpPr>
        <p:spPr>
          <a:xfrm>
            <a:off x="11265408" y="1746504"/>
            <a:ext cx="310896" cy="310896"/>
          </a:xfrm>
          <a:prstGeom prst="roundRect">
            <a:avLst>
              <a:gd name="adj" fmla="val 50000"/>
            </a:avLst>
          </a:prstGeom>
          <a:solidFill>
            <a:srgbClr val="1E2761"/>
          </a:solidFill>
          <a:ln w="12700">
            <a:solidFill>
              <a:srgbClr val="1E2761"/>
            </a:solidFill>
            <a:prstDash val="solid"/>
          </a:ln>
        </p:spPr>
      </p:sp>
      <p:sp>
        <p:nvSpPr>
          <p:cNvPr id="5" name="Text 3"/>
          <p:cNvSpPr/>
          <p:nvPr/>
        </p:nvSpPr>
        <p:spPr>
          <a:xfrm>
            <a:off x="11265408" y="1746504"/>
            <a:ext cx="310896" cy="310896"/>
          </a:xfrm>
          <a:prstGeom prst="rect">
            <a:avLst/>
          </a:prstGeom>
          <a:noFill/>
          <a:ln/>
        </p:spPr>
        <p:txBody>
          <a:bodyPr wrap="square" lIns="0" tIns="0" rIns="0" bIns="0" rtlCol="0" anchor="ctr"/>
          <a:lstStyle/>
          <a:p>
            <a:pPr rtl="1" algn="ctr" indent="0" marL="0">
              <a:buNone/>
            </a:pPr>
            <a:r>
              <a:rPr lang="en-US" sz="1200" b="1" dirty="0">
                <a:solidFill>
                  <a:srgbClr val="FFFFFF"/>
                </a:solidFill>
                <a:latin typeface="Tahoma" pitchFamily="34" charset="0"/>
                <a:ea typeface="Tahoma" pitchFamily="34" charset="-122"/>
                <a:cs typeface="Tahoma" pitchFamily="34" charset="-120"/>
              </a:rPr>
              <a:t>‏۱</a:t>
            </a:r>
            <a:endParaRPr lang="en-US" sz="1200" dirty="0"/>
          </a:p>
        </p:txBody>
      </p:sp>
      <p:sp>
        <p:nvSpPr>
          <p:cNvPr id="6" name="Text 4"/>
          <p:cNvSpPr/>
          <p:nvPr/>
        </p:nvSpPr>
        <p:spPr>
          <a:xfrm>
            <a:off x="566928" y="1700784"/>
            <a:ext cx="10552176" cy="310896"/>
          </a:xfrm>
          <a:prstGeom prst="rect">
            <a:avLst/>
          </a:prstGeom>
          <a:noFill/>
          <a:ln/>
        </p:spPr>
        <p:txBody>
          <a:bodyPr wrap="square" lIns="0" tIns="0" rIns="0" bIns="0" rtlCol="0" anchor="ctr"/>
          <a:lstStyle/>
          <a:p>
            <a:pPr rtl="1" algn="r" indent="0" marL="0">
              <a:buNone/>
            </a:pPr>
            <a:r>
              <a:rPr lang="en-US" sz="1500" b="1" dirty="0">
                <a:solidFill>
                  <a:srgbClr val="15192E"/>
                </a:solidFill>
                <a:latin typeface="Tahoma" pitchFamily="34" charset="0"/>
                <a:ea typeface="Tahoma" pitchFamily="34" charset="-122"/>
                <a:cs typeface="Tahoma" pitchFamily="34" charset="-120"/>
              </a:rPr>
              <a:t>۱۶ شیت را به هم می‌دوزیم</a:t>
            </a:r>
            <a:endParaRPr lang="en-US" sz="1500" dirty="0"/>
          </a:p>
        </p:txBody>
      </p:sp>
      <p:sp>
        <p:nvSpPr>
          <p:cNvPr id="7" name="Text 5"/>
          <p:cNvSpPr/>
          <p:nvPr/>
        </p:nvSpPr>
        <p:spPr>
          <a:xfrm>
            <a:off x="566928" y="2011680"/>
            <a:ext cx="10552176" cy="566928"/>
          </a:xfrm>
          <a:prstGeom prst="rect">
            <a:avLst/>
          </a:prstGeom>
          <a:noFill/>
          <a:ln/>
        </p:spPr>
        <p:txBody>
          <a:bodyPr wrap="square" lIns="0" tIns="0" rIns="0" bIns="0" rtlCol="0" anchor="t"/>
          <a:lstStyle/>
          <a:p>
            <a:pPr rtl="1" algn="r" indent="0" marL="0">
              <a:buNone/>
            </a:pPr>
            <a:r>
              <a:rPr lang="en-US" sz="1150" dirty="0">
                <a:solidFill>
                  <a:srgbClr val="5B6178"/>
                </a:solidFill>
                <a:latin typeface="Tahoma" pitchFamily="34" charset="0"/>
                <a:ea typeface="Tahoma" pitchFamily="34" charset="-122"/>
                <a:cs typeface="Tahoma" pitchFamily="34" charset="-120"/>
              </a:rPr>
              <a:t>هر شیت کلید خودش را دارد. شکایت‌ها با شناسهٔ دیگری ثبت شده‌اند؛ از راه شمارهٔ خط فاکتور به مشتری وصلشان می‌کنیم — بررسی کردیم، یک‌به‌یک تمیز است.</a:t>
            </a:r>
            <a:endParaRPr lang="en-US" sz="1150" dirty="0"/>
          </a:p>
        </p:txBody>
      </p:sp>
      <p:sp>
        <p:nvSpPr>
          <p:cNvPr id="8" name="Shape 6"/>
          <p:cNvSpPr/>
          <p:nvPr/>
        </p:nvSpPr>
        <p:spPr>
          <a:xfrm>
            <a:off x="11265408" y="2679192"/>
            <a:ext cx="310896" cy="310896"/>
          </a:xfrm>
          <a:prstGeom prst="roundRect">
            <a:avLst>
              <a:gd name="adj" fmla="val 50000"/>
            </a:avLst>
          </a:prstGeom>
          <a:solidFill>
            <a:srgbClr val="1E2761"/>
          </a:solidFill>
          <a:ln w="12700">
            <a:solidFill>
              <a:srgbClr val="1E2761"/>
            </a:solidFill>
            <a:prstDash val="solid"/>
          </a:ln>
        </p:spPr>
      </p:sp>
      <p:sp>
        <p:nvSpPr>
          <p:cNvPr id="9" name="Text 7"/>
          <p:cNvSpPr/>
          <p:nvPr/>
        </p:nvSpPr>
        <p:spPr>
          <a:xfrm>
            <a:off x="11265408" y="2679192"/>
            <a:ext cx="310896" cy="310896"/>
          </a:xfrm>
          <a:prstGeom prst="rect">
            <a:avLst/>
          </a:prstGeom>
          <a:noFill/>
          <a:ln/>
        </p:spPr>
        <p:txBody>
          <a:bodyPr wrap="square" lIns="0" tIns="0" rIns="0" bIns="0" rtlCol="0" anchor="ctr"/>
          <a:lstStyle/>
          <a:p>
            <a:pPr rtl="1" algn="ctr" indent="0" marL="0">
              <a:buNone/>
            </a:pPr>
            <a:r>
              <a:rPr lang="en-US" sz="1200" b="1" dirty="0">
                <a:solidFill>
                  <a:srgbClr val="FFFFFF"/>
                </a:solidFill>
                <a:latin typeface="Tahoma" pitchFamily="34" charset="0"/>
                <a:ea typeface="Tahoma" pitchFamily="34" charset="-122"/>
                <a:cs typeface="Tahoma" pitchFamily="34" charset="-120"/>
              </a:rPr>
              <a:t>‏۲</a:t>
            </a:r>
            <a:endParaRPr lang="en-US" sz="1200" dirty="0"/>
          </a:p>
        </p:txBody>
      </p:sp>
      <p:sp>
        <p:nvSpPr>
          <p:cNvPr id="10" name="Text 8"/>
          <p:cNvSpPr/>
          <p:nvPr/>
        </p:nvSpPr>
        <p:spPr>
          <a:xfrm>
            <a:off x="566928" y="2633472"/>
            <a:ext cx="10552176" cy="310896"/>
          </a:xfrm>
          <a:prstGeom prst="rect">
            <a:avLst/>
          </a:prstGeom>
          <a:noFill/>
          <a:ln/>
        </p:spPr>
        <p:txBody>
          <a:bodyPr wrap="square" lIns="0" tIns="0" rIns="0" bIns="0" rtlCol="0" anchor="ctr"/>
          <a:lstStyle/>
          <a:p>
            <a:pPr rtl="1" algn="r" indent="0" marL="0">
              <a:buNone/>
            </a:pPr>
            <a:r>
              <a:rPr lang="en-US" sz="1500" b="1" dirty="0">
                <a:solidFill>
                  <a:srgbClr val="15192E"/>
                </a:solidFill>
                <a:latin typeface="Tahoma" pitchFamily="34" charset="0"/>
                <a:ea typeface="Tahoma" pitchFamily="34" charset="-122"/>
                <a:cs typeface="Tahoma" pitchFamily="34" charset="-120"/>
              </a:rPr>
              <a:t>ساعت را عقب می‌بریم</a:t>
            </a:r>
            <a:endParaRPr lang="en-US" sz="1500" dirty="0"/>
          </a:p>
        </p:txBody>
      </p:sp>
      <p:sp>
        <p:nvSpPr>
          <p:cNvPr id="11" name="Text 9"/>
          <p:cNvSpPr/>
          <p:nvPr/>
        </p:nvSpPr>
        <p:spPr>
          <a:xfrm>
            <a:off x="566928" y="2944368"/>
            <a:ext cx="10552176" cy="566928"/>
          </a:xfrm>
          <a:prstGeom prst="rect">
            <a:avLst/>
          </a:prstGeom>
          <a:noFill/>
          <a:ln/>
        </p:spPr>
        <p:txBody>
          <a:bodyPr wrap="square" lIns="0" tIns="0" rIns="0" bIns="0" rtlCol="0" anchor="t"/>
          <a:lstStyle/>
          <a:p>
            <a:pPr rtl="1" algn="r" indent="0" marL="0">
              <a:buNone/>
            </a:pPr>
            <a:r>
              <a:rPr lang="en-US" sz="1150" dirty="0">
                <a:solidFill>
                  <a:srgbClr val="5B6178"/>
                </a:solidFill>
                <a:latin typeface="Tahoma" pitchFamily="34" charset="0"/>
                <a:ea typeface="Tahoma" pitchFamily="34" charset="-122"/>
                <a:cs typeface="Tahoma" pitchFamily="34" charset="-120"/>
              </a:rPr>
              <a:t>هر پروفایل «در تاریخ مشخص» ساخته می‌شود: فقط چیزی که آن روز در دسترس بوده. برای همین می‌شود مدل را واقعاً سنجید، نه اینکه جواب را از آینده بخوانیم.</a:t>
            </a:r>
            <a:endParaRPr lang="en-US" sz="1150" dirty="0"/>
          </a:p>
        </p:txBody>
      </p:sp>
      <p:sp>
        <p:nvSpPr>
          <p:cNvPr id="12" name="Shape 10"/>
          <p:cNvSpPr/>
          <p:nvPr/>
        </p:nvSpPr>
        <p:spPr>
          <a:xfrm>
            <a:off x="11265408" y="3611880"/>
            <a:ext cx="310896" cy="310896"/>
          </a:xfrm>
          <a:prstGeom prst="roundRect">
            <a:avLst>
              <a:gd name="adj" fmla="val 50000"/>
            </a:avLst>
          </a:prstGeom>
          <a:solidFill>
            <a:srgbClr val="1E2761"/>
          </a:solidFill>
          <a:ln w="12700">
            <a:solidFill>
              <a:srgbClr val="1E2761"/>
            </a:solidFill>
            <a:prstDash val="solid"/>
          </a:ln>
        </p:spPr>
      </p:sp>
      <p:sp>
        <p:nvSpPr>
          <p:cNvPr id="13" name="Text 11"/>
          <p:cNvSpPr/>
          <p:nvPr/>
        </p:nvSpPr>
        <p:spPr>
          <a:xfrm>
            <a:off x="11265408" y="3611880"/>
            <a:ext cx="310896" cy="310896"/>
          </a:xfrm>
          <a:prstGeom prst="rect">
            <a:avLst/>
          </a:prstGeom>
          <a:noFill/>
          <a:ln/>
        </p:spPr>
        <p:txBody>
          <a:bodyPr wrap="square" lIns="0" tIns="0" rIns="0" bIns="0" rtlCol="0" anchor="ctr"/>
          <a:lstStyle/>
          <a:p>
            <a:pPr rtl="1" algn="ctr" indent="0" marL="0">
              <a:buNone/>
            </a:pPr>
            <a:r>
              <a:rPr lang="en-US" sz="1200" b="1" dirty="0">
                <a:solidFill>
                  <a:srgbClr val="FFFFFF"/>
                </a:solidFill>
                <a:latin typeface="Tahoma" pitchFamily="34" charset="0"/>
                <a:ea typeface="Tahoma" pitchFamily="34" charset="-122"/>
                <a:cs typeface="Tahoma" pitchFamily="34" charset="-120"/>
              </a:rPr>
              <a:t>‏۳</a:t>
            </a:r>
            <a:endParaRPr lang="en-US" sz="1200" dirty="0"/>
          </a:p>
        </p:txBody>
      </p:sp>
      <p:sp>
        <p:nvSpPr>
          <p:cNvPr id="14" name="Text 12"/>
          <p:cNvSpPr/>
          <p:nvPr/>
        </p:nvSpPr>
        <p:spPr>
          <a:xfrm>
            <a:off x="566928" y="3566160"/>
            <a:ext cx="10552176" cy="310896"/>
          </a:xfrm>
          <a:prstGeom prst="rect">
            <a:avLst/>
          </a:prstGeom>
          <a:noFill/>
          <a:ln/>
        </p:spPr>
        <p:txBody>
          <a:bodyPr wrap="square" lIns="0" tIns="0" rIns="0" bIns="0" rtlCol="0" anchor="ctr"/>
          <a:lstStyle/>
          <a:p>
            <a:pPr rtl="1" algn="r" indent="0" marL="0">
              <a:buNone/>
            </a:pPr>
            <a:r>
              <a:rPr lang="en-US" sz="1500" b="1" dirty="0">
                <a:solidFill>
                  <a:srgbClr val="15192E"/>
                </a:solidFill>
                <a:latin typeface="Tahoma" pitchFamily="34" charset="0"/>
                <a:ea typeface="Tahoma" pitchFamily="34" charset="-122"/>
                <a:cs typeface="Tahoma" pitchFamily="34" charset="-120"/>
              </a:rPr>
              <a:t>قیمت را از تورم پاک می‌کنیم</a:t>
            </a:r>
            <a:endParaRPr lang="en-US" sz="1500" dirty="0"/>
          </a:p>
        </p:txBody>
      </p:sp>
      <p:sp>
        <p:nvSpPr>
          <p:cNvPr id="15" name="Text 13"/>
          <p:cNvSpPr/>
          <p:nvPr/>
        </p:nvSpPr>
        <p:spPr>
          <a:xfrm>
            <a:off x="566928" y="3877056"/>
            <a:ext cx="10552176" cy="566928"/>
          </a:xfrm>
          <a:prstGeom prst="rect">
            <a:avLst/>
          </a:prstGeom>
          <a:noFill/>
          <a:ln/>
        </p:spPr>
        <p:txBody>
          <a:bodyPr wrap="square" lIns="0" tIns="0" rIns="0" bIns="0" rtlCol="0" anchor="t"/>
          <a:lstStyle/>
          <a:p>
            <a:pPr rtl="1" algn="r" indent="0" marL="0">
              <a:buNone/>
            </a:pPr>
            <a:r>
              <a:rPr lang="en-US" sz="1150" dirty="0">
                <a:solidFill>
                  <a:srgbClr val="5B6178"/>
                </a:solidFill>
                <a:latin typeface="Tahoma" pitchFamily="34" charset="0"/>
                <a:ea typeface="Tahoma" pitchFamily="34" charset="-122"/>
                <a:cs typeface="Tahoma" pitchFamily="34" charset="-120"/>
              </a:rPr>
              <a:t>قیمت واحد در این بازه حدود ۸ برابر شده. اگر فروش اسمی را مبنا بگیرید، هر مشتری تازه‌تر خودکار «بزرگ‌تر» می‌شود. پس روند را روی کیلوگرم و فروش حقیقی می‌بندیم.</a:t>
            </a:r>
            <a:endParaRPr lang="en-US" sz="1150" dirty="0"/>
          </a:p>
        </p:txBody>
      </p:sp>
      <p:sp>
        <p:nvSpPr>
          <p:cNvPr id="16" name="Shape 14"/>
          <p:cNvSpPr/>
          <p:nvPr/>
        </p:nvSpPr>
        <p:spPr>
          <a:xfrm>
            <a:off x="11265408" y="4544568"/>
            <a:ext cx="310896" cy="310896"/>
          </a:xfrm>
          <a:prstGeom prst="roundRect">
            <a:avLst>
              <a:gd name="adj" fmla="val 50000"/>
            </a:avLst>
          </a:prstGeom>
          <a:solidFill>
            <a:srgbClr val="1E2761"/>
          </a:solidFill>
          <a:ln w="12700">
            <a:solidFill>
              <a:srgbClr val="1E2761"/>
            </a:solidFill>
            <a:prstDash val="solid"/>
          </a:ln>
        </p:spPr>
      </p:sp>
      <p:sp>
        <p:nvSpPr>
          <p:cNvPr id="17" name="Text 15"/>
          <p:cNvSpPr/>
          <p:nvPr/>
        </p:nvSpPr>
        <p:spPr>
          <a:xfrm>
            <a:off x="11265408" y="4544568"/>
            <a:ext cx="310896" cy="310896"/>
          </a:xfrm>
          <a:prstGeom prst="rect">
            <a:avLst/>
          </a:prstGeom>
          <a:noFill/>
          <a:ln/>
        </p:spPr>
        <p:txBody>
          <a:bodyPr wrap="square" lIns="0" tIns="0" rIns="0" bIns="0" rtlCol="0" anchor="ctr"/>
          <a:lstStyle/>
          <a:p>
            <a:pPr rtl="1" algn="ctr" indent="0" marL="0">
              <a:buNone/>
            </a:pPr>
            <a:r>
              <a:rPr lang="en-US" sz="1200" b="1" dirty="0">
                <a:solidFill>
                  <a:srgbClr val="FFFFFF"/>
                </a:solidFill>
                <a:latin typeface="Tahoma" pitchFamily="34" charset="0"/>
                <a:ea typeface="Tahoma" pitchFamily="34" charset="-122"/>
                <a:cs typeface="Tahoma" pitchFamily="34" charset="-120"/>
              </a:rPr>
              <a:t>‏۴</a:t>
            </a:r>
            <a:endParaRPr lang="en-US" sz="1200" dirty="0"/>
          </a:p>
        </p:txBody>
      </p:sp>
      <p:sp>
        <p:nvSpPr>
          <p:cNvPr id="18" name="Text 16"/>
          <p:cNvSpPr/>
          <p:nvPr/>
        </p:nvSpPr>
        <p:spPr>
          <a:xfrm>
            <a:off x="566928" y="4498848"/>
            <a:ext cx="10552176" cy="310896"/>
          </a:xfrm>
          <a:prstGeom prst="rect">
            <a:avLst/>
          </a:prstGeom>
          <a:noFill/>
          <a:ln/>
        </p:spPr>
        <p:txBody>
          <a:bodyPr wrap="square" lIns="0" tIns="0" rIns="0" bIns="0" rtlCol="0" anchor="ctr"/>
          <a:lstStyle/>
          <a:p>
            <a:pPr rtl="1" algn="r" indent="0" marL="0">
              <a:buNone/>
            </a:pPr>
            <a:r>
              <a:rPr lang="en-US" sz="1500" b="1" dirty="0">
                <a:solidFill>
                  <a:srgbClr val="15192E"/>
                </a:solidFill>
                <a:latin typeface="Tahoma" pitchFamily="34" charset="0"/>
                <a:ea typeface="Tahoma" pitchFamily="34" charset="-122"/>
                <a:cs typeface="Tahoma" pitchFamily="34" charset="-120"/>
              </a:rPr>
              <a:t>هزینهٔ پول را به حساب هر مشتری می‌گذاریم</a:t>
            </a:r>
            <a:endParaRPr lang="en-US" sz="1500" dirty="0"/>
          </a:p>
        </p:txBody>
      </p:sp>
      <p:sp>
        <p:nvSpPr>
          <p:cNvPr id="19" name="Text 17"/>
          <p:cNvSpPr/>
          <p:nvPr/>
        </p:nvSpPr>
        <p:spPr>
          <a:xfrm>
            <a:off x="566928" y="4809744"/>
            <a:ext cx="10552176" cy="566928"/>
          </a:xfrm>
          <a:prstGeom prst="rect">
            <a:avLst/>
          </a:prstGeom>
          <a:noFill/>
          <a:ln/>
        </p:spPr>
        <p:txBody>
          <a:bodyPr wrap="square" lIns="0" tIns="0" rIns="0" bIns="0" rtlCol="0" anchor="t"/>
          <a:lstStyle/>
          <a:p>
            <a:pPr rtl="1" algn="r" indent="0" marL="0">
              <a:buNone/>
            </a:pPr>
            <a:r>
              <a:rPr lang="en-US" sz="1150" dirty="0">
                <a:solidFill>
                  <a:srgbClr val="5B6178"/>
                </a:solidFill>
                <a:latin typeface="Tahoma" pitchFamily="34" charset="0"/>
                <a:ea typeface="Tahoma" pitchFamily="34" charset="-122"/>
                <a:cs typeface="Tahoma" pitchFamily="34" charset="-120"/>
              </a:rPr>
              <a:t>اندازه می‌گیریم پول هر مشتری چند روز قفل مانده، و هزینه‌اش را از حاشیه‌اش کم می‌کنیم. اینجاست که ترتیب مشتریان عوض می‌شود.</a:t>
            </a:r>
            <a:endParaRPr lang="en-US" sz="1150" dirty="0"/>
          </a:p>
        </p:txBody>
      </p:sp>
      <p:sp>
        <p:nvSpPr>
          <p:cNvPr id="20" name="Shape 18"/>
          <p:cNvSpPr/>
          <p:nvPr/>
        </p:nvSpPr>
        <p:spPr>
          <a:xfrm>
            <a:off x="11265408" y="5477256"/>
            <a:ext cx="310896" cy="310896"/>
          </a:xfrm>
          <a:prstGeom prst="roundRect">
            <a:avLst>
              <a:gd name="adj" fmla="val 50000"/>
            </a:avLst>
          </a:prstGeom>
          <a:solidFill>
            <a:srgbClr val="1E2761"/>
          </a:solidFill>
          <a:ln w="12700">
            <a:solidFill>
              <a:srgbClr val="1E2761"/>
            </a:solidFill>
            <a:prstDash val="solid"/>
          </a:ln>
        </p:spPr>
      </p:sp>
      <p:sp>
        <p:nvSpPr>
          <p:cNvPr id="21" name="Text 19"/>
          <p:cNvSpPr/>
          <p:nvPr/>
        </p:nvSpPr>
        <p:spPr>
          <a:xfrm>
            <a:off x="11265408" y="5477256"/>
            <a:ext cx="310896" cy="310896"/>
          </a:xfrm>
          <a:prstGeom prst="rect">
            <a:avLst/>
          </a:prstGeom>
          <a:noFill/>
          <a:ln/>
        </p:spPr>
        <p:txBody>
          <a:bodyPr wrap="square" lIns="0" tIns="0" rIns="0" bIns="0" rtlCol="0" anchor="ctr"/>
          <a:lstStyle/>
          <a:p>
            <a:pPr rtl="1" algn="ctr" indent="0" marL="0">
              <a:buNone/>
            </a:pPr>
            <a:r>
              <a:rPr lang="en-US" sz="1200" b="1" dirty="0">
                <a:solidFill>
                  <a:srgbClr val="FFFFFF"/>
                </a:solidFill>
                <a:latin typeface="Tahoma" pitchFamily="34" charset="0"/>
                <a:ea typeface="Tahoma" pitchFamily="34" charset="-122"/>
                <a:cs typeface="Tahoma" pitchFamily="34" charset="-120"/>
              </a:rPr>
              <a:t>‏۵</a:t>
            </a:r>
            <a:endParaRPr lang="en-US" sz="1200" dirty="0"/>
          </a:p>
        </p:txBody>
      </p:sp>
      <p:sp>
        <p:nvSpPr>
          <p:cNvPr id="22" name="Text 20"/>
          <p:cNvSpPr/>
          <p:nvPr/>
        </p:nvSpPr>
        <p:spPr>
          <a:xfrm>
            <a:off x="566928" y="5431536"/>
            <a:ext cx="10552176" cy="310896"/>
          </a:xfrm>
          <a:prstGeom prst="rect">
            <a:avLst/>
          </a:prstGeom>
          <a:noFill/>
          <a:ln/>
        </p:spPr>
        <p:txBody>
          <a:bodyPr wrap="square" lIns="0" tIns="0" rIns="0" bIns="0" rtlCol="0" anchor="ctr"/>
          <a:lstStyle/>
          <a:p>
            <a:pPr rtl="1" algn="r" indent="0" marL="0">
              <a:buNone/>
            </a:pPr>
            <a:r>
              <a:rPr lang="en-US" sz="1500" b="1" dirty="0">
                <a:solidFill>
                  <a:srgbClr val="15192E"/>
                </a:solidFill>
                <a:latin typeface="Tahoma" pitchFamily="34" charset="0"/>
                <a:ea typeface="Tahoma" pitchFamily="34" charset="-122"/>
                <a:cs typeface="Tahoma" pitchFamily="34" charset="-120"/>
              </a:rPr>
              <a:t>موتورها روی همین پروفایل می‌نشینند</a:t>
            </a:r>
            <a:endParaRPr lang="en-US" sz="1500" dirty="0"/>
          </a:p>
        </p:txBody>
      </p:sp>
      <p:sp>
        <p:nvSpPr>
          <p:cNvPr id="23" name="Text 21"/>
          <p:cNvSpPr/>
          <p:nvPr/>
        </p:nvSpPr>
        <p:spPr>
          <a:xfrm>
            <a:off x="566928" y="5742432"/>
            <a:ext cx="10552176" cy="566928"/>
          </a:xfrm>
          <a:prstGeom prst="rect">
            <a:avLst/>
          </a:prstGeom>
          <a:noFill/>
          <a:ln/>
        </p:spPr>
        <p:txBody>
          <a:bodyPr wrap="square" lIns="0" tIns="0" rIns="0" bIns="0" rtlCol="0" anchor="t"/>
          <a:lstStyle/>
          <a:p>
            <a:pPr rtl="1" algn="r" indent="0" marL="0">
              <a:buNone/>
            </a:pPr>
            <a:r>
              <a:rPr lang="en-US" sz="1150" dirty="0">
                <a:solidFill>
                  <a:srgbClr val="5B6178"/>
                </a:solidFill>
                <a:latin typeface="Tahoma" pitchFamily="34" charset="0"/>
                <a:ea typeface="Tahoma" pitchFamily="34" charset="-122"/>
                <a:cs typeface="Tahoma" pitchFamily="34" charset="-120"/>
              </a:rPr>
              <a:t>کارتابل، آفر، مرکز سیگنال و پیش‌بینی همه از یک پروفایل مشترک می‌خوانند — پس عددها با هم نمی‌جنگند.</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768096"/>
          </a:xfrm>
          <a:prstGeom prst="rect">
            <a:avLst/>
          </a:prstGeom>
          <a:noFill/>
          <a:ln/>
        </p:spPr>
        <p:txBody>
          <a:bodyPr wrap="square" lIns="0" tIns="0" rIns="0" bIns="0" rtlCol="0" anchor="ctr"/>
          <a:lstStyle/>
          <a:p>
            <a:pPr rtl="1" algn="r" indent="0" marL="0">
              <a:buNone/>
            </a:pPr>
            <a:r>
              <a:rPr lang="en-US" sz="3100" b="1" dirty="0">
                <a:solidFill>
                  <a:srgbClr val="15192E"/>
                </a:solidFill>
                <a:latin typeface="Tahoma" pitchFamily="34" charset="0"/>
                <a:ea typeface="Tahoma" pitchFamily="34" charset="-122"/>
                <a:cs typeface="Tahoma" pitchFamily="34" charset="-120"/>
              </a:rPr>
              <a:t>از کجا معلوم درست است؟ چهار لایه اعتبارسنجی</a:t>
            </a:r>
            <a:endParaRPr lang="en-US" sz="3100" dirty="0"/>
          </a:p>
        </p:txBody>
      </p:sp>
      <p:sp>
        <p:nvSpPr>
          <p:cNvPr id="3" name="Text 1"/>
          <p:cNvSpPr/>
          <p:nvPr/>
        </p:nvSpPr>
        <p:spPr>
          <a:xfrm>
            <a:off x="566928" y="1115568"/>
            <a:ext cx="11027664" cy="420624"/>
          </a:xfrm>
          <a:prstGeom prst="rect">
            <a:avLst/>
          </a:prstGeom>
          <a:noFill/>
          <a:ln/>
        </p:spPr>
        <p:txBody>
          <a:bodyPr wrap="square" lIns="0" tIns="0" rIns="0" bIns="0" rtlCol="0" anchor="t"/>
          <a:lstStyle/>
          <a:p>
            <a:pPr rtl="1" algn="r" indent="0" marL="0">
              <a:buNone/>
            </a:pPr>
            <a:r>
              <a:rPr lang="en-US" sz="1400" dirty="0">
                <a:solidFill>
                  <a:srgbClr val="5B6178"/>
                </a:solidFill>
                <a:latin typeface="Tahoma" pitchFamily="34" charset="0"/>
                <a:ea typeface="Tahoma" pitchFamily="34" charset="-122"/>
                <a:cs typeface="Tahoma" pitchFamily="34" charset="-120"/>
              </a:rPr>
              <a:t>و مهم‌تر: چیزهایی که آزمودیم و کار نکرد را هم گزارش می‌کنیم.</a:t>
            </a:r>
            <a:endParaRPr lang="en-US" sz="1400" dirty="0"/>
          </a:p>
        </p:txBody>
      </p:sp>
      <p:sp>
        <p:nvSpPr>
          <p:cNvPr id="4" name="Shape 2"/>
          <p:cNvSpPr/>
          <p:nvPr/>
        </p:nvSpPr>
        <p:spPr>
          <a:xfrm>
            <a:off x="8961120" y="1737360"/>
            <a:ext cx="2633472" cy="2212848"/>
          </a:xfrm>
          <a:prstGeom prst="roundRect">
            <a:avLst>
              <a:gd name="adj" fmla="val 4132"/>
            </a:avLst>
          </a:prstGeom>
          <a:solidFill>
            <a:srgbClr val="F4F6FB"/>
          </a:solidFill>
          <a:ln w="12700">
            <a:solidFill>
              <a:srgbClr val="DDE3F0"/>
            </a:solidFill>
            <a:prstDash val="solid"/>
          </a:ln>
        </p:spPr>
      </p:sp>
      <p:sp>
        <p:nvSpPr>
          <p:cNvPr id="5" name="Text 3"/>
          <p:cNvSpPr/>
          <p:nvPr/>
        </p:nvSpPr>
        <p:spPr>
          <a:xfrm>
            <a:off x="9089136" y="1901952"/>
            <a:ext cx="2377440" cy="566928"/>
          </a:xfrm>
          <a:prstGeom prst="rect">
            <a:avLst/>
          </a:prstGeom>
          <a:noFill/>
          <a:ln/>
        </p:spPr>
        <p:txBody>
          <a:bodyPr wrap="square" lIns="0" tIns="0" rIns="0" bIns="0" rtlCol="0" anchor="ctr"/>
          <a:lstStyle/>
          <a:p>
            <a:pPr rtl="1" algn="ctr" indent="0" marL="0">
              <a:buNone/>
            </a:pPr>
            <a:r>
              <a:rPr lang="en-US" sz="2600" b="1" dirty="0">
                <a:solidFill>
                  <a:srgbClr val="1B7F4B"/>
                </a:solidFill>
                <a:latin typeface="Tahoma" pitchFamily="34" charset="0"/>
                <a:ea typeface="Tahoma" pitchFamily="34" charset="-122"/>
                <a:cs typeface="Tahoma" pitchFamily="34" charset="-120"/>
              </a:rPr>
              <a:t>‏۱۲۰</a:t>
            </a:r>
            <a:endParaRPr lang="en-US" sz="2600" dirty="0"/>
          </a:p>
        </p:txBody>
      </p:sp>
      <p:sp>
        <p:nvSpPr>
          <p:cNvPr id="6" name="Text 4"/>
          <p:cNvSpPr/>
          <p:nvPr/>
        </p:nvSpPr>
        <p:spPr>
          <a:xfrm>
            <a:off x="9089136" y="2468880"/>
            <a:ext cx="2377440" cy="310896"/>
          </a:xfrm>
          <a:prstGeom prst="rect">
            <a:avLst/>
          </a:prstGeom>
          <a:noFill/>
          <a:ln/>
        </p:spPr>
        <p:txBody>
          <a:bodyPr wrap="square" lIns="0" tIns="0" rIns="0" bIns="0" rtlCol="0" anchor="ctr"/>
          <a:lstStyle/>
          <a:p>
            <a:pPr rtl="1" algn="ctr" indent="0" marL="0">
              <a:buNone/>
            </a:pPr>
            <a:r>
              <a:rPr lang="en-US" sz="1300" b="1" dirty="0">
                <a:solidFill>
                  <a:srgbClr val="15192E"/>
                </a:solidFill>
                <a:latin typeface="Tahoma" pitchFamily="34" charset="0"/>
                <a:ea typeface="Tahoma" pitchFamily="34" charset="-122"/>
                <a:cs typeface="Tahoma" pitchFamily="34" charset="-120"/>
              </a:rPr>
              <a:t>آزمون خودکار</a:t>
            </a:r>
            <a:endParaRPr lang="en-US" sz="1300" dirty="0"/>
          </a:p>
        </p:txBody>
      </p:sp>
      <p:sp>
        <p:nvSpPr>
          <p:cNvPr id="7" name="Text 5"/>
          <p:cNvSpPr/>
          <p:nvPr/>
        </p:nvSpPr>
        <p:spPr>
          <a:xfrm>
            <a:off x="9089136" y="2798064"/>
            <a:ext cx="2377440" cy="950976"/>
          </a:xfrm>
          <a:prstGeom prst="rect">
            <a:avLst/>
          </a:prstGeom>
          <a:noFill/>
          <a:ln/>
        </p:spPr>
        <p:txBody>
          <a:bodyPr wrap="square" lIns="0" tIns="0" rIns="0" bIns="0" rtlCol="0" anchor="t"/>
          <a:lstStyle/>
          <a:p>
            <a:pPr rtl="1" algn="ctr" indent="0" marL="0">
              <a:buNone/>
            </a:pPr>
            <a:r>
              <a:rPr lang="en-US" sz="1100" dirty="0">
                <a:solidFill>
                  <a:srgbClr val="5B6178"/>
                </a:solidFill>
                <a:latin typeface="Tahoma" pitchFamily="34" charset="0"/>
                <a:ea typeface="Tahoma" pitchFamily="34" charset="-122"/>
                <a:cs typeface="Tahoma" pitchFamily="34" charset="-120"/>
              </a:rPr>
              <a:t>تجمیع با شیت منبع، نشتی زمانی، رفرنس‌دهی، منطق هر موتور</a:t>
            </a:r>
            <a:endParaRPr lang="en-US" sz="1100" dirty="0"/>
          </a:p>
        </p:txBody>
      </p:sp>
      <p:sp>
        <p:nvSpPr>
          <p:cNvPr id="8" name="Shape 6"/>
          <p:cNvSpPr/>
          <p:nvPr/>
        </p:nvSpPr>
        <p:spPr>
          <a:xfrm>
            <a:off x="6163056" y="1737360"/>
            <a:ext cx="2633472" cy="2212848"/>
          </a:xfrm>
          <a:prstGeom prst="roundRect">
            <a:avLst>
              <a:gd name="adj" fmla="val 4132"/>
            </a:avLst>
          </a:prstGeom>
          <a:solidFill>
            <a:srgbClr val="F4F6FB"/>
          </a:solidFill>
          <a:ln w="12700">
            <a:solidFill>
              <a:srgbClr val="DDE3F0"/>
            </a:solidFill>
            <a:prstDash val="solid"/>
          </a:ln>
        </p:spPr>
      </p:sp>
      <p:sp>
        <p:nvSpPr>
          <p:cNvPr id="9" name="Text 7"/>
          <p:cNvSpPr/>
          <p:nvPr/>
        </p:nvSpPr>
        <p:spPr>
          <a:xfrm>
            <a:off x="6291072" y="1901952"/>
            <a:ext cx="2377440" cy="566928"/>
          </a:xfrm>
          <a:prstGeom prst="rect">
            <a:avLst/>
          </a:prstGeom>
          <a:noFill/>
          <a:ln/>
        </p:spPr>
        <p:txBody>
          <a:bodyPr wrap="square" lIns="0" tIns="0" rIns="0" bIns="0" rtlCol="0" anchor="ctr"/>
          <a:lstStyle/>
          <a:p>
            <a:pPr rtl="1" algn="ctr" indent="0" marL="0">
              <a:buNone/>
            </a:pPr>
            <a:r>
              <a:rPr lang="en-US" sz="2600" b="1" dirty="0">
                <a:solidFill>
                  <a:srgbClr val="1B7F4B"/>
                </a:solidFill>
                <a:latin typeface="Tahoma" pitchFamily="34" charset="0"/>
                <a:ea typeface="Tahoma" pitchFamily="34" charset="-122"/>
                <a:cs typeface="Tahoma" pitchFamily="34" charset="-120"/>
              </a:rPr>
              <a:t>‏۳۰ از ۳۰</a:t>
            </a:r>
            <a:endParaRPr lang="en-US" sz="2600" dirty="0"/>
          </a:p>
        </p:txBody>
      </p:sp>
      <p:sp>
        <p:nvSpPr>
          <p:cNvPr id="10" name="Text 8"/>
          <p:cNvSpPr/>
          <p:nvPr/>
        </p:nvSpPr>
        <p:spPr>
          <a:xfrm>
            <a:off x="6291072" y="2468880"/>
            <a:ext cx="2377440" cy="310896"/>
          </a:xfrm>
          <a:prstGeom prst="rect">
            <a:avLst/>
          </a:prstGeom>
          <a:noFill/>
          <a:ln/>
        </p:spPr>
        <p:txBody>
          <a:bodyPr wrap="square" lIns="0" tIns="0" rIns="0" bIns="0" rtlCol="0" anchor="ctr"/>
          <a:lstStyle/>
          <a:p>
            <a:pPr rtl="1" algn="ctr" indent="0" marL="0">
              <a:buNone/>
            </a:pPr>
            <a:r>
              <a:rPr lang="en-US" sz="1300" b="1" dirty="0">
                <a:solidFill>
                  <a:srgbClr val="15192E"/>
                </a:solidFill>
                <a:latin typeface="Tahoma" pitchFamily="34" charset="0"/>
                <a:ea typeface="Tahoma" pitchFamily="34" charset="-122"/>
                <a:cs typeface="Tahoma" pitchFamily="34" charset="-120"/>
              </a:rPr>
              <a:t>بررسی دستی</a:t>
            </a:r>
            <a:endParaRPr lang="en-US" sz="1300" dirty="0"/>
          </a:p>
        </p:txBody>
      </p:sp>
      <p:sp>
        <p:nvSpPr>
          <p:cNvPr id="11" name="Text 9"/>
          <p:cNvSpPr/>
          <p:nvPr/>
        </p:nvSpPr>
        <p:spPr>
          <a:xfrm>
            <a:off x="6291072" y="2798064"/>
            <a:ext cx="2377440" cy="950976"/>
          </a:xfrm>
          <a:prstGeom prst="rect">
            <a:avLst/>
          </a:prstGeom>
          <a:noFill/>
          <a:ln/>
        </p:spPr>
        <p:txBody>
          <a:bodyPr wrap="square" lIns="0" tIns="0" rIns="0" bIns="0" rtlCol="0" anchor="t"/>
          <a:lstStyle/>
          <a:p>
            <a:pPr rtl="1" algn="ctr" indent="0" marL="0">
              <a:buNone/>
            </a:pPr>
            <a:r>
              <a:rPr lang="en-US" sz="1100" dirty="0">
                <a:solidFill>
                  <a:srgbClr val="5B6178"/>
                </a:solidFill>
                <a:latin typeface="Tahoma" pitchFamily="34" charset="0"/>
                <a:ea typeface="Tahoma" pitchFamily="34" charset="-122"/>
                <a:cs typeface="Tahoma" pitchFamily="34" charset="-120"/>
              </a:rPr>
              <a:t>سه حساب با پروفایل متفاوت، مستقل از موتور محصول دوباره حساب شد</a:t>
            </a:r>
            <a:endParaRPr lang="en-US" sz="1100" dirty="0"/>
          </a:p>
        </p:txBody>
      </p:sp>
      <p:sp>
        <p:nvSpPr>
          <p:cNvPr id="12" name="Shape 10"/>
          <p:cNvSpPr/>
          <p:nvPr/>
        </p:nvSpPr>
        <p:spPr>
          <a:xfrm>
            <a:off x="3364992" y="1737360"/>
            <a:ext cx="2633472" cy="2212848"/>
          </a:xfrm>
          <a:prstGeom prst="roundRect">
            <a:avLst>
              <a:gd name="adj" fmla="val 4132"/>
            </a:avLst>
          </a:prstGeom>
          <a:solidFill>
            <a:srgbClr val="F4F6FB"/>
          </a:solidFill>
          <a:ln w="12700">
            <a:solidFill>
              <a:srgbClr val="DDE3F0"/>
            </a:solidFill>
            <a:prstDash val="solid"/>
          </a:ln>
        </p:spPr>
      </p:sp>
      <p:sp>
        <p:nvSpPr>
          <p:cNvPr id="13" name="Text 11"/>
          <p:cNvSpPr/>
          <p:nvPr/>
        </p:nvSpPr>
        <p:spPr>
          <a:xfrm>
            <a:off x="3493008" y="1901952"/>
            <a:ext cx="2377440" cy="566928"/>
          </a:xfrm>
          <a:prstGeom prst="rect">
            <a:avLst/>
          </a:prstGeom>
          <a:noFill/>
          <a:ln/>
        </p:spPr>
        <p:txBody>
          <a:bodyPr wrap="square" lIns="0" tIns="0" rIns="0" bIns="0" rtlCol="0" anchor="ctr"/>
          <a:lstStyle/>
          <a:p>
            <a:pPr rtl="1" algn="ctr" indent="0" marL="0">
              <a:buNone/>
            </a:pPr>
            <a:r>
              <a:rPr lang="en-US" sz="2600" b="1" dirty="0">
                <a:solidFill>
                  <a:srgbClr val="1E2761"/>
                </a:solidFill>
                <a:latin typeface="Tahoma" pitchFamily="34" charset="0"/>
                <a:ea typeface="Tahoma" pitchFamily="34" charset="-122"/>
                <a:cs typeface="Tahoma" pitchFamily="34" charset="-120"/>
              </a:rPr>
              <a:t>‏AUC ۰٫۸۳۱</a:t>
            </a:r>
            <a:endParaRPr lang="en-US" sz="2600" dirty="0"/>
          </a:p>
        </p:txBody>
      </p:sp>
      <p:sp>
        <p:nvSpPr>
          <p:cNvPr id="14" name="Text 12"/>
          <p:cNvSpPr/>
          <p:nvPr/>
        </p:nvSpPr>
        <p:spPr>
          <a:xfrm>
            <a:off x="3493008" y="2468880"/>
            <a:ext cx="2377440" cy="310896"/>
          </a:xfrm>
          <a:prstGeom prst="rect">
            <a:avLst/>
          </a:prstGeom>
          <a:noFill/>
          <a:ln/>
        </p:spPr>
        <p:txBody>
          <a:bodyPr wrap="square" lIns="0" tIns="0" rIns="0" bIns="0" rtlCol="0" anchor="ctr"/>
          <a:lstStyle/>
          <a:p>
            <a:pPr rtl="1" algn="ctr" indent="0" marL="0">
              <a:buNone/>
            </a:pPr>
            <a:r>
              <a:rPr lang="en-US" sz="1300" b="1" dirty="0">
                <a:solidFill>
                  <a:srgbClr val="15192E"/>
                </a:solidFill>
                <a:latin typeface="Tahoma" pitchFamily="34" charset="0"/>
                <a:ea typeface="Tahoma" pitchFamily="34" charset="-122"/>
                <a:cs typeface="Tahoma" pitchFamily="34" charset="-120"/>
              </a:rPr>
              <a:t>خارج از زمان</a:t>
            </a:r>
            <a:endParaRPr lang="en-US" sz="1300" dirty="0"/>
          </a:p>
        </p:txBody>
      </p:sp>
      <p:sp>
        <p:nvSpPr>
          <p:cNvPr id="15" name="Text 13"/>
          <p:cNvSpPr/>
          <p:nvPr/>
        </p:nvSpPr>
        <p:spPr>
          <a:xfrm>
            <a:off x="3493008" y="2798064"/>
            <a:ext cx="2377440" cy="950976"/>
          </a:xfrm>
          <a:prstGeom prst="rect">
            <a:avLst/>
          </a:prstGeom>
          <a:noFill/>
          <a:ln/>
        </p:spPr>
        <p:txBody>
          <a:bodyPr wrap="square" lIns="0" tIns="0" rIns="0" bIns="0" rtlCol="0" anchor="t"/>
          <a:lstStyle/>
          <a:p>
            <a:pPr rtl="1" algn="ctr" indent="0" marL="0">
              <a:buNone/>
            </a:pPr>
            <a:r>
              <a:rPr lang="en-US" sz="1100" dirty="0">
                <a:solidFill>
                  <a:srgbClr val="5B6178"/>
                </a:solidFill>
                <a:latin typeface="Tahoma" pitchFamily="34" charset="0"/>
                <a:ea typeface="Tahoma" pitchFamily="34" charset="-122"/>
                <a:cs typeface="Tahoma" pitchFamily="34" charset="-120"/>
              </a:rPr>
              <a:t>مدل ماندگاری روی پنجرهٔ آینده سنجیده شد، نه روی داده‌ای که با آن ساخته شده</a:t>
            </a:r>
            <a:endParaRPr lang="en-US" sz="1100" dirty="0"/>
          </a:p>
        </p:txBody>
      </p:sp>
      <p:sp>
        <p:nvSpPr>
          <p:cNvPr id="16" name="Shape 14"/>
          <p:cNvSpPr/>
          <p:nvPr/>
        </p:nvSpPr>
        <p:spPr>
          <a:xfrm>
            <a:off x="566928" y="1737360"/>
            <a:ext cx="2633472" cy="2212848"/>
          </a:xfrm>
          <a:prstGeom prst="roundRect">
            <a:avLst>
              <a:gd name="adj" fmla="val 4132"/>
            </a:avLst>
          </a:prstGeom>
          <a:solidFill>
            <a:srgbClr val="F4F6FB"/>
          </a:solidFill>
          <a:ln w="12700">
            <a:solidFill>
              <a:srgbClr val="DDE3F0"/>
            </a:solidFill>
            <a:prstDash val="solid"/>
          </a:ln>
        </p:spPr>
      </p:sp>
      <p:sp>
        <p:nvSpPr>
          <p:cNvPr id="17" name="Text 15"/>
          <p:cNvSpPr/>
          <p:nvPr/>
        </p:nvSpPr>
        <p:spPr>
          <a:xfrm>
            <a:off x="694944" y="1901952"/>
            <a:ext cx="2377440" cy="566928"/>
          </a:xfrm>
          <a:prstGeom prst="rect">
            <a:avLst/>
          </a:prstGeom>
          <a:noFill/>
          <a:ln/>
        </p:spPr>
        <p:txBody>
          <a:bodyPr wrap="square" lIns="0" tIns="0" rIns="0" bIns="0" rtlCol="0" anchor="ctr"/>
          <a:lstStyle/>
          <a:p>
            <a:pPr rtl="1" algn="ctr" indent="0" marL="0">
              <a:buNone/>
            </a:pPr>
            <a:r>
              <a:rPr lang="en-US" sz="2600" b="1" dirty="0">
                <a:solidFill>
                  <a:srgbClr val="A4161A"/>
                </a:solidFill>
                <a:latin typeface="Tahoma" pitchFamily="34" charset="0"/>
                <a:ea typeface="Tahoma" pitchFamily="34" charset="-122"/>
                <a:cs typeface="Tahoma" pitchFamily="34" charset="-120"/>
              </a:rPr>
              <a:t>‏۹ مورد</a:t>
            </a:r>
            <a:endParaRPr lang="en-US" sz="2600" dirty="0"/>
          </a:p>
        </p:txBody>
      </p:sp>
      <p:sp>
        <p:nvSpPr>
          <p:cNvPr id="18" name="Text 16"/>
          <p:cNvSpPr/>
          <p:nvPr/>
        </p:nvSpPr>
        <p:spPr>
          <a:xfrm>
            <a:off x="694944" y="2468880"/>
            <a:ext cx="2377440" cy="310896"/>
          </a:xfrm>
          <a:prstGeom prst="rect">
            <a:avLst/>
          </a:prstGeom>
          <a:noFill/>
          <a:ln/>
        </p:spPr>
        <p:txBody>
          <a:bodyPr wrap="square" lIns="0" tIns="0" rIns="0" bIns="0" rtlCol="0" anchor="ctr"/>
          <a:lstStyle/>
          <a:p>
            <a:pPr rtl="1" algn="ctr" indent="0" marL="0">
              <a:buNone/>
            </a:pPr>
            <a:r>
              <a:rPr lang="en-US" sz="1300" b="1" dirty="0">
                <a:solidFill>
                  <a:srgbClr val="15192E"/>
                </a:solidFill>
                <a:latin typeface="Tahoma" pitchFamily="34" charset="0"/>
                <a:ea typeface="Tahoma" pitchFamily="34" charset="-122"/>
                <a:cs typeface="Tahoma" pitchFamily="34" charset="-120"/>
              </a:rPr>
              <a:t>فرضیهٔ رد‌شده</a:t>
            </a:r>
            <a:endParaRPr lang="en-US" sz="1300" dirty="0"/>
          </a:p>
        </p:txBody>
      </p:sp>
      <p:sp>
        <p:nvSpPr>
          <p:cNvPr id="19" name="Text 17"/>
          <p:cNvSpPr/>
          <p:nvPr/>
        </p:nvSpPr>
        <p:spPr>
          <a:xfrm>
            <a:off x="694944" y="2798064"/>
            <a:ext cx="2377440" cy="950976"/>
          </a:xfrm>
          <a:prstGeom prst="rect">
            <a:avLst/>
          </a:prstGeom>
          <a:noFill/>
          <a:ln/>
        </p:spPr>
        <p:txBody>
          <a:bodyPr wrap="square" lIns="0" tIns="0" rIns="0" bIns="0" rtlCol="0" anchor="t"/>
          <a:lstStyle/>
          <a:p>
            <a:pPr rtl="1" algn="ctr" indent="0" marL="0">
              <a:buNone/>
            </a:pPr>
            <a:r>
              <a:rPr lang="en-US" sz="1100" dirty="0">
                <a:solidFill>
                  <a:srgbClr val="5B6178"/>
                </a:solidFill>
                <a:latin typeface="Tahoma" pitchFamily="34" charset="0"/>
                <a:ea typeface="Tahoma" pitchFamily="34" charset="-122"/>
                <a:cs typeface="Tahoma" pitchFamily="34" charset="-120"/>
              </a:rPr>
              <a:t>از عمق تخفیف تا تخصص کارشناس — گزارششان بخشی از صداقت تحلیل است</a:t>
            </a:r>
            <a:endParaRPr lang="en-US" sz="1100" dirty="0"/>
          </a:p>
        </p:txBody>
      </p:sp>
      <p:sp>
        <p:nvSpPr>
          <p:cNvPr id="20" name="Shape 18"/>
          <p:cNvSpPr/>
          <p:nvPr/>
        </p:nvSpPr>
        <p:spPr>
          <a:xfrm>
            <a:off x="566928" y="4133088"/>
            <a:ext cx="11027664" cy="1280160"/>
          </a:xfrm>
          <a:prstGeom prst="roundRect">
            <a:avLst>
              <a:gd name="adj" fmla="val 7143"/>
            </a:avLst>
          </a:prstGeom>
          <a:solidFill>
            <a:srgbClr val="F4F6FB"/>
          </a:solidFill>
          <a:ln w="12700">
            <a:solidFill>
              <a:srgbClr val="DDE3F0"/>
            </a:solidFill>
            <a:prstDash val="solid"/>
          </a:ln>
        </p:spPr>
      </p:sp>
      <p:sp>
        <p:nvSpPr>
          <p:cNvPr id="21" name="Text 19"/>
          <p:cNvSpPr/>
          <p:nvPr/>
        </p:nvSpPr>
        <p:spPr>
          <a:xfrm>
            <a:off x="804672" y="4224528"/>
            <a:ext cx="10552176" cy="329184"/>
          </a:xfrm>
          <a:prstGeom prst="rect">
            <a:avLst/>
          </a:prstGeom>
          <a:noFill/>
          <a:ln/>
        </p:spPr>
        <p:txBody>
          <a:bodyPr wrap="square" lIns="0" tIns="0" rIns="0" bIns="0" rtlCol="0" anchor="ctr"/>
          <a:lstStyle/>
          <a:p>
            <a:pPr rtl="1" algn="r" indent="0" marL="0">
              <a:buNone/>
            </a:pPr>
            <a:r>
              <a:rPr lang="en-US" sz="1500" b="1" dirty="0">
                <a:solidFill>
                  <a:srgbClr val="A4161A"/>
                </a:solidFill>
                <a:latin typeface="Tahoma" pitchFamily="34" charset="0"/>
                <a:ea typeface="Tahoma" pitchFamily="34" charset="-122"/>
                <a:cs typeface="Tahoma" pitchFamily="34" charset="-120"/>
              </a:rPr>
              <a:t>نمونهٔ یک رد صادقانه</a:t>
            </a:r>
            <a:endParaRPr lang="en-US" sz="1500" dirty="0"/>
          </a:p>
        </p:txBody>
      </p:sp>
      <p:sp>
        <p:nvSpPr>
          <p:cNvPr id="22" name="Text 20"/>
          <p:cNvSpPr/>
          <p:nvPr/>
        </p:nvSpPr>
        <p:spPr>
          <a:xfrm>
            <a:off x="804672" y="4572000"/>
            <a:ext cx="10552176" cy="804672"/>
          </a:xfrm>
          <a:prstGeom prst="rect">
            <a:avLst/>
          </a:prstGeom>
          <a:noFill/>
          <a:ln/>
        </p:spPr>
        <p:txBody>
          <a:bodyPr wrap="square" lIns="0" tIns="0" rIns="0" bIns="0" rtlCol="0" anchor="t"/>
          <a:lstStyle/>
          <a:p>
            <a:pPr rtl="1" algn="r" indent="0" marL="0">
              <a:buNone/>
            </a:pPr>
            <a:r>
              <a:rPr lang="en-US" sz="1250" dirty="0">
                <a:solidFill>
                  <a:srgbClr val="15192E"/>
                </a:solidFill>
                <a:latin typeface="Tahoma" pitchFamily="34" charset="0"/>
                <a:ea typeface="Tahoma" pitchFamily="34" charset="-122"/>
                <a:cs typeface="Tahoma" pitchFamily="34" charset="-120"/>
              </a:rPr>
              <a:t>کارت مدل ما می‌گوید «رکود خرید» به‌تنهایی با AUC ۰٫۸۵۲ بهتر از امتیاز ترکیبی ما با ۰٫۸۳۱ پیش‌بینی می‌کند. پنهانش نکردیم. امتیاز ترکیبی را نگه داشتیم چون سهم هر نشانه در آن قابل نمایش است — برای تصمیم انسانی، توضیح‌پذیری بر ۰٫۰۲ واحد AUC می‌ارزد. ولی این یک انتخاب است، نه برتری فنی.</a:t>
            </a:r>
            <a:endParaRPr lang="en-US" sz="1250" dirty="0"/>
          </a:p>
        </p:txBody>
      </p:sp>
      <p:sp>
        <p:nvSpPr>
          <p:cNvPr id="23" name="Shape 21"/>
          <p:cNvSpPr/>
          <p:nvPr/>
        </p:nvSpPr>
        <p:spPr>
          <a:xfrm>
            <a:off x="566928" y="5596128"/>
            <a:ext cx="11027664" cy="804672"/>
          </a:xfrm>
          <a:prstGeom prst="roundRect">
            <a:avLst>
              <a:gd name="adj" fmla="val 11364"/>
            </a:avLst>
          </a:prstGeom>
          <a:solidFill>
            <a:srgbClr val="1E2761"/>
          </a:solidFill>
          <a:ln w="12700">
            <a:solidFill>
              <a:srgbClr val="1E2761"/>
            </a:solidFill>
            <a:prstDash val="solid"/>
          </a:ln>
        </p:spPr>
      </p:sp>
      <p:sp>
        <p:nvSpPr>
          <p:cNvPr id="24" name="Text 22"/>
          <p:cNvSpPr/>
          <p:nvPr/>
        </p:nvSpPr>
        <p:spPr>
          <a:xfrm>
            <a:off x="841248" y="5742432"/>
            <a:ext cx="10479024" cy="658368"/>
          </a:xfrm>
          <a:prstGeom prst="rect">
            <a:avLst/>
          </a:prstGeom>
          <a:noFill/>
          <a:ln/>
        </p:spPr>
        <p:txBody>
          <a:bodyPr wrap="square" lIns="0" tIns="0" rIns="0" bIns="0" rtlCol="0" anchor="ctr"/>
          <a:lstStyle/>
          <a:p>
            <a:pPr rtl="1" algn="r" indent="0" marL="0">
              <a:buNone/>
            </a:pPr>
            <a:r>
              <a:rPr lang="en-US" sz="1250" dirty="0">
                <a:solidFill>
                  <a:srgbClr val="FFFFFF"/>
                </a:solidFill>
                <a:latin typeface="Tahoma" pitchFamily="34" charset="0"/>
                <a:ea typeface="Tahoma" pitchFamily="34" charset="-122"/>
                <a:cs typeface="Tahoma" pitchFamily="34" charset="-120"/>
              </a:rPr>
              <a:t>نرخ ۴٪ ماهانه از داده در نمی‌آید؛ فرض کسب‌وکاری بیرونی است. برای همین در داشبورد لغزنده است و کل رتبه‌بندی درجا با آن بازمحاسبه می‌شود.</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768096"/>
          </a:xfrm>
          <a:prstGeom prst="rect">
            <a:avLst/>
          </a:prstGeom>
          <a:noFill/>
          <a:ln/>
        </p:spPr>
        <p:txBody>
          <a:bodyPr wrap="square" lIns="0" tIns="0" rIns="0" bIns="0" rtlCol="0" anchor="ctr"/>
          <a:lstStyle/>
          <a:p>
            <a:pPr rtl="1" algn="r" indent="0" marL="0">
              <a:buNone/>
            </a:pPr>
            <a:r>
              <a:rPr lang="en-US" sz="3100" b="1" dirty="0">
                <a:solidFill>
                  <a:srgbClr val="15192E"/>
                </a:solidFill>
                <a:latin typeface="Tahoma" pitchFamily="34" charset="0"/>
                <a:ea typeface="Tahoma" pitchFamily="34" charset="-122"/>
                <a:cs typeface="Tahoma" pitchFamily="34" charset="-120"/>
              </a:rPr>
              <a:t>سه اهرم، سه مبنای اندازه‌گیری‌شدهٔ متفاوت</a:t>
            </a:r>
            <a:endParaRPr lang="en-US" sz="3100" dirty="0"/>
          </a:p>
        </p:txBody>
      </p:sp>
      <p:sp>
        <p:nvSpPr>
          <p:cNvPr id="3" name="Text 1"/>
          <p:cNvSpPr/>
          <p:nvPr/>
        </p:nvSpPr>
        <p:spPr>
          <a:xfrm>
            <a:off x="566928" y="1115568"/>
            <a:ext cx="11027664" cy="420624"/>
          </a:xfrm>
          <a:prstGeom prst="rect">
            <a:avLst/>
          </a:prstGeom>
          <a:noFill/>
          <a:ln/>
        </p:spPr>
        <p:txBody>
          <a:bodyPr wrap="square" lIns="0" tIns="0" rIns="0" bIns="0" rtlCol="0" anchor="t"/>
          <a:lstStyle/>
          <a:p>
            <a:pPr rtl="1" algn="r" indent="0" marL="0">
              <a:buNone/>
            </a:pPr>
            <a:r>
              <a:rPr lang="en-US" sz="1400" dirty="0">
                <a:solidFill>
                  <a:srgbClr val="5B6178"/>
                </a:solidFill>
                <a:latin typeface="Tahoma" pitchFamily="34" charset="0"/>
                <a:ea typeface="Tahoma" pitchFamily="34" charset="-122"/>
                <a:cs typeface="Tahoma" pitchFamily="34" charset="-120"/>
              </a:rPr>
              <a:t>هیچ‌کدام حدس نیست؛ هرکدام از یک آزمون یا یک اندازه‌گیری روی همین داده می‌آید.</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755648"/>
          <a:ext cx="11027664" cy="914400"/>
        </p:xfrm>
        <a:graphic>
          <a:graphicData uri="http://schemas.openxmlformats.org/drawingml/2006/table">
            <a:tbl>
              <a:tblPr/>
              <a:tblGrid>
                <a:gridCol w="2935224"/>
                <a:gridCol w="3429000"/>
                <a:gridCol w="2880360"/>
                <a:gridCol w="1783080"/>
              </a:tblGrid>
              <a:tr h="566928">
                <a:tc>
                  <a:txBody>
                    <a:bodyPr/>
                    <a:lstStyle/>
                    <a:p>
                      <a:pPr rtl="1" algn="r" indent="0" marL="0">
                        <a:buNone/>
                      </a:pPr>
                      <a:r>
                        <a:rPr lang="en-US" sz="1100" b="1" dirty="0">
                          <a:solidFill>
                            <a:srgbClr val="FFFFFF"/>
                          </a:solidFill>
                          <a:latin typeface="Tahoma" pitchFamily="34" charset="0"/>
                          <a:ea typeface="Tahoma" pitchFamily="34" charset="-122"/>
                          <a:cs typeface="Tahoma" pitchFamily="34" charset="-120"/>
                        </a:rPr>
                        <a:t>مبنا</a:t>
                      </a:r>
                      <a:endParaRPr lang="en-US" sz="110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1E2761"/>
                    </a:solidFill>
                  </a:tcPr>
                </a:tc>
                <a:tc>
                  <a:txBody>
                    <a:bodyPr/>
                    <a:lstStyle/>
                    <a:p>
                      <a:pPr rtl="1" algn="r" indent="0" marL="0">
                        <a:buNone/>
                      </a:pPr>
                      <a:r>
                        <a:rPr lang="en-US" sz="1100" b="1" dirty="0">
                          <a:solidFill>
                            <a:srgbClr val="FFFFFF"/>
                          </a:solidFill>
                          <a:latin typeface="Tahoma" pitchFamily="34" charset="0"/>
                          <a:ea typeface="Tahoma" pitchFamily="34" charset="-122"/>
                          <a:cs typeface="Tahoma" pitchFamily="34" charset="-120"/>
                        </a:rPr>
                        <a:t>اثر</a:t>
                      </a:r>
                      <a:endParaRPr lang="en-US" sz="110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1E2761"/>
                    </a:solidFill>
                  </a:tcPr>
                </a:tc>
                <a:tc>
                  <a:txBody>
                    <a:bodyPr/>
                    <a:lstStyle/>
                    <a:p>
                      <a:pPr rtl="1" algn="r" indent="0" marL="0">
                        <a:buNone/>
                      </a:pPr>
                      <a:r>
                        <a:rPr lang="en-US" sz="1100" b="1" dirty="0">
                          <a:solidFill>
                            <a:srgbClr val="FFFFFF"/>
                          </a:solidFill>
                          <a:latin typeface="Tahoma" pitchFamily="34" charset="0"/>
                          <a:ea typeface="Tahoma" pitchFamily="34" charset="-122"/>
                          <a:cs typeface="Tahoma" pitchFamily="34" charset="-120"/>
                        </a:rPr>
                        <a:t>کاری که انجام می‌شود</a:t>
                      </a:r>
                      <a:endParaRPr lang="en-US" sz="110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1E2761"/>
                    </a:solidFill>
                  </a:tcPr>
                </a:tc>
                <a:tc>
                  <a:txBody>
                    <a:bodyPr/>
                    <a:lstStyle/>
                    <a:p>
                      <a:pPr rtl="1" algn="r" indent="0" marL="0">
                        <a:buNone/>
                      </a:pPr>
                      <a:r>
                        <a:rPr lang="en-US" sz="1100" b="1" dirty="0">
                          <a:solidFill>
                            <a:srgbClr val="FFFFFF"/>
                          </a:solidFill>
                          <a:latin typeface="Tahoma" pitchFamily="34" charset="0"/>
                          <a:ea typeface="Tahoma" pitchFamily="34" charset="-122"/>
                          <a:cs typeface="Tahoma" pitchFamily="34" charset="-120"/>
                        </a:rPr>
                        <a:t>اهرم</a:t>
                      </a:r>
                      <a:endParaRPr lang="en-US" sz="110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1E2761"/>
                    </a:solidFill>
                  </a:tcPr>
                </a:tc>
              </a:tr>
              <a:tr h="566928">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χ² روی ۲٬۵۰۰ آفر</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۲۵٪ ارزش انتظاری بیشتر</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مهلت هر آفر روی ۱۰ روز</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مهلت آفر</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r>
              <a:tr h="566928">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روز قفل‌شدن اندازه‌گیری‌شده</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کاهش هزینهٔ پول ۴۶۹ میلیونی</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۴۳۴ حساب به مبنای نقدی سبد</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شرایط پرداخت</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r>
              <a:tr h="566928">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سود واقعی هر حساب</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۶۵٪ فروش و ۱۴۹ از ۲۴۳ میلیون پول در حرکت</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از ۶۴۴ حساب به ۴۰ حساب</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250" dirty="0">
                          <a:solidFill>
                            <a:srgbClr val="15192E"/>
                          </a:solidFill>
                          <a:latin typeface="Tahoma" pitchFamily="34" charset="0"/>
                          <a:ea typeface="Tahoma" pitchFamily="34" charset="-122"/>
                          <a:cs typeface="Tahoma" pitchFamily="34" charset="-120"/>
                        </a:rPr>
                        <a:t>تمرکز تیم</a:t>
                      </a:r>
                      <a:endParaRPr lang="en-US" sz="12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r>
            </a:tbl>
          </a:graphicData>
        </a:graphic>
      </p:graphicFrame>
      <p:sp>
        <p:nvSpPr>
          <p:cNvPr id="5" name="Text 2"/>
          <p:cNvSpPr/>
          <p:nvPr/>
        </p:nvSpPr>
        <p:spPr>
          <a:xfrm>
            <a:off x="8074152" y="4041648"/>
            <a:ext cx="3520440" cy="694944"/>
          </a:xfrm>
          <a:prstGeom prst="rect">
            <a:avLst/>
          </a:prstGeom>
          <a:noFill/>
          <a:ln/>
        </p:spPr>
        <p:txBody>
          <a:bodyPr wrap="square" lIns="0" tIns="0" rIns="0" bIns="0" rtlCol="0" anchor="ctr"/>
          <a:lstStyle/>
          <a:p>
            <a:pPr rtl="1" algn="ctr" indent="0" marL="0">
              <a:buNone/>
            </a:pPr>
            <a:r>
              <a:rPr lang="en-US" sz="3300" b="1" dirty="0">
                <a:solidFill>
                  <a:srgbClr val="1E2761"/>
                </a:solidFill>
                <a:latin typeface="Tahoma" pitchFamily="34" charset="0"/>
                <a:ea typeface="Tahoma" pitchFamily="34" charset="-122"/>
                <a:cs typeface="Tahoma" pitchFamily="34" charset="-120"/>
              </a:rPr>
              <a:t>‏۲۷۳</a:t>
            </a:r>
            <a:endParaRPr lang="en-US" sz="3300" dirty="0"/>
          </a:p>
        </p:txBody>
      </p:sp>
      <p:sp>
        <p:nvSpPr>
          <p:cNvPr id="6" name="Text 3"/>
          <p:cNvSpPr/>
          <p:nvPr/>
        </p:nvSpPr>
        <p:spPr>
          <a:xfrm>
            <a:off x="8074152" y="4736592"/>
            <a:ext cx="3520440" cy="347472"/>
          </a:xfrm>
          <a:prstGeom prst="rect">
            <a:avLst/>
          </a:prstGeom>
          <a:noFill/>
          <a:ln/>
        </p:spPr>
        <p:txBody>
          <a:bodyPr wrap="square" lIns="0" tIns="0" rIns="0" bIns="0" rtlCol="0" anchor="ctr"/>
          <a:lstStyle/>
          <a:p>
            <a:pPr rtl="1" algn="ctr" indent="0" marL="0">
              <a:buNone/>
            </a:pPr>
            <a:r>
              <a:rPr lang="en-US" sz="1250" dirty="0">
                <a:solidFill>
                  <a:srgbClr val="15192E"/>
                </a:solidFill>
                <a:latin typeface="Tahoma" pitchFamily="34" charset="0"/>
                <a:ea typeface="Tahoma" pitchFamily="34" charset="-122"/>
                <a:cs typeface="Tahoma" pitchFamily="34" charset="-120"/>
              </a:rPr>
              <a:t>آفر آمادهٔ ارسال</a:t>
            </a:r>
            <a:endParaRPr lang="en-US" sz="1250" dirty="0"/>
          </a:p>
        </p:txBody>
      </p:sp>
      <p:sp>
        <p:nvSpPr>
          <p:cNvPr id="7" name="Text 4"/>
          <p:cNvSpPr/>
          <p:nvPr/>
        </p:nvSpPr>
        <p:spPr>
          <a:xfrm>
            <a:off x="8074152" y="5065776"/>
            <a:ext cx="3520440" cy="603504"/>
          </a:xfrm>
          <a:prstGeom prst="rect">
            <a:avLst/>
          </a:prstGeom>
          <a:noFill/>
          <a:ln/>
        </p:spPr>
        <p:txBody>
          <a:bodyPr wrap="square" lIns="0" tIns="0" rIns="0" bIns="0" rtlCol="0" anchor="t"/>
          <a:lstStyle/>
          <a:p>
            <a:pPr rtl="1" algn="ctr" indent="0" marL="0">
              <a:buNone/>
            </a:pPr>
            <a:r>
              <a:rPr lang="en-US" sz="1050" dirty="0">
                <a:solidFill>
                  <a:srgbClr val="5B6178"/>
                </a:solidFill>
                <a:latin typeface="Tahoma" pitchFamily="34" charset="0"/>
                <a:ea typeface="Tahoma" pitchFamily="34" charset="-122"/>
                <a:cs typeface="Tahoma" pitchFamily="34" charset="-120"/>
              </a:rPr>
              <a:t>برای ۲۱۱ مشتری، با تخفیف کمینه و سقف از حاشیهٔ واقعی</a:t>
            </a:r>
            <a:endParaRPr lang="en-US" sz="1050" dirty="0"/>
          </a:p>
        </p:txBody>
      </p:sp>
      <p:sp>
        <p:nvSpPr>
          <p:cNvPr id="8" name="Text 5"/>
          <p:cNvSpPr/>
          <p:nvPr/>
        </p:nvSpPr>
        <p:spPr>
          <a:xfrm>
            <a:off x="4370832" y="4041648"/>
            <a:ext cx="3520440" cy="694944"/>
          </a:xfrm>
          <a:prstGeom prst="rect">
            <a:avLst/>
          </a:prstGeom>
          <a:noFill/>
          <a:ln/>
        </p:spPr>
        <p:txBody>
          <a:bodyPr wrap="square" lIns="0" tIns="0" rIns="0" bIns="0" rtlCol="0" anchor="ctr"/>
          <a:lstStyle/>
          <a:p>
            <a:pPr rtl="1" algn="ctr" indent="0" marL="0">
              <a:buNone/>
            </a:pPr>
            <a:r>
              <a:rPr lang="en-US" sz="3300" b="1" dirty="0">
                <a:solidFill>
                  <a:srgbClr val="A4161A"/>
                </a:solidFill>
                <a:latin typeface="Tahoma" pitchFamily="34" charset="0"/>
                <a:ea typeface="Tahoma" pitchFamily="34" charset="-122"/>
                <a:cs typeface="Tahoma" pitchFamily="34" charset="-120"/>
              </a:rPr>
              <a:t>‏۵۰۸</a:t>
            </a:r>
            <a:endParaRPr lang="en-US" sz="3300" dirty="0"/>
          </a:p>
        </p:txBody>
      </p:sp>
      <p:sp>
        <p:nvSpPr>
          <p:cNvPr id="9" name="Text 6"/>
          <p:cNvSpPr/>
          <p:nvPr/>
        </p:nvSpPr>
        <p:spPr>
          <a:xfrm>
            <a:off x="4370832" y="4736592"/>
            <a:ext cx="3520440" cy="347472"/>
          </a:xfrm>
          <a:prstGeom prst="rect">
            <a:avLst/>
          </a:prstGeom>
          <a:noFill/>
          <a:ln/>
        </p:spPr>
        <p:txBody>
          <a:bodyPr wrap="square" lIns="0" tIns="0" rIns="0" bIns="0" rtlCol="0" anchor="ctr"/>
          <a:lstStyle/>
          <a:p>
            <a:pPr rtl="1" algn="ctr" indent="0" marL="0">
              <a:buNone/>
            </a:pPr>
            <a:r>
              <a:rPr lang="en-US" sz="1250" dirty="0">
                <a:solidFill>
                  <a:srgbClr val="15192E"/>
                </a:solidFill>
                <a:latin typeface="Tahoma" pitchFamily="34" charset="0"/>
                <a:ea typeface="Tahoma" pitchFamily="34" charset="-122"/>
                <a:cs typeface="Tahoma" pitchFamily="34" charset="-120"/>
              </a:rPr>
              <a:t>آفر عمداً مسدود</a:t>
            </a:r>
            <a:endParaRPr lang="en-US" sz="1250" dirty="0"/>
          </a:p>
        </p:txBody>
      </p:sp>
      <p:sp>
        <p:nvSpPr>
          <p:cNvPr id="10" name="Text 7"/>
          <p:cNvSpPr/>
          <p:nvPr/>
        </p:nvSpPr>
        <p:spPr>
          <a:xfrm>
            <a:off x="4370832" y="5065776"/>
            <a:ext cx="3520440" cy="603504"/>
          </a:xfrm>
          <a:prstGeom prst="rect">
            <a:avLst/>
          </a:prstGeom>
          <a:noFill/>
          <a:ln/>
        </p:spPr>
        <p:txBody>
          <a:bodyPr wrap="square" lIns="0" tIns="0" rIns="0" bIns="0" rtlCol="0" anchor="t"/>
          <a:lstStyle/>
          <a:p>
            <a:pPr rtl="1" algn="ctr" indent="0" marL="0">
              <a:buNone/>
            </a:pPr>
            <a:r>
              <a:rPr lang="en-US" sz="1050" dirty="0">
                <a:solidFill>
                  <a:srgbClr val="5B6178"/>
                </a:solidFill>
                <a:latin typeface="Tahoma" pitchFamily="34" charset="0"/>
                <a:ea typeface="Tahoma" pitchFamily="34" charset="-122"/>
                <a:cs typeface="Tahoma" pitchFamily="34" charset="-120"/>
              </a:rPr>
              <a:t>برای ۳۷۰ مشتری که فضای تخفیف ندارند — اول شرایط پرداخت</a:t>
            </a:r>
            <a:endParaRPr lang="en-US" sz="1050" dirty="0"/>
          </a:p>
        </p:txBody>
      </p:sp>
      <p:sp>
        <p:nvSpPr>
          <p:cNvPr id="11" name="Text 8"/>
          <p:cNvSpPr/>
          <p:nvPr/>
        </p:nvSpPr>
        <p:spPr>
          <a:xfrm>
            <a:off x="667512" y="4041648"/>
            <a:ext cx="3520440" cy="694944"/>
          </a:xfrm>
          <a:prstGeom prst="rect">
            <a:avLst/>
          </a:prstGeom>
          <a:noFill/>
          <a:ln/>
        </p:spPr>
        <p:txBody>
          <a:bodyPr wrap="square" lIns="0" tIns="0" rIns="0" bIns="0" rtlCol="0" anchor="ctr"/>
          <a:lstStyle/>
          <a:p>
            <a:pPr rtl="1" algn="ctr" indent="0" marL="0">
              <a:buNone/>
            </a:pPr>
            <a:r>
              <a:rPr lang="en-US" sz="3300" b="1" dirty="0">
                <a:solidFill>
                  <a:srgbClr val="C77700"/>
                </a:solidFill>
                <a:latin typeface="Tahoma" pitchFamily="34" charset="0"/>
                <a:ea typeface="Tahoma" pitchFamily="34" charset="-122"/>
                <a:cs typeface="Tahoma" pitchFamily="34" charset="-120"/>
              </a:rPr>
              <a:t>‏۱۹٫۰ م</a:t>
            </a:r>
            <a:endParaRPr lang="en-US" sz="3300" dirty="0"/>
          </a:p>
        </p:txBody>
      </p:sp>
      <p:sp>
        <p:nvSpPr>
          <p:cNvPr id="12" name="Text 9"/>
          <p:cNvSpPr/>
          <p:nvPr/>
        </p:nvSpPr>
        <p:spPr>
          <a:xfrm>
            <a:off x="667512" y="4736592"/>
            <a:ext cx="3520440" cy="347472"/>
          </a:xfrm>
          <a:prstGeom prst="rect">
            <a:avLst/>
          </a:prstGeom>
          <a:noFill/>
          <a:ln/>
        </p:spPr>
        <p:txBody>
          <a:bodyPr wrap="square" lIns="0" tIns="0" rIns="0" bIns="0" rtlCol="0" anchor="ctr"/>
          <a:lstStyle/>
          <a:p>
            <a:pPr rtl="1" algn="ctr" indent="0" marL="0">
              <a:buNone/>
            </a:pPr>
            <a:r>
              <a:rPr lang="en-US" sz="1250" dirty="0">
                <a:solidFill>
                  <a:srgbClr val="15192E"/>
                </a:solidFill>
                <a:latin typeface="Tahoma" pitchFamily="34" charset="0"/>
                <a:ea typeface="Tahoma" pitchFamily="34" charset="-122"/>
                <a:cs typeface="Tahoma" pitchFamily="34" charset="-120"/>
              </a:rPr>
              <a:t>ارزش کمینهٔ رسیدگی</a:t>
            </a:r>
            <a:endParaRPr lang="en-US" sz="1250" dirty="0"/>
          </a:p>
        </p:txBody>
      </p:sp>
      <p:sp>
        <p:nvSpPr>
          <p:cNvPr id="13" name="Text 10"/>
          <p:cNvSpPr/>
          <p:nvPr/>
        </p:nvSpPr>
        <p:spPr>
          <a:xfrm>
            <a:off x="667512" y="5065776"/>
            <a:ext cx="3520440" cy="603504"/>
          </a:xfrm>
          <a:prstGeom prst="rect">
            <a:avLst/>
          </a:prstGeom>
          <a:noFill/>
          <a:ln/>
        </p:spPr>
        <p:txBody>
          <a:bodyPr wrap="square" lIns="0" tIns="0" rIns="0" bIns="0" rtlCol="0" anchor="t"/>
          <a:lstStyle/>
          <a:p>
            <a:pPr rtl="1" algn="ctr" indent="0" marL="0">
              <a:buNone/>
            </a:pPr>
            <a:r>
              <a:rPr lang="en-US" sz="1050" dirty="0">
                <a:solidFill>
                  <a:srgbClr val="5B6178"/>
                </a:solidFill>
                <a:latin typeface="Tahoma" pitchFamily="34" charset="0"/>
                <a:ea typeface="Tahoma" pitchFamily="34" charset="-122"/>
                <a:cs typeface="Tahoma" pitchFamily="34" charset="-120"/>
              </a:rPr>
              <a:t>در برابر ۲٬۶۶۰ میلیون درآمد در معرض — سقف، نه انتظار</a:t>
            </a:r>
            <a:endParaRPr lang="en-US" sz="1050" dirty="0"/>
          </a:p>
        </p:txBody>
      </p:sp>
      <p:sp>
        <p:nvSpPr>
          <p:cNvPr id="14" name="Shape 11"/>
          <p:cNvSpPr/>
          <p:nvPr/>
        </p:nvSpPr>
        <p:spPr>
          <a:xfrm>
            <a:off x="566928" y="5650992"/>
            <a:ext cx="11027664" cy="731520"/>
          </a:xfrm>
          <a:prstGeom prst="roundRect">
            <a:avLst>
              <a:gd name="adj" fmla="val 12500"/>
            </a:avLst>
          </a:prstGeom>
          <a:solidFill>
            <a:srgbClr val="EAF6EF"/>
          </a:solidFill>
          <a:ln w="12700">
            <a:solidFill>
              <a:srgbClr val="C3E3D2"/>
            </a:solidFill>
            <a:prstDash val="solid"/>
          </a:ln>
        </p:spPr>
      </p:sp>
      <p:sp>
        <p:nvSpPr>
          <p:cNvPr id="15" name="Text 12"/>
          <p:cNvSpPr/>
          <p:nvPr/>
        </p:nvSpPr>
        <p:spPr>
          <a:xfrm>
            <a:off x="804672" y="5724144"/>
            <a:ext cx="10552176" cy="585216"/>
          </a:xfrm>
          <a:prstGeom prst="rect">
            <a:avLst/>
          </a:prstGeom>
          <a:noFill/>
          <a:ln/>
        </p:spPr>
        <p:txBody>
          <a:bodyPr wrap="square" lIns="0" tIns="0" rIns="0" bIns="0" rtlCol="0" anchor="ctr"/>
          <a:lstStyle/>
          <a:p>
            <a:pPr rtl="1" algn="r" indent="0" marL="0">
              <a:buNone/>
            </a:pPr>
            <a:r>
              <a:rPr lang="en-US" sz="1250" dirty="0">
                <a:solidFill>
                  <a:srgbClr val="15192E"/>
                </a:solidFill>
                <a:latin typeface="Tahoma" pitchFamily="34" charset="0"/>
                <a:ea typeface="Tahoma" pitchFamily="34" charset="-122"/>
                <a:cs typeface="Tahoma" pitchFamily="34" charset="-120"/>
              </a:rPr>
              <a:t>نکتهٔ تجاری: «۵۰۸ آفر مسدود» یک قابلیت است نه محدودیت — سامانه جلوی تخفیف دادن به حسابی را می‌گیرد که سودش پس از هزینهٔ پول منفی است.</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66928" y="566928"/>
            <a:ext cx="11027664" cy="731520"/>
          </a:xfrm>
          <a:prstGeom prst="rect">
            <a:avLst/>
          </a:prstGeom>
          <a:noFill/>
          <a:ln/>
        </p:spPr>
        <p:txBody>
          <a:bodyPr wrap="square" lIns="0" tIns="0" rIns="0" bIns="0" rtlCol="0" anchor="ctr"/>
          <a:lstStyle/>
          <a:p>
            <a:pPr rtl="1" algn="ctr" indent="0" marL="0">
              <a:buNone/>
            </a:pPr>
            <a:r>
              <a:rPr lang="en-US" sz="3400" b="1" dirty="0">
                <a:solidFill>
                  <a:srgbClr val="FFFFFF"/>
                </a:solidFill>
                <a:latin typeface="Tahoma" pitchFamily="34" charset="0"/>
                <a:ea typeface="Tahoma" pitchFamily="34" charset="-122"/>
                <a:cs typeface="Tahoma" pitchFamily="34" charset="-120"/>
              </a:rPr>
              <a:t>تیم ما</a:t>
            </a:r>
            <a:endParaRPr lang="en-US" sz="3400" dirty="0"/>
          </a:p>
        </p:txBody>
      </p:sp>
      <p:sp>
        <p:nvSpPr>
          <p:cNvPr id="3" name="Text 1"/>
          <p:cNvSpPr/>
          <p:nvPr/>
        </p:nvSpPr>
        <p:spPr>
          <a:xfrm>
            <a:off x="566928" y="1316736"/>
            <a:ext cx="11027664" cy="402336"/>
          </a:xfrm>
          <a:prstGeom prst="rect">
            <a:avLst/>
          </a:prstGeom>
          <a:noFill/>
          <a:ln/>
        </p:spPr>
        <p:txBody>
          <a:bodyPr wrap="square" lIns="0" tIns="0" rIns="0" bIns="0" rtlCol="0" anchor="ctr"/>
          <a:lstStyle/>
          <a:p>
            <a:pPr rtl="1" algn="ctr" indent="0" marL="0">
              <a:buNone/>
            </a:pPr>
            <a:r>
              <a:rPr lang="en-US" sz="1500" dirty="0">
                <a:solidFill>
                  <a:srgbClr val="CADCFC"/>
                </a:solidFill>
                <a:latin typeface="Tahoma" pitchFamily="34" charset="0"/>
                <a:ea typeface="Tahoma" pitchFamily="34" charset="-122"/>
                <a:cs typeface="Tahoma" pitchFamily="34" charset="-120"/>
              </a:rPr>
              <a:t>دو نفر، یک دیتاست صنعتی، و یک تصمیم که تا انتها دنبالش کردیم</a:t>
            </a:r>
            <a:endParaRPr lang="en-US" sz="1500" dirty="0"/>
          </a:p>
        </p:txBody>
      </p:sp>
      <p:sp>
        <p:nvSpPr>
          <p:cNvPr id="4" name="Shape 2"/>
          <p:cNvSpPr/>
          <p:nvPr/>
        </p:nvSpPr>
        <p:spPr>
          <a:xfrm>
            <a:off x="6766560" y="2231136"/>
            <a:ext cx="2651760" cy="2651760"/>
          </a:xfrm>
          <a:prstGeom prst="roundRect">
            <a:avLst>
              <a:gd name="adj" fmla="val 45517"/>
            </a:avLst>
          </a:prstGeom>
          <a:solidFill>
            <a:srgbClr val="2A3670"/>
          </a:solidFill>
          <a:ln w="25400">
            <a:solidFill>
              <a:srgbClr val="CADCFC"/>
            </a:solidFill>
            <a:prstDash val="solid"/>
          </a:ln>
        </p:spPr>
      </p:sp>
      <p:pic>
        <p:nvPicPr>
          <p:cNvPr id="5" name="Image 0" descr="/home/claude/nafis_copilot/deck/img/arian_round.jpg">    </p:cNvPr>
          <p:cNvPicPr>
            <a:picLocks noChangeAspect="1"/>
          </p:cNvPicPr>
          <p:nvPr/>
        </p:nvPicPr>
        <p:blipFill>
          <a:blip r:embed="rId1"/>
          <a:stretch>
            <a:fillRect/>
          </a:stretch>
        </p:blipFill>
        <p:spPr>
          <a:xfrm>
            <a:off x="6858000" y="2322576"/>
            <a:ext cx="2468880" cy="2468880"/>
          </a:xfrm>
          <a:prstGeom prst="ellipse">
            <a:avLst/>
          </a:prstGeom>
        </p:spPr>
      </p:pic>
      <p:sp>
        <p:nvSpPr>
          <p:cNvPr id="6" name="Text 3"/>
          <p:cNvSpPr/>
          <p:nvPr/>
        </p:nvSpPr>
        <p:spPr>
          <a:xfrm>
            <a:off x="6583680" y="5120640"/>
            <a:ext cx="3017520" cy="493776"/>
          </a:xfrm>
          <a:prstGeom prst="rect">
            <a:avLst/>
          </a:prstGeom>
          <a:noFill/>
          <a:ln/>
        </p:spPr>
        <p:txBody>
          <a:bodyPr wrap="square" lIns="0" tIns="0" rIns="0" bIns="0" rtlCol="0" anchor="ctr"/>
          <a:lstStyle/>
          <a:p>
            <a:pPr rtl="1" algn="ctr" indent="0" marL="0">
              <a:buNone/>
            </a:pPr>
            <a:r>
              <a:rPr lang="en-US" sz="2100" b="1" dirty="0">
                <a:solidFill>
                  <a:srgbClr val="FFFFFF"/>
                </a:solidFill>
                <a:latin typeface="Tahoma" pitchFamily="34" charset="0"/>
                <a:ea typeface="Tahoma" pitchFamily="34" charset="-122"/>
                <a:cs typeface="Tahoma" pitchFamily="34" charset="-120"/>
              </a:rPr>
              <a:t>آرین فقیرالهی</a:t>
            </a:r>
            <a:endParaRPr lang="en-US" sz="2100" dirty="0"/>
          </a:p>
        </p:txBody>
      </p:sp>
      <p:sp>
        <p:nvSpPr>
          <p:cNvPr id="7" name="Shape 4"/>
          <p:cNvSpPr/>
          <p:nvPr/>
        </p:nvSpPr>
        <p:spPr>
          <a:xfrm>
            <a:off x="2743200" y="2231136"/>
            <a:ext cx="2651760" cy="2651760"/>
          </a:xfrm>
          <a:prstGeom prst="roundRect">
            <a:avLst>
              <a:gd name="adj" fmla="val 45517"/>
            </a:avLst>
          </a:prstGeom>
          <a:solidFill>
            <a:srgbClr val="2A3670"/>
          </a:solidFill>
          <a:ln w="25400">
            <a:solidFill>
              <a:srgbClr val="CADCFC"/>
            </a:solidFill>
            <a:prstDash val="solid"/>
          </a:ln>
        </p:spPr>
      </p:sp>
      <p:pic>
        <p:nvPicPr>
          <p:cNvPr id="8" name="Image 1" descr="/home/claude/nafis_copilot/deck/img/omid_round.jpg">    </p:cNvPr>
          <p:cNvPicPr>
            <a:picLocks noChangeAspect="1"/>
          </p:cNvPicPr>
          <p:nvPr/>
        </p:nvPicPr>
        <p:blipFill>
          <a:blip r:embed="rId2"/>
          <a:stretch>
            <a:fillRect/>
          </a:stretch>
        </p:blipFill>
        <p:spPr>
          <a:xfrm>
            <a:off x="2834640" y="2322576"/>
            <a:ext cx="2468880" cy="2468880"/>
          </a:xfrm>
          <a:prstGeom prst="ellipse">
            <a:avLst/>
          </a:prstGeom>
        </p:spPr>
      </p:pic>
      <p:sp>
        <p:nvSpPr>
          <p:cNvPr id="9" name="Text 5"/>
          <p:cNvSpPr/>
          <p:nvPr/>
        </p:nvSpPr>
        <p:spPr>
          <a:xfrm>
            <a:off x="2560320" y="5120640"/>
            <a:ext cx="3017520" cy="493776"/>
          </a:xfrm>
          <a:prstGeom prst="rect">
            <a:avLst/>
          </a:prstGeom>
          <a:noFill/>
          <a:ln/>
        </p:spPr>
        <p:txBody>
          <a:bodyPr wrap="square" lIns="0" tIns="0" rIns="0" bIns="0" rtlCol="0" anchor="ctr"/>
          <a:lstStyle/>
          <a:p>
            <a:pPr rtl="1" algn="ctr" indent="0" marL="0">
              <a:buNone/>
            </a:pPr>
            <a:r>
              <a:rPr lang="en-US" sz="2100" b="1" dirty="0">
                <a:solidFill>
                  <a:srgbClr val="FFFFFF"/>
                </a:solidFill>
                <a:latin typeface="Tahoma" pitchFamily="34" charset="0"/>
                <a:ea typeface="Tahoma" pitchFamily="34" charset="-122"/>
                <a:cs typeface="Tahoma" pitchFamily="34" charset="-120"/>
              </a:rPr>
              <a:t>امید دیوسالار</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7406640" y="-1737360"/>
            <a:ext cx="6035040" cy="6035040"/>
          </a:xfrm>
          <a:prstGeom prst="roundRect">
            <a:avLst>
              <a:gd name="adj" fmla="val 50000"/>
            </a:avLst>
          </a:prstGeom>
          <a:solidFill>
            <a:srgbClr val="2A3670"/>
          </a:solidFill>
          <a:ln w="12700">
            <a:solidFill>
              <a:srgbClr val="2A3670"/>
            </a:solidFill>
            <a:prstDash val="solid"/>
          </a:ln>
        </p:spPr>
      </p:sp>
      <p:sp>
        <p:nvSpPr>
          <p:cNvPr id="3" name="Text 1"/>
          <p:cNvSpPr/>
          <p:nvPr/>
        </p:nvSpPr>
        <p:spPr>
          <a:xfrm>
            <a:off x="566928" y="2395728"/>
            <a:ext cx="11027664" cy="914400"/>
          </a:xfrm>
          <a:prstGeom prst="rect">
            <a:avLst/>
          </a:prstGeom>
          <a:noFill/>
          <a:ln/>
        </p:spPr>
        <p:txBody>
          <a:bodyPr wrap="square" lIns="0" tIns="0" rIns="0" bIns="0" rtlCol="0" anchor="ctr"/>
          <a:lstStyle/>
          <a:p>
            <a:pPr rtl="1" algn="r" indent="0" marL="0">
              <a:buNone/>
            </a:pPr>
            <a:r>
              <a:rPr lang="en-US" sz="4000" b="1" dirty="0">
                <a:solidFill>
                  <a:srgbClr val="FFFFFF"/>
                </a:solidFill>
                <a:latin typeface="Tahoma" pitchFamily="34" charset="0"/>
                <a:ea typeface="Tahoma" pitchFamily="34" charset="-122"/>
                <a:cs typeface="Tahoma" pitchFamily="34" charset="-120"/>
              </a:rPr>
              <a:t>ممنون از وقتی که گذاشتید</a:t>
            </a:r>
            <a:endParaRPr lang="en-US" sz="4000" dirty="0"/>
          </a:p>
        </p:txBody>
      </p:sp>
      <p:sp>
        <p:nvSpPr>
          <p:cNvPr id="4" name="Text 2"/>
          <p:cNvSpPr/>
          <p:nvPr/>
        </p:nvSpPr>
        <p:spPr>
          <a:xfrm>
            <a:off x="566928" y="3346704"/>
            <a:ext cx="11027664" cy="512064"/>
          </a:xfrm>
          <a:prstGeom prst="rect">
            <a:avLst/>
          </a:prstGeom>
          <a:noFill/>
          <a:ln/>
        </p:spPr>
        <p:txBody>
          <a:bodyPr wrap="square" lIns="0" tIns="0" rIns="0" bIns="0" rtlCol="0" anchor="ctr"/>
          <a:lstStyle/>
          <a:p>
            <a:pPr rtl="1" algn="r" indent="0" marL="0">
              <a:buNone/>
            </a:pPr>
            <a:r>
              <a:rPr lang="en-US" sz="1600" dirty="0">
                <a:solidFill>
                  <a:srgbClr val="CADCFC"/>
                </a:solidFill>
                <a:latin typeface="Tahoma" pitchFamily="34" charset="0"/>
                <a:ea typeface="Tahoma" pitchFamily="34" charset="-122"/>
                <a:cs typeface="Tahoma" pitchFamily="34" charset="-120"/>
              </a:rPr>
              <a:t>خوشحال می‌شویم پرسش‌هایتان را بشنویم — و اگر عددی را باور نکردید، همان‌جا تا رکورد منبعش می‌رویم.</a:t>
            </a:r>
            <a:endParaRPr lang="en-US" sz="1600" dirty="0"/>
          </a:p>
        </p:txBody>
      </p:sp>
      <p:sp>
        <p:nvSpPr>
          <p:cNvPr id="5" name="Text 3"/>
          <p:cNvSpPr/>
          <p:nvPr/>
        </p:nvSpPr>
        <p:spPr>
          <a:xfrm>
            <a:off x="566928" y="4443984"/>
            <a:ext cx="11027664" cy="420624"/>
          </a:xfrm>
          <a:prstGeom prst="rect">
            <a:avLst/>
          </a:prstGeom>
          <a:noFill/>
          <a:ln/>
        </p:spPr>
        <p:txBody>
          <a:bodyPr wrap="square" lIns="0" tIns="0" rIns="0" bIns="0" rtlCol="0" anchor="ctr"/>
          <a:lstStyle/>
          <a:p>
            <a:pPr rtl="1" algn="r" indent="0" marL="0">
              <a:buNone/>
            </a:pPr>
            <a:r>
              <a:rPr lang="en-US" sz="1500" b="1" dirty="0">
                <a:solidFill>
                  <a:srgbClr val="FFFFFF"/>
                </a:solidFill>
                <a:latin typeface="Tahoma" pitchFamily="34" charset="0"/>
                <a:ea typeface="Tahoma" pitchFamily="34" charset="-122"/>
                <a:cs typeface="Tahoma" pitchFamily="34" charset="-120"/>
              </a:rPr>
              <a:t>آرین فقیرالهی   ·   امید دیوسالار</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C46"/>
        </a:solidFill>
      </p:bgPr>
    </p:bg>
    <p:spTree>
      <p:nvGrpSpPr>
        <p:cNvPr id="1" name=""/>
        <p:cNvGrpSpPr/>
        <p:nvPr/>
      </p:nvGrpSpPr>
      <p:grpSpPr>
        <a:xfrm>
          <a:off x="0" y="0"/>
          <a:ext cx="0" cy="0"/>
          <a:chOff x="0" y="0"/>
          <a:chExt cx="0" cy="0"/>
        </a:xfrm>
      </p:grpSpPr>
      <p:sp>
        <p:nvSpPr>
          <p:cNvPr id="2" name="Text 0"/>
          <p:cNvSpPr/>
          <p:nvPr/>
        </p:nvSpPr>
        <p:spPr>
          <a:xfrm>
            <a:off x="566928" y="2651760"/>
            <a:ext cx="11027664" cy="822960"/>
          </a:xfrm>
          <a:prstGeom prst="rect">
            <a:avLst/>
          </a:prstGeom>
          <a:noFill/>
          <a:ln/>
        </p:spPr>
        <p:txBody>
          <a:bodyPr wrap="square" lIns="0" tIns="0" rIns="0" bIns="0" rtlCol="0" anchor="ctr"/>
          <a:lstStyle/>
          <a:p>
            <a:pPr rtl="1" algn="ctr" indent="0" marL="0">
              <a:buNone/>
            </a:pPr>
            <a:r>
              <a:rPr lang="en-US" sz="4000" b="1" dirty="0">
                <a:solidFill>
                  <a:srgbClr val="FFFFFF"/>
                </a:solidFill>
                <a:latin typeface="Tahoma" pitchFamily="34" charset="0"/>
                <a:ea typeface="Tahoma" pitchFamily="34" charset="-122"/>
                <a:cs typeface="Tahoma" pitchFamily="34" charset="-120"/>
              </a:rPr>
              <a:t>پیوست</a:t>
            </a:r>
            <a:endParaRPr lang="en-US" sz="4000" dirty="0"/>
          </a:p>
        </p:txBody>
      </p:sp>
      <p:sp>
        <p:nvSpPr>
          <p:cNvPr id="3" name="Text 1"/>
          <p:cNvSpPr/>
          <p:nvPr/>
        </p:nvSpPr>
        <p:spPr>
          <a:xfrm>
            <a:off x="566928" y="3511296"/>
            <a:ext cx="11027664" cy="420624"/>
          </a:xfrm>
          <a:prstGeom prst="rect">
            <a:avLst/>
          </a:prstGeom>
          <a:noFill/>
          <a:ln/>
        </p:spPr>
        <p:txBody>
          <a:bodyPr wrap="square" lIns="0" tIns="0" rIns="0" bIns="0" rtlCol="0" anchor="ctr"/>
          <a:lstStyle/>
          <a:p>
            <a:pPr rtl="1" algn="ctr" indent="0" marL="0">
              <a:buNone/>
            </a:pPr>
            <a:r>
              <a:rPr lang="en-US" sz="1500" dirty="0">
                <a:solidFill>
                  <a:srgbClr val="CADCFC"/>
                </a:solidFill>
                <a:latin typeface="Tahoma" pitchFamily="34" charset="0"/>
                <a:ea typeface="Tahoma" pitchFamily="34" charset="-122"/>
                <a:cs typeface="Tahoma" pitchFamily="34" charset="-120"/>
              </a:rPr>
              <a:t>جزئیات آزمون‌ها، فرمول‌ها، منطق ارجاع و محدودیت‌ها</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768096"/>
          </a:xfrm>
          <a:prstGeom prst="rect">
            <a:avLst/>
          </a:prstGeom>
          <a:noFill/>
          <a:ln/>
        </p:spPr>
        <p:txBody>
          <a:bodyPr wrap="square" lIns="0" tIns="0" rIns="0" bIns="0" rtlCol="0" anchor="ctr"/>
          <a:lstStyle/>
          <a:p>
            <a:pPr rtl="1" algn="r" indent="0" marL="0">
              <a:buNone/>
            </a:pPr>
            <a:r>
              <a:rPr lang="en-US" sz="3100" b="1" dirty="0">
                <a:solidFill>
                  <a:srgbClr val="15192E"/>
                </a:solidFill>
                <a:latin typeface="Tahoma" pitchFamily="34" charset="0"/>
                <a:ea typeface="Tahoma" pitchFamily="34" charset="-122"/>
                <a:cs typeface="Tahoma" pitchFamily="34" charset="-120"/>
              </a:rPr>
              <a:t>پیوست ۱ — آیا اعتبار در قیمت لحاظ شده است؟</a:t>
            </a:r>
            <a:endParaRPr lang="en-US" sz="3100" dirty="0"/>
          </a:p>
        </p:txBody>
      </p:sp>
      <p:sp>
        <p:nvSpPr>
          <p:cNvPr id="3" name="Text 1"/>
          <p:cNvSpPr/>
          <p:nvPr/>
        </p:nvSpPr>
        <p:spPr>
          <a:xfrm>
            <a:off x="566928" y="1115568"/>
            <a:ext cx="11027664" cy="420624"/>
          </a:xfrm>
          <a:prstGeom prst="rect">
            <a:avLst/>
          </a:prstGeom>
          <a:noFill/>
          <a:ln/>
        </p:spPr>
        <p:txBody>
          <a:bodyPr wrap="square" lIns="0" tIns="0" rIns="0" bIns="0" rtlCol="0" anchor="t"/>
          <a:lstStyle/>
          <a:p>
            <a:pPr rtl="1" algn="r" indent="0" marL="0">
              <a:buNone/>
            </a:pPr>
            <a:r>
              <a:rPr lang="en-US" sz="1400" dirty="0">
                <a:solidFill>
                  <a:srgbClr val="5B6178"/>
                </a:solidFill>
                <a:latin typeface="Tahoma" pitchFamily="34" charset="0"/>
                <a:ea typeface="Tahoma" pitchFamily="34" charset="-122"/>
                <a:cs typeface="Tahoma" pitchFamily="34" charset="-120"/>
              </a:rPr>
              <a:t>قیمت واحد همان کد کالا در همان ماه، بین شرایط پرداخت مقایسه شد.</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773936"/>
          <a:ext cx="11027664" cy="914400"/>
        </p:xfrm>
        <a:graphic>
          <a:graphicData uri="http://schemas.openxmlformats.org/drawingml/2006/table">
            <a:tbl>
              <a:tblPr/>
              <a:tblGrid>
                <a:gridCol w="2194560"/>
                <a:gridCol w="1737360"/>
                <a:gridCol w="2651760"/>
                <a:gridCol w="1828800"/>
                <a:gridCol w="2615184"/>
              </a:tblGrid>
              <a:tr h="475488">
                <a:tc>
                  <a:txBody>
                    <a:bodyPr/>
                    <a:lstStyle/>
                    <a:p>
                      <a:pPr rtl="1" algn="r" indent="0" marL="0">
                        <a:buNone/>
                      </a:pPr>
                      <a:r>
                        <a:rPr lang="en-US" sz="1200" b="1" dirty="0">
                          <a:solidFill>
                            <a:srgbClr val="FFFFFF"/>
                          </a:solidFill>
                          <a:latin typeface="Tahoma" pitchFamily="34" charset="0"/>
                          <a:ea typeface="Tahoma" pitchFamily="34" charset="-122"/>
                          <a:cs typeface="Tahoma" pitchFamily="34" charset="-120"/>
                        </a:rPr>
                        <a:t>نتیجه</a:t>
                      </a:r>
                      <a:endParaRPr lang="en-US" sz="120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1E2761"/>
                    </a:solidFill>
                  </a:tcPr>
                </a:tc>
                <a:tc>
                  <a:txBody>
                    <a:bodyPr/>
                    <a:lstStyle/>
                    <a:p>
                      <a:pPr rtl="1" algn="r" indent="0" marL="0">
                        <a:buNone/>
                      </a:pPr>
                      <a:r>
                        <a:rPr lang="en-US" sz="1200" b="1" dirty="0">
                          <a:solidFill>
                            <a:srgbClr val="FFFFFF"/>
                          </a:solidFill>
                          <a:latin typeface="Tahoma" pitchFamily="34" charset="0"/>
                          <a:ea typeface="Tahoma" pitchFamily="34" charset="-122"/>
                          <a:cs typeface="Tahoma" pitchFamily="34" charset="-120"/>
                        </a:rPr>
                        <a:t>مشاهده‌شده</a:t>
                      </a:r>
                      <a:endParaRPr lang="en-US" sz="120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1E2761"/>
                    </a:solidFill>
                  </a:tcPr>
                </a:tc>
                <a:tc>
                  <a:txBody>
                    <a:bodyPr/>
                    <a:lstStyle/>
                    <a:p>
                      <a:pPr rtl="1" algn="r" indent="0" marL="0">
                        <a:buNone/>
                      </a:pPr>
                      <a:r>
                        <a:rPr lang="en-US" sz="1200" b="1" dirty="0">
                          <a:solidFill>
                            <a:srgbClr val="FFFFFF"/>
                          </a:solidFill>
                          <a:latin typeface="Tahoma" pitchFamily="34" charset="0"/>
                          <a:ea typeface="Tahoma" pitchFamily="34" charset="-122"/>
                          <a:cs typeface="Tahoma" pitchFamily="34" charset="-120"/>
                        </a:rPr>
                        <a:t>مارک‌آپ مورد انتظار</a:t>
                      </a:r>
                      <a:endParaRPr lang="en-US" sz="120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1E2761"/>
                    </a:solidFill>
                  </a:tcPr>
                </a:tc>
                <a:tc>
                  <a:txBody>
                    <a:bodyPr/>
                    <a:lstStyle/>
                    <a:p>
                      <a:pPr rtl="1" algn="r" indent="0" marL="0">
                        <a:buNone/>
                      </a:pPr>
                      <a:r>
                        <a:rPr lang="en-US" sz="1200" b="1" dirty="0">
                          <a:solidFill>
                            <a:srgbClr val="FFFFFF"/>
                          </a:solidFill>
                          <a:latin typeface="Tahoma" pitchFamily="34" charset="0"/>
                          <a:ea typeface="Tahoma" pitchFamily="34" charset="-122"/>
                          <a:cs typeface="Tahoma" pitchFamily="34" charset="-120"/>
                        </a:rPr>
                        <a:t>روز تا نقد</a:t>
                      </a:r>
                      <a:endParaRPr lang="en-US" sz="120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1E2761"/>
                    </a:solidFill>
                  </a:tcPr>
                </a:tc>
                <a:tc>
                  <a:txBody>
                    <a:bodyPr/>
                    <a:lstStyle/>
                    <a:p>
                      <a:pPr rtl="1" algn="r" indent="0" marL="0">
                        <a:buNone/>
                      </a:pPr>
                      <a:r>
                        <a:rPr lang="en-US" sz="1200" b="1" dirty="0">
                          <a:solidFill>
                            <a:srgbClr val="FFFFFF"/>
                          </a:solidFill>
                          <a:latin typeface="Tahoma" pitchFamily="34" charset="0"/>
                          <a:ea typeface="Tahoma" pitchFamily="34" charset="-122"/>
                          <a:cs typeface="Tahoma" pitchFamily="34" charset="-120"/>
                        </a:rPr>
                        <a:t>شرط پرداخت</a:t>
                      </a:r>
                      <a:endParaRPr lang="en-US" sz="120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1E2761"/>
                    </a:solidFill>
                  </a:tcPr>
                </a:tc>
              </a:tr>
              <a:tr h="475488">
                <a:tc>
                  <a:txBody>
                    <a:bodyPr/>
                    <a:lstStyle/>
                    <a:p>
                      <a:pPr rtl="1" algn="r" indent="0" marL="0">
                        <a:buNone/>
                      </a:pPr>
                      <a:r>
                        <a:rPr lang="en-US" sz="1350" dirty="0">
                          <a:solidFill>
                            <a:srgbClr val="15192E"/>
                          </a:solidFill>
                          <a:latin typeface="Tahoma" pitchFamily="34" charset="0"/>
                          <a:ea typeface="Tahoma" pitchFamily="34" charset="-122"/>
                          <a:cs typeface="Tahoma" pitchFamily="34" charset="-120"/>
                        </a:rPr>
                        <a:t>—</a:t>
                      </a:r>
                      <a:endParaRPr lang="en-US" sz="13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350" dirty="0">
                          <a:solidFill>
                            <a:srgbClr val="15192E"/>
                          </a:solidFill>
                          <a:latin typeface="Tahoma" pitchFamily="34" charset="0"/>
                          <a:ea typeface="Tahoma" pitchFamily="34" charset="-122"/>
                          <a:cs typeface="Tahoma" pitchFamily="34" charset="-120"/>
                        </a:rPr>
                        <a:t>مبنا</a:t>
                      </a:r>
                      <a:endParaRPr lang="en-US" sz="13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350" dirty="0">
                          <a:solidFill>
                            <a:srgbClr val="15192E"/>
                          </a:solidFill>
                          <a:latin typeface="Tahoma" pitchFamily="34" charset="0"/>
                          <a:ea typeface="Tahoma" pitchFamily="34" charset="-122"/>
                          <a:cs typeface="Tahoma" pitchFamily="34" charset="-120"/>
                        </a:rPr>
                        <a:t>—</a:t>
                      </a:r>
                      <a:endParaRPr lang="en-US" sz="13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350" dirty="0">
                          <a:solidFill>
                            <a:srgbClr val="15192E"/>
                          </a:solidFill>
                          <a:latin typeface="Tahoma" pitchFamily="34" charset="0"/>
                          <a:ea typeface="Tahoma" pitchFamily="34" charset="-122"/>
                          <a:cs typeface="Tahoma" pitchFamily="34" charset="-120"/>
                        </a:rPr>
                        <a:t>۲۳ روز</a:t>
                      </a:r>
                      <a:endParaRPr lang="en-US" sz="13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350" dirty="0">
                          <a:solidFill>
                            <a:srgbClr val="15192E"/>
                          </a:solidFill>
                          <a:latin typeface="Tahoma" pitchFamily="34" charset="0"/>
                          <a:ea typeface="Tahoma" pitchFamily="34" charset="-122"/>
                          <a:cs typeface="Tahoma" pitchFamily="34" charset="-120"/>
                        </a:rPr>
                        <a:t>نقدی</a:t>
                      </a:r>
                      <a:endParaRPr lang="en-US" sz="13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r>
              <a:tr h="475488">
                <a:tc>
                  <a:txBody>
                    <a:bodyPr/>
                    <a:lstStyle/>
                    <a:p>
                      <a:pPr rtl="1" algn="r" indent="0" marL="0">
                        <a:buNone/>
                      </a:pPr>
                      <a:r>
                        <a:rPr lang="en-US" sz="1350" dirty="0">
                          <a:solidFill>
                            <a:srgbClr val="15192E"/>
                          </a:solidFill>
                          <a:latin typeface="Tahoma" pitchFamily="34" charset="0"/>
                          <a:ea typeface="Tahoma" pitchFamily="34" charset="-122"/>
                          <a:cs typeface="Tahoma" pitchFamily="34" charset="-120"/>
                        </a:rPr>
                        <a:t>کمتر از نیمی از انتظار</a:t>
                      </a:r>
                      <a:endParaRPr lang="en-US" sz="13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c>
                  <a:txBody>
                    <a:bodyPr/>
                    <a:lstStyle/>
                    <a:p>
                      <a:pPr rtl="1" algn="r" indent="0" marL="0">
                        <a:buNone/>
                      </a:pPr>
                      <a:r>
                        <a:rPr lang="en-US" sz="1350" dirty="0">
                          <a:solidFill>
                            <a:srgbClr val="15192E"/>
                          </a:solidFill>
                          <a:latin typeface="Tahoma" pitchFamily="34" charset="0"/>
                          <a:ea typeface="Tahoma" pitchFamily="34" charset="-122"/>
                          <a:cs typeface="Tahoma" pitchFamily="34" charset="-120"/>
                        </a:rPr>
                        <a:t>۱٫۸٪</a:t>
                      </a:r>
                      <a:endParaRPr lang="en-US" sz="13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c>
                  <a:txBody>
                    <a:bodyPr/>
                    <a:lstStyle/>
                    <a:p>
                      <a:pPr rtl="1" algn="r" indent="0" marL="0">
                        <a:buNone/>
                      </a:pPr>
                      <a:r>
                        <a:rPr lang="en-US" sz="1350" dirty="0">
                          <a:solidFill>
                            <a:srgbClr val="15192E"/>
                          </a:solidFill>
                          <a:latin typeface="Tahoma" pitchFamily="34" charset="0"/>
                          <a:ea typeface="Tahoma" pitchFamily="34" charset="-122"/>
                          <a:cs typeface="Tahoma" pitchFamily="34" charset="-120"/>
                        </a:rPr>
                        <a:t>۴٫۰٪</a:t>
                      </a:r>
                      <a:endParaRPr lang="en-US" sz="13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c>
                  <a:txBody>
                    <a:bodyPr/>
                    <a:lstStyle/>
                    <a:p>
                      <a:pPr rtl="1" algn="r" indent="0" marL="0">
                        <a:buNone/>
                      </a:pPr>
                      <a:r>
                        <a:rPr lang="en-US" sz="1350" dirty="0">
                          <a:solidFill>
                            <a:srgbClr val="15192E"/>
                          </a:solidFill>
                          <a:latin typeface="Tahoma" pitchFamily="34" charset="0"/>
                          <a:ea typeface="Tahoma" pitchFamily="34" charset="-122"/>
                          <a:cs typeface="Tahoma" pitchFamily="34" charset="-120"/>
                        </a:rPr>
                        <a:t>۵۲ روز</a:t>
                      </a:r>
                      <a:endParaRPr lang="en-US" sz="13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c>
                  <a:txBody>
                    <a:bodyPr/>
                    <a:lstStyle/>
                    <a:p>
                      <a:pPr rtl="1" algn="r" indent="0" marL="0">
                        <a:buNone/>
                      </a:pPr>
                      <a:r>
                        <a:rPr lang="en-US" sz="1350" dirty="0">
                          <a:solidFill>
                            <a:srgbClr val="15192E"/>
                          </a:solidFill>
                          <a:latin typeface="Tahoma" pitchFamily="34" charset="0"/>
                          <a:ea typeface="Tahoma" pitchFamily="34" charset="-122"/>
                          <a:cs typeface="Tahoma" pitchFamily="34" charset="-120"/>
                        </a:rPr>
                        <a:t>۳۰ روزه</a:t>
                      </a:r>
                      <a:endParaRPr lang="en-US" sz="13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rtl="1" algn="r" indent="0" marL="0">
                        <a:buNone/>
                      </a:pPr>
                      <a:r>
                        <a:rPr lang="en-US" sz="1350" dirty="0">
                          <a:solidFill>
                            <a:srgbClr val="15192E"/>
                          </a:solidFill>
                          <a:latin typeface="Tahoma" pitchFamily="34" charset="0"/>
                          <a:ea typeface="Tahoma" pitchFamily="34" charset="-122"/>
                          <a:cs typeface="Tahoma" pitchFamily="34" charset="-120"/>
                        </a:rPr>
                        <a:t>t = ۱٫۵ — بی‌معنا</a:t>
                      </a:r>
                      <a:endParaRPr lang="en-US" sz="13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350" dirty="0">
                          <a:solidFill>
                            <a:srgbClr val="15192E"/>
                          </a:solidFill>
                          <a:latin typeface="Tahoma" pitchFamily="34" charset="0"/>
                          <a:ea typeface="Tahoma" pitchFamily="34" charset="-122"/>
                          <a:cs typeface="Tahoma" pitchFamily="34" charset="-120"/>
                        </a:rPr>
                        <a:t>۲٫۰٪</a:t>
                      </a:r>
                      <a:endParaRPr lang="en-US" sz="13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350" dirty="0">
                          <a:solidFill>
                            <a:srgbClr val="15192E"/>
                          </a:solidFill>
                          <a:latin typeface="Tahoma" pitchFamily="34" charset="0"/>
                          <a:ea typeface="Tahoma" pitchFamily="34" charset="-122"/>
                          <a:cs typeface="Tahoma" pitchFamily="34" charset="-120"/>
                        </a:rPr>
                        <a:t>۱۲٫۰٪</a:t>
                      </a:r>
                      <a:endParaRPr lang="en-US" sz="13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350" dirty="0">
                          <a:solidFill>
                            <a:srgbClr val="15192E"/>
                          </a:solidFill>
                          <a:latin typeface="Tahoma" pitchFamily="34" charset="0"/>
                          <a:ea typeface="Tahoma" pitchFamily="34" charset="-122"/>
                          <a:cs typeface="Tahoma" pitchFamily="34" charset="-120"/>
                        </a:rPr>
                        <a:t>۱۱۳ روز</a:t>
                      </a:r>
                      <a:endParaRPr lang="en-US" sz="13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350" dirty="0">
                          <a:solidFill>
                            <a:srgbClr val="15192E"/>
                          </a:solidFill>
                          <a:latin typeface="Tahoma" pitchFamily="34" charset="0"/>
                          <a:ea typeface="Tahoma" pitchFamily="34" charset="-122"/>
                          <a:cs typeface="Tahoma" pitchFamily="34" charset="-120"/>
                        </a:rPr>
                        <a:t>۹۰ روزه</a:t>
                      </a:r>
                      <a:endParaRPr lang="en-US" sz="13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r>
            </a:tbl>
          </a:graphicData>
        </a:graphic>
      </p:graphicFrame>
      <p:sp>
        <p:nvSpPr>
          <p:cNvPr id="5" name="Shape 2"/>
          <p:cNvSpPr/>
          <p:nvPr/>
        </p:nvSpPr>
        <p:spPr>
          <a:xfrm>
            <a:off x="566928" y="3931920"/>
            <a:ext cx="11027664" cy="1280160"/>
          </a:xfrm>
          <a:prstGeom prst="roundRect">
            <a:avLst>
              <a:gd name="adj" fmla="val 7143"/>
            </a:avLst>
          </a:prstGeom>
          <a:solidFill>
            <a:srgbClr val="FDF1F1"/>
          </a:solidFill>
          <a:ln w="12700">
            <a:solidFill>
              <a:srgbClr val="F0CFCF"/>
            </a:solidFill>
            <a:prstDash val="solid"/>
          </a:ln>
        </p:spPr>
      </p:sp>
      <p:sp>
        <p:nvSpPr>
          <p:cNvPr id="6" name="Text 3"/>
          <p:cNvSpPr/>
          <p:nvPr/>
        </p:nvSpPr>
        <p:spPr>
          <a:xfrm>
            <a:off x="822960" y="4059936"/>
            <a:ext cx="10515600" cy="1005840"/>
          </a:xfrm>
          <a:prstGeom prst="rect">
            <a:avLst/>
          </a:prstGeom>
          <a:noFill/>
          <a:ln/>
        </p:spPr>
        <p:txBody>
          <a:bodyPr wrap="square" lIns="0" tIns="0" rIns="0" bIns="0" rtlCol="0" anchor="ctr"/>
          <a:lstStyle/>
          <a:p>
            <a:pPr rtl="1" algn="r" indent="0" marL="0">
              <a:buNone/>
            </a:pPr>
            <a:r>
              <a:rPr lang="en-US" sz="1400" dirty="0">
                <a:solidFill>
                  <a:srgbClr val="15192E"/>
                </a:solidFill>
                <a:latin typeface="Tahoma" pitchFamily="34" charset="0"/>
                <a:ea typeface="Tahoma" pitchFamily="34" charset="-122"/>
                <a:cs typeface="Tahoma" pitchFamily="34" charset="-120"/>
              </a:rPr>
              <a:t>مشتری ۹۰ روزه پول را ۹۰ روز بیشتر نگه می‌دارد و تقریباً همان قیمت مشتری نقدی را می‌پردازد. پس هزینهٔ پول جایی جبران نمی‌شود و گذاشتنش به حساب مشتری، دوباره‌شماری نیست.</a:t>
            </a:r>
            <a:endParaRPr lang="en-US" sz="1400" dirty="0"/>
          </a:p>
        </p:txBody>
      </p:sp>
      <p:sp>
        <p:nvSpPr>
          <p:cNvPr id="7" name="Text 4"/>
          <p:cNvSpPr/>
          <p:nvPr/>
        </p:nvSpPr>
        <p:spPr>
          <a:xfrm>
            <a:off x="566928" y="6071616"/>
            <a:ext cx="11027664" cy="310896"/>
          </a:xfrm>
          <a:prstGeom prst="rect">
            <a:avLst/>
          </a:prstGeom>
          <a:noFill/>
          <a:ln/>
        </p:spPr>
        <p:txBody>
          <a:bodyPr wrap="square" lIns="0" tIns="0" rIns="0" bIns="0" rtlCol="0" anchor="ctr"/>
          <a:lstStyle/>
          <a:p>
            <a:pPr rtl="1" algn="r" indent="0" marL="0">
              <a:buNone/>
            </a:pPr>
            <a:r>
              <a:rPr lang="en-US" sz="1050" dirty="0">
                <a:solidFill>
                  <a:srgbClr val="5B6178"/>
                </a:solidFill>
                <a:latin typeface="Tahoma" pitchFamily="34" charset="0"/>
                <a:ea typeface="Tahoma" pitchFamily="34" charset="-122"/>
                <a:cs typeface="Tahoma" pitchFamily="34" charset="-120"/>
              </a:rPr>
              <a:t>‏۱٬۷۱۴ و ۱٬۵۰۳ سلول «کد کالا × ماه» که هر دو شرط پرداخت را هم‌زمان دارند.</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768096"/>
          </a:xfrm>
          <a:prstGeom prst="rect">
            <a:avLst/>
          </a:prstGeom>
          <a:noFill/>
          <a:ln/>
        </p:spPr>
        <p:txBody>
          <a:bodyPr wrap="square" lIns="0" tIns="0" rIns="0" bIns="0" rtlCol="0" anchor="ctr"/>
          <a:lstStyle/>
          <a:p>
            <a:pPr rtl="1" algn="r" indent="0" marL="0">
              <a:buNone/>
            </a:pPr>
            <a:r>
              <a:rPr lang="en-US" sz="3100" b="1" dirty="0">
                <a:solidFill>
                  <a:srgbClr val="15192E"/>
                </a:solidFill>
                <a:latin typeface="Tahoma" pitchFamily="34" charset="0"/>
                <a:ea typeface="Tahoma" pitchFamily="34" charset="-122"/>
                <a:cs typeface="Tahoma" pitchFamily="34" charset="-120"/>
              </a:rPr>
              <a:t>پیوست ۲ — نُه فرضیه‌ای که آزمودیم و رد شد</a:t>
            </a:r>
            <a:endParaRPr lang="en-US" sz="3100" dirty="0"/>
          </a:p>
        </p:txBody>
      </p:sp>
      <p:sp>
        <p:nvSpPr>
          <p:cNvPr id="3" name="Text 1"/>
          <p:cNvSpPr/>
          <p:nvPr/>
        </p:nvSpPr>
        <p:spPr>
          <a:xfrm>
            <a:off x="566928" y="1115568"/>
            <a:ext cx="11027664" cy="420624"/>
          </a:xfrm>
          <a:prstGeom prst="rect">
            <a:avLst/>
          </a:prstGeom>
          <a:noFill/>
          <a:ln/>
        </p:spPr>
        <p:txBody>
          <a:bodyPr wrap="square" lIns="0" tIns="0" rIns="0" bIns="0" rtlCol="0" anchor="t"/>
          <a:lstStyle/>
          <a:p>
            <a:pPr rtl="1" algn="r" indent="0" marL="0">
              <a:buNone/>
            </a:pPr>
            <a:r>
              <a:rPr lang="en-US" sz="1400" dirty="0">
                <a:solidFill>
                  <a:srgbClr val="5B6178"/>
                </a:solidFill>
                <a:latin typeface="Tahoma" pitchFamily="34" charset="0"/>
                <a:ea typeface="Tahoma" pitchFamily="34" charset="-122"/>
                <a:cs typeface="Tahoma" pitchFamily="34" charset="-120"/>
              </a:rPr>
              <a:t>گزارش نکردنشان تحلیل را بی‌اعتبار می‌کند.</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700784"/>
          <a:ext cx="11027664" cy="914400"/>
        </p:xfrm>
        <a:graphic>
          <a:graphicData uri="http://schemas.openxmlformats.org/drawingml/2006/table">
            <a:tbl>
              <a:tblPr/>
              <a:tblGrid>
                <a:gridCol w="2157984"/>
                <a:gridCol w="3977640"/>
                <a:gridCol w="4892040"/>
              </a:tblGrid>
              <a:tr h="365760">
                <a:tc>
                  <a:txBody>
                    <a:bodyPr/>
                    <a:lstStyle/>
                    <a:p>
                      <a:pPr rtl="1" algn="r" indent="0" marL="0">
                        <a:buNone/>
                      </a:pPr>
                      <a:r>
                        <a:rPr lang="en-US" sz="1000" b="1" dirty="0">
                          <a:solidFill>
                            <a:srgbClr val="FFFFFF"/>
                          </a:solidFill>
                          <a:latin typeface="Tahoma" pitchFamily="34" charset="0"/>
                          <a:ea typeface="Tahoma" pitchFamily="34" charset="-122"/>
                          <a:cs typeface="Tahoma" pitchFamily="34" charset="-120"/>
                        </a:rPr>
                        <a:t>نتیجه</a:t>
                      </a:r>
                      <a:endParaRPr lang="en-US" sz="100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1E2761"/>
                    </a:solidFill>
                  </a:tcPr>
                </a:tc>
                <a:tc>
                  <a:txBody>
                    <a:bodyPr/>
                    <a:lstStyle/>
                    <a:p>
                      <a:pPr rtl="1" algn="r" indent="0" marL="0">
                        <a:buNone/>
                      </a:pPr>
                      <a:r>
                        <a:rPr lang="en-US" sz="1000" b="1" dirty="0">
                          <a:solidFill>
                            <a:srgbClr val="FFFFFF"/>
                          </a:solidFill>
                          <a:latin typeface="Tahoma" pitchFamily="34" charset="0"/>
                          <a:ea typeface="Tahoma" pitchFamily="34" charset="-122"/>
                          <a:cs typeface="Tahoma" pitchFamily="34" charset="-120"/>
                        </a:rPr>
                        <a:t>آزمون</a:t>
                      </a:r>
                      <a:endParaRPr lang="en-US" sz="100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1E2761"/>
                    </a:solidFill>
                  </a:tcPr>
                </a:tc>
                <a:tc>
                  <a:txBody>
                    <a:bodyPr/>
                    <a:lstStyle/>
                    <a:p>
                      <a:pPr rtl="1" algn="r" indent="0" marL="0">
                        <a:buNone/>
                      </a:pPr>
                      <a:r>
                        <a:rPr lang="en-US" sz="1000" b="1" dirty="0">
                          <a:solidFill>
                            <a:srgbClr val="FFFFFF"/>
                          </a:solidFill>
                          <a:latin typeface="Tahoma" pitchFamily="34" charset="0"/>
                          <a:ea typeface="Tahoma" pitchFamily="34" charset="-122"/>
                          <a:cs typeface="Tahoma" pitchFamily="34" charset="-120"/>
                        </a:rPr>
                        <a:t>فرضیه</a:t>
                      </a:r>
                      <a:endParaRPr lang="en-US" sz="100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1E2761"/>
                    </a:solidFill>
                  </a:tcPr>
                </a:tc>
              </a:tr>
              <a:tr h="365760">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p = ۰٫۹۰</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χ² روی پنجک تخفیف</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تخفیف عمیق‌تر پذیرش را بالا می‌برد</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r>
              <a:tr h="365760">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p = ۰٫۵۶</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χ² روی ۱۳ دلیل</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دلیل آفر پذیرش را پیش‌بینی می‌کند</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p = ۰٫۱۴</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χ² حجمی/قیمتی/مدت‌دار</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نوع آفر مهم است</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r>
              <a:tr h="365760">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p = ۰٫۳۵</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χ² با نگاه فقط به عقب</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مشتریِ قبلاً پذیرنده باز می‌پذیرد</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p = ۰٫۸۶</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خرید همان گروه کالا در ۳۰ روز</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پذیرش آفر به خرید بیشتر می‌انجامد</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r>
              <a:tr h="365760">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p = ۰٫۴۰</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تفاضل‌در‌تفاضل در برابر روند سبد</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رسیدگی به شکایت خرید را بالا می‌برد</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p = ۰٫۴۵</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همبستگی رتبه‌ای سرعت با تغییر حجم</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رسیدگی سریع‌تر اثر بیشتری دارد</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r>
              <a:tr h="365760">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p = ۰٫۵۵</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تفاضل‌در‌تفاضل روی همان گروه</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تأیید نمونه خرید همان گروه را بالا می‌برد</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دامنهٔ ۱۲٫۱ تا ۱۷٫۳٪</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ترکیب نوع تعامل در هشت کارشناس</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c>
                  <a:txBody>
                    <a:bodyPr/>
                    <a:lstStyle/>
                    <a:p>
                      <a:pPr rtl="1" algn="r" indent="0" marL="0">
                        <a:buNone/>
                      </a:pPr>
                      <a:r>
                        <a:rPr lang="en-US" sz="1150" dirty="0">
                          <a:solidFill>
                            <a:srgbClr val="15192E"/>
                          </a:solidFill>
                          <a:latin typeface="Tahoma" pitchFamily="34" charset="0"/>
                          <a:ea typeface="Tahoma" pitchFamily="34" charset="-122"/>
                          <a:cs typeface="Tahoma" pitchFamily="34" charset="-120"/>
                        </a:rPr>
                        <a:t>کارشناسان تخصص متفاوت دارند</a:t>
                      </a:r>
                      <a:endParaRPr lang="en-US" sz="1150" dirty="0">
                        <a:latin typeface="Tahoma" charset="0"/>
                        <a:ea typeface="Tahoma" charset="0"/>
                        <a:cs typeface="Tahoma" charset="0"/>
                      </a:endParaRPr>
                    </a:p>
                  </a:txBody>
                  <a:tcPr marL="101600" marR="101600" marT="101600" marB="101600">
                    <a:lnL w="0" cap="flat" cmpd="sng" algn="ctr">
                      <a:noFill/>
                    </a:lnL>
                    <a:lnR w="0" cap="flat" cmpd="sng" algn="ctr">
                      <a:noFill/>
                    </a:lnR>
                    <a:lnT w="0" cap="flat" cmpd="sng" algn="ctr">
                      <a:noFill/>
                    </a:lnT>
                    <a:lnB w="0" cap="flat" cmpd="sng" algn="ctr">
                      <a:noFill/>
                    </a:lnB>
                    <a:solidFill>
                      <a:srgbClr val="F4F6FB"/>
                    </a:solidFill>
                  </a:tcPr>
                </a:tc>
              </a:tr>
            </a:tbl>
          </a:graphicData>
        </a:graphic>
      </p:graphicFrame>
      <p:sp>
        <p:nvSpPr>
          <p:cNvPr id="5" name="Text 2"/>
          <p:cNvSpPr/>
          <p:nvPr/>
        </p:nvSpPr>
        <p:spPr>
          <a:xfrm>
            <a:off x="566928" y="6071616"/>
            <a:ext cx="11027664" cy="310896"/>
          </a:xfrm>
          <a:prstGeom prst="rect">
            <a:avLst/>
          </a:prstGeom>
          <a:noFill/>
          <a:ln/>
        </p:spPr>
        <p:txBody>
          <a:bodyPr wrap="square" lIns="0" tIns="0" rIns="0" bIns="0" rtlCol="0" anchor="ctr"/>
          <a:lstStyle/>
          <a:p>
            <a:pPr rtl="1" algn="r" indent="0" marL="0">
              <a:buNone/>
            </a:pPr>
            <a:r>
              <a:rPr lang="en-US" sz="1050" dirty="0">
                <a:solidFill>
                  <a:srgbClr val="5B6178"/>
                </a:solidFill>
                <a:latin typeface="Tahoma" pitchFamily="34" charset="0"/>
                <a:ea typeface="Tahoma" pitchFamily="34" charset="-122"/>
                <a:cs typeface="Tahoma" pitchFamily="34" charset="-120"/>
              </a:rPr>
              <a:t>و دو الگوی تأییدشده: خرید از ۲+ گروه کالا حدود ۲۰ واحد درصد ماندگاری بیشتر می‌دهد؛ و طول اعتبار آفر پذیرش را پیش‌بینی می‌کند.</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768096"/>
          </a:xfrm>
          <a:prstGeom prst="rect">
            <a:avLst/>
          </a:prstGeom>
          <a:noFill/>
          <a:ln/>
        </p:spPr>
        <p:txBody>
          <a:bodyPr wrap="square" lIns="0" tIns="0" rIns="0" bIns="0" rtlCol="0" anchor="ctr"/>
          <a:lstStyle/>
          <a:p>
            <a:pPr rtl="1" algn="r" indent="0" marL="0">
              <a:buNone/>
            </a:pPr>
            <a:r>
              <a:rPr lang="en-US" sz="3100" b="1" dirty="0">
                <a:solidFill>
                  <a:srgbClr val="15192E"/>
                </a:solidFill>
                <a:latin typeface="Tahoma" pitchFamily="34" charset="0"/>
                <a:ea typeface="Tahoma" pitchFamily="34" charset="-122"/>
                <a:cs typeface="Tahoma" pitchFamily="34" charset="-120"/>
              </a:rPr>
              <a:t>پیوست ۳ — «ارزش کمینهٔ رسیدگی» چطور حساب می‌شود</a:t>
            </a:r>
            <a:endParaRPr lang="en-US" sz="3100" dirty="0"/>
          </a:p>
        </p:txBody>
      </p:sp>
      <p:sp>
        <p:nvSpPr>
          <p:cNvPr id="3" name="Text 1"/>
          <p:cNvSpPr/>
          <p:nvPr/>
        </p:nvSpPr>
        <p:spPr>
          <a:xfrm>
            <a:off x="566928" y="1115568"/>
            <a:ext cx="11027664" cy="420624"/>
          </a:xfrm>
          <a:prstGeom prst="rect">
            <a:avLst/>
          </a:prstGeom>
          <a:noFill/>
          <a:ln/>
        </p:spPr>
        <p:txBody>
          <a:bodyPr wrap="square" lIns="0" tIns="0" rIns="0" bIns="0" rtlCol="0" anchor="t"/>
          <a:lstStyle/>
          <a:p>
            <a:pPr rtl="1" algn="r" indent="0" marL="0">
              <a:buNone/>
            </a:pPr>
            <a:r>
              <a:rPr lang="en-US" sz="1400" dirty="0">
                <a:solidFill>
                  <a:srgbClr val="5B6178"/>
                </a:solidFill>
                <a:latin typeface="Tahoma" pitchFamily="34" charset="0"/>
                <a:ea typeface="Tahoma" pitchFamily="34" charset="-122"/>
                <a:cs typeface="Tahoma" pitchFamily="34" charset="-120"/>
              </a:rPr>
              <a:t>وقتی اثر علّی اثبات نشد، چیزی را می‌سنجیم که اندازه‌گیری‌پذیر است.</a:t>
            </a:r>
            <a:endParaRPr lang="en-US" sz="1400" dirty="0"/>
          </a:p>
        </p:txBody>
      </p:sp>
      <p:sp>
        <p:nvSpPr>
          <p:cNvPr id="4" name="Shape 2"/>
          <p:cNvSpPr/>
          <p:nvPr/>
        </p:nvSpPr>
        <p:spPr>
          <a:xfrm>
            <a:off x="566928" y="1737360"/>
            <a:ext cx="11027664" cy="1060704"/>
          </a:xfrm>
          <a:prstGeom prst="roundRect">
            <a:avLst>
              <a:gd name="adj" fmla="val 8621"/>
            </a:avLst>
          </a:prstGeom>
          <a:solidFill>
            <a:srgbClr val="1E2761"/>
          </a:solidFill>
          <a:ln w="12700">
            <a:solidFill>
              <a:srgbClr val="1E2761"/>
            </a:solidFill>
            <a:prstDash val="solid"/>
          </a:ln>
        </p:spPr>
      </p:sp>
      <p:sp>
        <p:nvSpPr>
          <p:cNvPr id="5" name="Text 3"/>
          <p:cNvSpPr/>
          <p:nvPr/>
        </p:nvSpPr>
        <p:spPr>
          <a:xfrm>
            <a:off x="841248" y="1847088"/>
            <a:ext cx="10479024" cy="841248"/>
          </a:xfrm>
          <a:prstGeom prst="rect">
            <a:avLst/>
          </a:prstGeom>
          <a:noFill/>
          <a:ln/>
        </p:spPr>
        <p:txBody>
          <a:bodyPr wrap="square" lIns="0" tIns="0" rIns="0" bIns="0" rtlCol="0" anchor="ctr"/>
          <a:lstStyle/>
          <a:p>
            <a:pPr rtl="1" algn="ctr" indent="0" marL="0">
              <a:buNone/>
            </a:pPr>
            <a:r>
              <a:rPr lang="en-US" sz="1500" b="1" dirty="0">
                <a:solidFill>
                  <a:srgbClr val="FFFFFF"/>
                </a:solidFill>
                <a:latin typeface="Tahoma" pitchFamily="34" charset="0"/>
                <a:ea typeface="Tahoma" pitchFamily="34" charset="-122"/>
                <a:cs typeface="Tahoma" pitchFamily="34" charset="-120"/>
              </a:rPr>
              <a:t>ارزش کمینه  =  کف اندازه‌گیری‌شدهٔ بازگشتی  +  درآمد گروه کالای درگیر × حاشیهٔ واقعی × احتمال ریزش</a:t>
            </a:r>
            <a:endParaRPr lang="en-US" sz="1500" dirty="0"/>
          </a:p>
        </p:txBody>
      </p:sp>
      <p:sp>
        <p:nvSpPr>
          <p:cNvPr id="6" name="Text 4"/>
          <p:cNvSpPr/>
          <p:nvPr/>
        </p:nvSpPr>
        <p:spPr>
          <a:xfrm>
            <a:off x="566928" y="3072384"/>
            <a:ext cx="11027664" cy="365760"/>
          </a:xfrm>
          <a:prstGeom prst="rect">
            <a:avLst/>
          </a:prstGeom>
          <a:noFill/>
          <a:ln/>
        </p:spPr>
        <p:txBody>
          <a:bodyPr wrap="square" lIns="0" tIns="0" rIns="0" bIns="0" rtlCol="0" anchor="ctr"/>
          <a:lstStyle/>
          <a:p>
            <a:pPr rtl="1" algn="r" indent="0" marL="0">
              <a:buNone/>
            </a:pPr>
            <a:r>
              <a:rPr lang="en-US" sz="1600" b="1" dirty="0">
                <a:solidFill>
                  <a:srgbClr val="15192E"/>
                </a:solidFill>
                <a:latin typeface="Tahoma" pitchFamily="34" charset="0"/>
                <a:ea typeface="Tahoma" pitchFamily="34" charset="-122"/>
                <a:cs typeface="Tahoma" pitchFamily="34" charset="-120"/>
              </a:rPr>
              <a:t>چهار انتخابی که این عدد را عمداً کوچک نگه می‌دارد</a:t>
            </a:r>
            <a:endParaRPr lang="en-US" sz="1600" dirty="0"/>
          </a:p>
        </p:txBody>
      </p:sp>
      <p:sp>
        <p:nvSpPr>
          <p:cNvPr id="7" name="Shape 5"/>
          <p:cNvSpPr/>
          <p:nvPr/>
        </p:nvSpPr>
        <p:spPr>
          <a:xfrm>
            <a:off x="8961120" y="3529584"/>
            <a:ext cx="2633472" cy="1060704"/>
          </a:xfrm>
          <a:prstGeom prst="roundRect">
            <a:avLst>
              <a:gd name="adj" fmla="val 8621"/>
            </a:avLst>
          </a:prstGeom>
          <a:solidFill>
            <a:srgbClr val="F4F6FB"/>
          </a:solidFill>
          <a:ln w="12700">
            <a:solidFill>
              <a:srgbClr val="DDE3F0"/>
            </a:solidFill>
            <a:prstDash val="solid"/>
          </a:ln>
        </p:spPr>
      </p:sp>
      <p:sp>
        <p:nvSpPr>
          <p:cNvPr id="8" name="Text 6"/>
          <p:cNvSpPr/>
          <p:nvPr/>
        </p:nvSpPr>
        <p:spPr>
          <a:xfrm>
            <a:off x="9089136" y="3657600"/>
            <a:ext cx="2377440" cy="347472"/>
          </a:xfrm>
          <a:prstGeom prst="rect">
            <a:avLst/>
          </a:prstGeom>
          <a:noFill/>
          <a:ln/>
        </p:spPr>
        <p:txBody>
          <a:bodyPr wrap="square" lIns="0" tIns="0" rIns="0" bIns="0" rtlCol="0" anchor="ctr"/>
          <a:lstStyle/>
          <a:p>
            <a:pPr rtl="1" algn="ctr" indent="0" marL="0">
              <a:buNone/>
            </a:pPr>
            <a:r>
              <a:rPr lang="en-US" sz="1300" b="1" dirty="0">
                <a:solidFill>
                  <a:srgbClr val="1E2761"/>
                </a:solidFill>
                <a:latin typeface="Tahoma" pitchFamily="34" charset="0"/>
                <a:ea typeface="Tahoma" pitchFamily="34" charset="-122"/>
                <a:cs typeface="Tahoma" pitchFamily="34" charset="-120"/>
              </a:rPr>
              <a:t>فقط گروه کالای درگیر</a:t>
            </a:r>
            <a:endParaRPr lang="en-US" sz="1300" dirty="0"/>
          </a:p>
        </p:txBody>
      </p:sp>
      <p:sp>
        <p:nvSpPr>
          <p:cNvPr id="9" name="Text 7"/>
          <p:cNvSpPr/>
          <p:nvPr/>
        </p:nvSpPr>
        <p:spPr>
          <a:xfrm>
            <a:off x="9089136" y="4005072"/>
            <a:ext cx="2377440" cy="475488"/>
          </a:xfrm>
          <a:prstGeom prst="rect">
            <a:avLst/>
          </a:prstGeom>
          <a:noFill/>
          <a:ln/>
        </p:spPr>
        <p:txBody>
          <a:bodyPr wrap="square" lIns="0" tIns="0" rIns="0" bIns="0" rtlCol="0" anchor="t"/>
          <a:lstStyle/>
          <a:p>
            <a:pPr rtl="1" algn="ctr" indent="0" marL="0">
              <a:buNone/>
            </a:pPr>
            <a:r>
              <a:rPr lang="en-US" sz="1100" dirty="0">
                <a:solidFill>
                  <a:srgbClr val="5B6178"/>
                </a:solidFill>
                <a:latin typeface="Tahoma" pitchFamily="34" charset="0"/>
                <a:ea typeface="Tahoma" pitchFamily="34" charset="-122"/>
                <a:cs typeface="Tahoma" pitchFamily="34" charset="-120"/>
              </a:rPr>
              <a:t>نه کل حساب مشتری</a:t>
            </a:r>
            <a:endParaRPr lang="en-US" sz="1100" dirty="0"/>
          </a:p>
        </p:txBody>
      </p:sp>
      <p:sp>
        <p:nvSpPr>
          <p:cNvPr id="10" name="Shape 8"/>
          <p:cNvSpPr/>
          <p:nvPr/>
        </p:nvSpPr>
        <p:spPr>
          <a:xfrm>
            <a:off x="6163056" y="3529584"/>
            <a:ext cx="2633472" cy="1060704"/>
          </a:xfrm>
          <a:prstGeom prst="roundRect">
            <a:avLst>
              <a:gd name="adj" fmla="val 8621"/>
            </a:avLst>
          </a:prstGeom>
          <a:solidFill>
            <a:srgbClr val="F4F6FB"/>
          </a:solidFill>
          <a:ln w="12700">
            <a:solidFill>
              <a:srgbClr val="DDE3F0"/>
            </a:solidFill>
            <a:prstDash val="solid"/>
          </a:ln>
        </p:spPr>
      </p:sp>
      <p:sp>
        <p:nvSpPr>
          <p:cNvPr id="11" name="Text 9"/>
          <p:cNvSpPr/>
          <p:nvPr/>
        </p:nvSpPr>
        <p:spPr>
          <a:xfrm>
            <a:off x="6291072" y="3657600"/>
            <a:ext cx="2377440" cy="347472"/>
          </a:xfrm>
          <a:prstGeom prst="rect">
            <a:avLst/>
          </a:prstGeom>
          <a:noFill/>
          <a:ln/>
        </p:spPr>
        <p:txBody>
          <a:bodyPr wrap="square" lIns="0" tIns="0" rIns="0" bIns="0" rtlCol="0" anchor="ctr"/>
          <a:lstStyle/>
          <a:p>
            <a:pPr rtl="1" algn="ctr" indent="0" marL="0">
              <a:buNone/>
            </a:pPr>
            <a:r>
              <a:rPr lang="en-US" sz="1300" b="1" dirty="0">
                <a:solidFill>
                  <a:srgbClr val="1E2761"/>
                </a:solidFill>
                <a:latin typeface="Tahoma" pitchFamily="34" charset="0"/>
                <a:ea typeface="Tahoma" pitchFamily="34" charset="-122"/>
                <a:cs typeface="Tahoma" pitchFamily="34" charset="-120"/>
              </a:rPr>
              <a:t>حاشیهٔ واقعی</a:t>
            </a:r>
            <a:endParaRPr lang="en-US" sz="1300" dirty="0"/>
          </a:p>
        </p:txBody>
      </p:sp>
      <p:sp>
        <p:nvSpPr>
          <p:cNvPr id="12" name="Text 10"/>
          <p:cNvSpPr/>
          <p:nvPr/>
        </p:nvSpPr>
        <p:spPr>
          <a:xfrm>
            <a:off x="6291072" y="4005072"/>
            <a:ext cx="2377440" cy="475488"/>
          </a:xfrm>
          <a:prstGeom prst="rect">
            <a:avLst/>
          </a:prstGeom>
          <a:noFill/>
          <a:ln/>
        </p:spPr>
        <p:txBody>
          <a:bodyPr wrap="square" lIns="0" tIns="0" rIns="0" bIns="0" rtlCol="0" anchor="t"/>
          <a:lstStyle/>
          <a:p>
            <a:pPr rtl="1" algn="ctr" indent="0" marL="0">
              <a:buNone/>
            </a:pPr>
            <a:r>
              <a:rPr lang="en-US" sz="1100" dirty="0">
                <a:solidFill>
                  <a:srgbClr val="5B6178"/>
                </a:solidFill>
                <a:latin typeface="Tahoma" pitchFamily="34" charset="0"/>
                <a:ea typeface="Tahoma" pitchFamily="34" charset="-122"/>
                <a:cs typeface="Tahoma" pitchFamily="34" charset="-120"/>
              </a:rPr>
              <a:t>پس از هزینهٔ پول، نه فروش</a:t>
            </a:r>
            <a:endParaRPr lang="en-US" sz="1100" dirty="0"/>
          </a:p>
        </p:txBody>
      </p:sp>
      <p:sp>
        <p:nvSpPr>
          <p:cNvPr id="13" name="Shape 11"/>
          <p:cNvSpPr/>
          <p:nvPr/>
        </p:nvSpPr>
        <p:spPr>
          <a:xfrm>
            <a:off x="3364992" y="3529584"/>
            <a:ext cx="2633472" cy="1060704"/>
          </a:xfrm>
          <a:prstGeom prst="roundRect">
            <a:avLst>
              <a:gd name="adj" fmla="val 8621"/>
            </a:avLst>
          </a:prstGeom>
          <a:solidFill>
            <a:srgbClr val="F4F6FB"/>
          </a:solidFill>
          <a:ln w="12700">
            <a:solidFill>
              <a:srgbClr val="DDE3F0"/>
            </a:solidFill>
            <a:prstDash val="solid"/>
          </a:ln>
        </p:spPr>
      </p:sp>
      <p:sp>
        <p:nvSpPr>
          <p:cNvPr id="14" name="Text 12"/>
          <p:cNvSpPr/>
          <p:nvPr/>
        </p:nvSpPr>
        <p:spPr>
          <a:xfrm>
            <a:off x="3493008" y="3657600"/>
            <a:ext cx="2377440" cy="347472"/>
          </a:xfrm>
          <a:prstGeom prst="rect">
            <a:avLst/>
          </a:prstGeom>
          <a:noFill/>
          <a:ln/>
        </p:spPr>
        <p:txBody>
          <a:bodyPr wrap="square" lIns="0" tIns="0" rIns="0" bIns="0" rtlCol="0" anchor="ctr"/>
          <a:lstStyle/>
          <a:p>
            <a:pPr rtl="1" algn="ctr" indent="0" marL="0">
              <a:buNone/>
            </a:pPr>
            <a:r>
              <a:rPr lang="en-US" sz="1300" b="1" dirty="0">
                <a:solidFill>
                  <a:srgbClr val="1E2761"/>
                </a:solidFill>
                <a:latin typeface="Tahoma" pitchFamily="34" charset="0"/>
                <a:ea typeface="Tahoma" pitchFamily="34" charset="-122"/>
                <a:cs typeface="Tahoma" pitchFamily="34" charset="-120"/>
              </a:rPr>
              <a:t>احتمال ریزش کالیبره</a:t>
            </a:r>
            <a:endParaRPr lang="en-US" sz="1300" dirty="0"/>
          </a:p>
        </p:txBody>
      </p:sp>
      <p:sp>
        <p:nvSpPr>
          <p:cNvPr id="15" name="Text 13"/>
          <p:cNvSpPr/>
          <p:nvPr/>
        </p:nvSpPr>
        <p:spPr>
          <a:xfrm>
            <a:off x="3493008" y="4005072"/>
            <a:ext cx="2377440" cy="475488"/>
          </a:xfrm>
          <a:prstGeom prst="rect">
            <a:avLst/>
          </a:prstGeom>
          <a:noFill/>
          <a:ln/>
        </p:spPr>
        <p:txBody>
          <a:bodyPr wrap="square" lIns="0" tIns="0" rIns="0" bIns="0" rtlCol="0" anchor="t"/>
          <a:lstStyle/>
          <a:p>
            <a:pPr rtl="1" algn="ctr" indent="0" marL="0">
              <a:buNone/>
            </a:pPr>
            <a:r>
              <a:rPr lang="en-US" sz="1100" dirty="0">
                <a:solidFill>
                  <a:srgbClr val="5B6178"/>
                </a:solidFill>
                <a:latin typeface="Tahoma" pitchFamily="34" charset="0"/>
                <a:ea typeface="Tahoma" pitchFamily="34" charset="-122"/>
                <a:cs typeface="Tahoma" pitchFamily="34" charset="-120"/>
              </a:rPr>
              <a:t>از مدل AUC ۰٫۸۳۱، نه ۱۰۰٪</a:t>
            </a:r>
            <a:endParaRPr lang="en-US" sz="1100" dirty="0"/>
          </a:p>
        </p:txBody>
      </p:sp>
      <p:sp>
        <p:nvSpPr>
          <p:cNvPr id="16" name="Shape 14"/>
          <p:cNvSpPr/>
          <p:nvPr/>
        </p:nvSpPr>
        <p:spPr>
          <a:xfrm>
            <a:off x="566928" y="3529584"/>
            <a:ext cx="2633472" cy="1060704"/>
          </a:xfrm>
          <a:prstGeom prst="roundRect">
            <a:avLst>
              <a:gd name="adj" fmla="val 8621"/>
            </a:avLst>
          </a:prstGeom>
          <a:solidFill>
            <a:srgbClr val="F4F6FB"/>
          </a:solidFill>
          <a:ln w="12700">
            <a:solidFill>
              <a:srgbClr val="DDE3F0"/>
            </a:solidFill>
            <a:prstDash val="solid"/>
          </a:ln>
        </p:spPr>
      </p:sp>
      <p:sp>
        <p:nvSpPr>
          <p:cNvPr id="17" name="Text 15"/>
          <p:cNvSpPr/>
          <p:nvPr/>
        </p:nvSpPr>
        <p:spPr>
          <a:xfrm>
            <a:off x="694944" y="3657600"/>
            <a:ext cx="2377440" cy="347472"/>
          </a:xfrm>
          <a:prstGeom prst="rect">
            <a:avLst/>
          </a:prstGeom>
          <a:noFill/>
          <a:ln/>
        </p:spPr>
        <p:txBody>
          <a:bodyPr wrap="square" lIns="0" tIns="0" rIns="0" bIns="0" rtlCol="0" anchor="ctr"/>
          <a:lstStyle/>
          <a:p>
            <a:pPr rtl="1" algn="ctr" indent="0" marL="0">
              <a:buNone/>
            </a:pPr>
            <a:r>
              <a:rPr lang="en-US" sz="1300" b="1" dirty="0">
                <a:solidFill>
                  <a:srgbClr val="1E2761"/>
                </a:solidFill>
                <a:latin typeface="Tahoma" pitchFamily="34" charset="0"/>
                <a:ea typeface="Tahoma" pitchFamily="34" charset="-122"/>
                <a:cs typeface="Tahoma" pitchFamily="34" charset="-120"/>
              </a:rPr>
              <a:t>بدون فرض خرید بیشتر</a:t>
            </a:r>
            <a:endParaRPr lang="en-US" sz="1300" dirty="0"/>
          </a:p>
        </p:txBody>
      </p:sp>
      <p:sp>
        <p:nvSpPr>
          <p:cNvPr id="18" name="Text 16"/>
          <p:cNvSpPr/>
          <p:nvPr/>
        </p:nvSpPr>
        <p:spPr>
          <a:xfrm>
            <a:off x="694944" y="4005072"/>
            <a:ext cx="2377440" cy="475488"/>
          </a:xfrm>
          <a:prstGeom prst="rect">
            <a:avLst/>
          </a:prstGeom>
          <a:noFill/>
          <a:ln/>
        </p:spPr>
        <p:txBody>
          <a:bodyPr wrap="square" lIns="0" tIns="0" rIns="0" bIns="0" rtlCol="0" anchor="t"/>
          <a:lstStyle/>
          <a:p>
            <a:pPr rtl="1" algn="ctr" indent="0" marL="0">
              <a:buNone/>
            </a:pPr>
            <a:r>
              <a:rPr lang="en-US" sz="1100" dirty="0">
                <a:solidFill>
                  <a:srgbClr val="5B6178"/>
                </a:solidFill>
                <a:latin typeface="Tahoma" pitchFamily="34" charset="0"/>
                <a:ea typeface="Tahoma" pitchFamily="34" charset="-122"/>
                <a:cs typeface="Tahoma" pitchFamily="34" charset="-120"/>
              </a:rPr>
              <a:t>چون اثباتش نشد</a:t>
            </a:r>
            <a:endParaRPr lang="en-US" sz="1100" dirty="0"/>
          </a:p>
        </p:txBody>
      </p:sp>
      <p:sp>
        <p:nvSpPr>
          <p:cNvPr id="19" name="Shape 17"/>
          <p:cNvSpPr/>
          <p:nvPr/>
        </p:nvSpPr>
        <p:spPr>
          <a:xfrm>
            <a:off x="566928" y="4846320"/>
            <a:ext cx="11027664" cy="1371600"/>
          </a:xfrm>
          <a:prstGeom prst="roundRect">
            <a:avLst>
              <a:gd name="adj" fmla="val 6667"/>
            </a:avLst>
          </a:prstGeom>
          <a:solidFill>
            <a:srgbClr val="FDF6EC"/>
          </a:solidFill>
          <a:ln w="12700">
            <a:solidFill>
              <a:srgbClr val="F0DCC0"/>
            </a:solidFill>
            <a:prstDash val="solid"/>
          </a:ln>
        </p:spPr>
      </p:sp>
      <p:sp>
        <p:nvSpPr>
          <p:cNvPr id="20" name="Text 18"/>
          <p:cNvSpPr/>
          <p:nvPr/>
        </p:nvSpPr>
        <p:spPr>
          <a:xfrm>
            <a:off x="804672" y="4956048"/>
            <a:ext cx="10552176" cy="329184"/>
          </a:xfrm>
          <a:prstGeom prst="rect">
            <a:avLst/>
          </a:prstGeom>
          <a:noFill/>
          <a:ln/>
        </p:spPr>
        <p:txBody>
          <a:bodyPr wrap="square" lIns="0" tIns="0" rIns="0" bIns="0" rtlCol="0" anchor="ctr"/>
          <a:lstStyle/>
          <a:p>
            <a:pPr rtl="1" algn="r" indent="0" marL="0">
              <a:buNone/>
            </a:pPr>
            <a:r>
              <a:rPr lang="en-US" sz="1500" b="1" dirty="0">
                <a:solidFill>
                  <a:srgbClr val="C77700"/>
                </a:solidFill>
                <a:latin typeface="Tahoma" pitchFamily="34" charset="0"/>
                <a:ea typeface="Tahoma" pitchFamily="34" charset="-122"/>
                <a:cs typeface="Tahoma" pitchFamily="34" charset="-120"/>
              </a:rPr>
              <a:t>و یک‌بار، نه سه‌بار</a:t>
            </a:r>
            <a:endParaRPr lang="en-US" sz="1500" dirty="0"/>
          </a:p>
        </p:txBody>
      </p:sp>
      <p:sp>
        <p:nvSpPr>
          <p:cNvPr id="21" name="Text 19"/>
          <p:cNvSpPr/>
          <p:nvPr/>
        </p:nvSpPr>
        <p:spPr>
          <a:xfrm>
            <a:off x="804672" y="5303520"/>
            <a:ext cx="10552176" cy="859536"/>
          </a:xfrm>
          <a:prstGeom prst="rect">
            <a:avLst/>
          </a:prstGeom>
          <a:noFill/>
          <a:ln/>
        </p:spPr>
        <p:txBody>
          <a:bodyPr wrap="square" lIns="0" tIns="0" rIns="0" bIns="0" rtlCol="0" anchor="t"/>
          <a:lstStyle/>
          <a:p>
            <a:pPr rtl="1" algn="r" indent="0" marL="0">
              <a:buNone/>
            </a:pPr>
            <a:r>
              <a:rPr lang="en-US" sz="1250" dirty="0">
                <a:solidFill>
                  <a:srgbClr val="15192E"/>
                </a:solidFill>
                <a:latin typeface="Tahoma" pitchFamily="34" charset="0"/>
                <a:ea typeface="Tahoma" pitchFamily="34" charset="-122"/>
                <a:cs typeface="Tahoma" pitchFamily="34" charset="-120"/>
              </a:rPr>
              <a:t>کف اندازه‌گیری‌شده جمع‌پذیر است چون رویدادهای مجزاست، ولی «ارزش در خطر» در سطح مشتری حساب می‌شود — یک مشتری یک‌بار می‌رود، نه یک‌بار به‌ازای هر منبع. نسخهٔ اول همین را اشتباه می‌کرد و ۳۱٫۶ میلیون نشان می‌داد؛ پس از اصلاح ۱۹٫۰ میلیون شد.</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768096"/>
          </a:xfrm>
          <a:prstGeom prst="rect">
            <a:avLst/>
          </a:prstGeom>
          <a:noFill/>
          <a:ln/>
        </p:spPr>
        <p:txBody>
          <a:bodyPr wrap="square" lIns="0" tIns="0" rIns="0" bIns="0" rtlCol="0" anchor="ctr"/>
          <a:lstStyle/>
          <a:p>
            <a:pPr rtl="1" algn="r" indent="0" marL="0">
              <a:buNone/>
            </a:pPr>
            <a:r>
              <a:rPr lang="en-US" sz="3100" b="1" dirty="0">
                <a:solidFill>
                  <a:srgbClr val="15192E"/>
                </a:solidFill>
                <a:latin typeface="Tahoma" pitchFamily="34" charset="0"/>
                <a:ea typeface="Tahoma" pitchFamily="34" charset="-122"/>
                <a:cs typeface="Tahoma" pitchFamily="34" charset="-120"/>
              </a:rPr>
              <a:t>پیوست ۴ — محدودیت‌ها، بدون لاپوشانی</a:t>
            </a:r>
            <a:endParaRPr lang="en-US" sz="3100" dirty="0"/>
          </a:p>
        </p:txBody>
      </p:sp>
      <p:sp>
        <p:nvSpPr>
          <p:cNvPr id="3" name="Text 1"/>
          <p:cNvSpPr/>
          <p:nvPr/>
        </p:nvSpPr>
        <p:spPr>
          <a:xfrm>
            <a:off x="566928" y="1115568"/>
            <a:ext cx="11027664" cy="420624"/>
          </a:xfrm>
          <a:prstGeom prst="rect">
            <a:avLst/>
          </a:prstGeom>
          <a:noFill/>
          <a:ln/>
        </p:spPr>
        <p:txBody>
          <a:bodyPr wrap="square" lIns="0" tIns="0" rIns="0" bIns="0" rtlCol="0" anchor="t"/>
          <a:lstStyle/>
          <a:p>
            <a:pPr rtl="1" algn="r" indent="0" marL="0">
              <a:buNone/>
            </a:pPr>
            <a:r>
              <a:rPr lang="en-US" sz="1400" dirty="0">
                <a:solidFill>
                  <a:srgbClr val="5B6178"/>
                </a:solidFill>
                <a:latin typeface="Tahoma" pitchFamily="34" charset="0"/>
                <a:ea typeface="Tahoma" pitchFamily="34" charset="-122"/>
                <a:cs typeface="Tahoma" pitchFamily="34" charset="-120"/>
              </a:rPr>
              <a:t>هر کدام روی خود صفحهٔ محصول هم نوشته شده است.</a:t>
            </a:r>
            <a:endParaRPr lang="en-US" sz="1400" dirty="0"/>
          </a:p>
        </p:txBody>
      </p:sp>
      <p:sp>
        <p:nvSpPr>
          <p:cNvPr id="4" name="Shape 2"/>
          <p:cNvSpPr/>
          <p:nvPr/>
        </p:nvSpPr>
        <p:spPr>
          <a:xfrm>
            <a:off x="566928" y="1719072"/>
            <a:ext cx="11027664" cy="987552"/>
          </a:xfrm>
          <a:prstGeom prst="roundRect">
            <a:avLst>
              <a:gd name="adj" fmla="val 9259"/>
            </a:avLst>
          </a:prstGeom>
          <a:solidFill>
            <a:srgbClr val="F4F6FB"/>
          </a:solidFill>
          <a:ln w="12700">
            <a:solidFill>
              <a:srgbClr val="DDE3F0"/>
            </a:solidFill>
            <a:prstDash val="solid"/>
          </a:ln>
        </p:spPr>
      </p:sp>
      <p:sp>
        <p:nvSpPr>
          <p:cNvPr id="5" name="Text 3"/>
          <p:cNvSpPr/>
          <p:nvPr/>
        </p:nvSpPr>
        <p:spPr>
          <a:xfrm>
            <a:off x="804672" y="1828800"/>
            <a:ext cx="10552176" cy="310896"/>
          </a:xfrm>
          <a:prstGeom prst="rect">
            <a:avLst/>
          </a:prstGeom>
          <a:noFill/>
          <a:ln/>
        </p:spPr>
        <p:txBody>
          <a:bodyPr wrap="square" lIns="0" tIns="0" rIns="0" bIns="0" rtlCol="0" anchor="ctr"/>
          <a:lstStyle/>
          <a:p>
            <a:pPr rtl="1" algn="r" indent="0" marL="0">
              <a:buNone/>
            </a:pPr>
            <a:r>
              <a:rPr lang="en-US" sz="1400" b="1" dirty="0">
                <a:solidFill>
                  <a:srgbClr val="A4161A"/>
                </a:solidFill>
                <a:latin typeface="Tahoma" pitchFamily="34" charset="0"/>
                <a:ea typeface="Tahoma" pitchFamily="34" charset="-122"/>
                <a:cs typeface="Tahoma" pitchFamily="34" charset="-120"/>
              </a:rPr>
              <a:t>نرخ ۴٪ ماهانه فرض بیرونی است</a:t>
            </a:r>
            <a:endParaRPr lang="en-US" sz="1400" dirty="0"/>
          </a:p>
        </p:txBody>
      </p:sp>
      <p:sp>
        <p:nvSpPr>
          <p:cNvPr id="6" name="Text 4"/>
          <p:cNvSpPr/>
          <p:nvPr/>
        </p:nvSpPr>
        <p:spPr>
          <a:xfrm>
            <a:off x="804672" y="2139696"/>
            <a:ext cx="10552176" cy="548640"/>
          </a:xfrm>
          <a:prstGeom prst="rect">
            <a:avLst/>
          </a:prstGeom>
          <a:noFill/>
          <a:ln/>
        </p:spPr>
        <p:txBody>
          <a:bodyPr wrap="square" lIns="0" tIns="0" rIns="0" bIns="0" rtlCol="0" anchor="t"/>
          <a:lstStyle/>
          <a:p>
            <a:pPr rtl="1" algn="r" indent="0" marL="0">
              <a:buNone/>
            </a:pPr>
            <a:r>
              <a:rPr lang="en-US" sz="1150" dirty="0">
                <a:solidFill>
                  <a:srgbClr val="15192E"/>
                </a:solidFill>
                <a:latin typeface="Tahoma" pitchFamily="34" charset="0"/>
                <a:ea typeface="Tahoma" pitchFamily="34" charset="-122"/>
                <a:cs typeface="Tahoma" pitchFamily="34" charset="-120"/>
              </a:rPr>
              <a:t>کل نتیجه‌گیری «سود واقعی سبد منفی است» به آن وابسته است. در داشبورد لغزنده است: در ۰٪ سود واقعی ۴۴۳ میلیون، در ۸٪ منفی ۴۹۴ میلیون. آنچه وابسته نیست: پول ۵۴ روز قفل می‌ماند و مارک‌آپ اعتبار ثبت نشده — این دو اندازه‌گیری‌اند.</a:t>
            </a:r>
            <a:endParaRPr lang="en-US" sz="1150" dirty="0"/>
          </a:p>
        </p:txBody>
      </p:sp>
      <p:sp>
        <p:nvSpPr>
          <p:cNvPr id="7" name="Shape 5"/>
          <p:cNvSpPr/>
          <p:nvPr/>
        </p:nvSpPr>
        <p:spPr>
          <a:xfrm>
            <a:off x="566928" y="2907792"/>
            <a:ext cx="11027664" cy="987552"/>
          </a:xfrm>
          <a:prstGeom prst="roundRect">
            <a:avLst>
              <a:gd name="adj" fmla="val 9259"/>
            </a:avLst>
          </a:prstGeom>
          <a:solidFill>
            <a:srgbClr val="F4F6FB"/>
          </a:solidFill>
          <a:ln w="12700">
            <a:solidFill>
              <a:srgbClr val="DDE3F0"/>
            </a:solidFill>
            <a:prstDash val="solid"/>
          </a:ln>
        </p:spPr>
      </p:sp>
      <p:sp>
        <p:nvSpPr>
          <p:cNvPr id="8" name="Text 6"/>
          <p:cNvSpPr/>
          <p:nvPr/>
        </p:nvSpPr>
        <p:spPr>
          <a:xfrm>
            <a:off x="804672" y="3017520"/>
            <a:ext cx="10552176" cy="310896"/>
          </a:xfrm>
          <a:prstGeom prst="rect">
            <a:avLst/>
          </a:prstGeom>
          <a:noFill/>
          <a:ln/>
        </p:spPr>
        <p:txBody>
          <a:bodyPr wrap="square" lIns="0" tIns="0" rIns="0" bIns="0" rtlCol="0" anchor="ctr"/>
          <a:lstStyle/>
          <a:p>
            <a:pPr rtl="1" algn="r" indent="0" marL="0">
              <a:buNone/>
            </a:pPr>
            <a:r>
              <a:rPr lang="en-US" sz="1400" b="1" dirty="0">
                <a:solidFill>
                  <a:srgbClr val="A4161A"/>
                </a:solidFill>
                <a:latin typeface="Tahoma" pitchFamily="34" charset="0"/>
                <a:ea typeface="Tahoma" pitchFamily="34" charset="-122"/>
                <a:cs typeface="Tahoma" pitchFamily="34" charset="-120"/>
              </a:rPr>
              <a:t>۶۸٪ خطوط بهای تمام‌شدهٔ برآوردی دارند</a:t>
            </a:r>
            <a:endParaRPr lang="en-US" sz="1400" dirty="0"/>
          </a:p>
        </p:txBody>
      </p:sp>
      <p:sp>
        <p:nvSpPr>
          <p:cNvPr id="9" name="Text 7"/>
          <p:cNvSpPr/>
          <p:nvPr/>
        </p:nvSpPr>
        <p:spPr>
          <a:xfrm>
            <a:off x="804672" y="3328416"/>
            <a:ext cx="10552176" cy="548640"/>
          </a:xfrm>
          <a:prstGeom prst="rect">
            <a:avLst/>
          </a:prstGeom>
          <a:noFill/>
          <a:ln/>
        </p:spPr>
        <p:txBody>
          <a:bodyPr wrap="square" lIns="0" tIns="0" rIns="0" bIns="0" rtlCol="0" anchor="t"/>
          <a:lstStyle/>
          <a:p>
            <a:pPr rtl="1" algn="r" indent="0" marL="0">
              <a:buNone/>
            </a:pPr>
            <a:r>
              <a:rPr lang="en-US" sz="1150" dirty="0">
                <a:solidFill>
                  <a:srgbClr val="15192E"/>
                </a:solidFill>
                <a:latin typeface="Tahoma" pitchFamily="34" charset="0"/>
                <a:ea typeface="Tahoma" pitchFamily="34" charset="-122"/>
                <a:cs typeface="Tahoma" pitchFamily="34" charset="-120"/>
              </a:rPr>
              <a:t>حاشیه حدود ۵ واحد خوش‌بینانه‌تر است. سهم مبنا کنار هر عدد حاشیه روی صفحه نوشته می‌شود.</a:t>
            </a:r>
            <a:endParaRPr lang="en-US" sz="1150" dirty="0"/>
          </a:p>
        </p:txBody>
      </p:sp>
      <p:sp>
        <p:nvSpPr>
          <p:cNvPr id="10" name="Shape 8"/>
          <p:cNvSpPr/>
          <p:nvPr/>
        </p:nvSpPr>
        <p:spPr>
          <a:xfrm>
            <a:off x="566928" y="4096512"/>
            <a:ext cx="11027664" cy="987552"/>
          </a:xfrm>
          <a:prstGeom prst="roundRect">
            <a:avLst>
              <a:gd name="adj" fmla="val 9259"/>
            </a:avLst>
          </a:prstGeom>
          <a:solidFill>
            <a:srgbClr val="F4F6FB"/>
          </a:solidFill>
          <a:ln w="12700">
            <a:solidFill>
              <a:srgbClr val="DDE3F0"/>
            </a:solidFill>
            <a:prstDash val="solid"/>
          </a:ln>
        </p:spPr>
      </p:sp>
      <p:sp>
        <p:nvSpPr>
          <p:cNvPr id="11" name="Text 9"/>
          <p:cNvSpPr/>
          <p:nvPr/>
        </p:nvSpPr>
        <p:spPr>
          <a:xfrm>
            <a:off x="804672" y="4206240"/>
            <a:ext cx="10552176" cy="310896"/>
          </a:xfrm>
          <a:prstGeom prst="rect">
            <a:avLst/>
          </a:prstGeom>
          <a:noFill/>
          <a:ln/>
        </p:spPr>
        <p:txBody>
          <a:bodyPr wrap="square" lIns="0" tIns="0" rIns="0" bIns="0" rtlCol="0" anchor="ctr"/>
          <a:lstStyle/>
          <a:p>
            <a:pPr rtl="1" algn="r" indent="0" marL="0">
              <a:buNone/>
            </a:pPr>
            <a:r>
              <a:rPr lang="en-US" sz="1400" b="1" dirty="0">
                <a:solidFill>
                  <a:srgbClr val="A4161A"/>
                </a:solidFill>
                <a:latin typeface="Tahoma" pitchFamily="34" charset="0"/>
                <a:ea typeface="Tahoma" pitchFamily="34" charset="-122"/>
                <a:cs typeface="Tahoma" pitchFamily="34" charset="-120"/>
              </a:rPr>
              <a:t>سهم از سبد، برآورد کارشناس است</a:t>
            </a:r>
            <a:endParaRPr lang="en-US" sz="1400" dirty="0"/>
          </a:p>
        </p:txBody>
      </p:sp>
      <p:sp>
        <p:nvSpPr>
          <p:cNvPr id="12" name="Text 10"/>
          <p:cNvSpPr/>
          <p:nvPr/>
        </p:nvSpPr>
        <p:spPr>
          <a:xfrm>
            <a:off x="804672" y="4517136"/>
            <a:ext cx="10552176" cy="548640"/>
          </a:xfrm>
          <a:prstGeom prst="rect">
            <a:avLst/>
          </a:prstGeom>
          <a:noFill/>
          <a:ln/>
        </p:spPr>
        <p:txBody>
          <a:bodyPr wrap="square" lIns="0" tIns="0" rIns="0" bIns="0" rtlCol="0" anchor="t"/>
          <a:lstStyle/>
          <a:p>
            <a:pPr rtl="1" algn="r" indent="0" marL="0">
              <a:buNone/>
            </a:pPr>
            <a:r>
              <a:rPr lang="en-US" sz="1150" dirty="0">
                <a:solidFill>
                  <a:srgbClr val="15192E"/>
                </a:solidFill>
                <a:latin typeface="Tahoma" pitchFamily="34" charset="0"/>
                <a:ea typeface="Tahoma" pitchFamily="34" charset="-122"/>
                <a:cs typeface="Tahoma" pitchFamily="34" charset="-120"/>
              </a:rPr>
              <a:t>اندازه‌گیری نیست. هرجا استفاده شده، «سقف» نامیده شده نه انتظار.</a:t>
            </a:r>
            <a:endParaRPr lang="en-US" sz="1150" dirty="0"/>
          </a:p>
        </p:txBody>
      </p:sp>
      <p:sp>
        <p:nvSpPr>
          <p:cNvPr id="13" name="Shape 11"/>
          <p:cNvSpPr/>
          <p:nvPr/>
        </p:nvSpPr>
        <p:spPr>
          <a:xfrm>
            <a:off x="566928" y="5285232"/>
            <a:ext cx="11027664" cy="987552"/>
          </a:xfrm>
          <a:prstGeom prst="roundRect">
            <a:avLst>
              <a:gd name="adj" fmla="val 9259"/>
            </a:avLst>
          </a:prstGeom>
          <a:solidFill>
            <a:srgbClr val="F4F6FB"/>
          </a:solidFill>
          <a:ln w="12700">
            <a:solidFill>
              <a:srgbClr val="DDE3F0"/>
            </a:solidFill>
            <a:prstDash val="solid"/>
          </a:ln>
        </p:spPr>
      </p:sp>
      <p:sp>
        <p:nvSpPr>
          <p:cNvPr id="14" name="Text 12"/>
          <p:cNvSpPr/>
          <p:nvPr/>
        </p:nvSpPr>
        <p:spPr>
          <a:xfrm>
            <a:off x="804672" y="5394960"/>
            <a:ext cx="10552176" cy="310896"/>
          </a:xfrm>
          <a:prstGeom prst="rect">
            <a:avLst/>
          </a:prstGeom>
          <a:noFill/>
          <a:ln/>
        </p:spPr>
        <p:txBody>
          <a:bodyPr wrap="square" lIns="0" tIns="0" rIns="0" bIns="0" rtlCol="0" anchor="ctr"/>
          <a:lstStyle/>
          <a:p>
            <a:pPr rtl="1" algn="r" indent="0" marL="0">
              <a:buNone/>
            </a:pPr>
            <a:r>
              <a:rPr lang="en-US" sz="1400" b="1" dirty="0">
                <a:solidFill>
                  <a:srgbClr val="A4161A"/>
                </a:solidFill>
                <a:latin typeface="Tahoma" pitchFamily="34" charset="0"/>
                <a:ea typeface="Tahoma" pitchFamily="34" charset="-122"/>
                <a:cs typeface="Tahoma" pitchFamily="34" charset="-120"/>
              </a:rPr>
              <a:t>اثر رسیدگی بر خرید بعدی اثبات نشد</a:t>
            </a:r>
            <a:endParaRPr lang="en-US" sz="1400" dirty="0"/>
          </a:p>
        </p:txBody>
      </p:sp>
      <p:sp>
        <p:nvSpPr>
          <p:cNvPr id="15" name="Text 13"/>
          <p:cNvSpPr/>
          <p:nvPr/>
        </p:nvSpPr>
        <p:spPr>
          <a:xfrm>
            <a:off x="804672" y="5705856"/>
            <a:ext cx="10552176" cy="548640"/>
          </a:xfrm>
          <a:prstGeom prst="rect">
            <a:avLst/>
          </a:prstGeom>
          <a:noFill/>
          <a:ln/>
        </p:spPr>
        <p:txBody>
          <a:bodyPr wrap="square" lIns="0" tIns="0" rIns="0" bIns="0" rtlCol="0" anchor="t"/>
          <a:lstStyle/>
          <a:p>
            <a:pPr rtl="1" algn="r" indent="0" marL="0">
              <a:buNone/>
            </a:pPr>
            <a:r>
              <a:rPr lang="en-US" sz="1150" dirty="0">
                <a:solidFill>
                  <a:srgbClr val="15192E"/>
                </a:solidFill>
                <a:latin typeface="Tahoma" pitchFamily="34" charset="0"/>
                <a:ea typeface="Tahoma" pitchFamily="34" charset="-122"/>
                <a:cs typeface="Tahoma" pitchFamily="34" charset="-120"/>
              </a:rPr>
              <a:t>چهار آزمون، p بین ۰٫۴۰ و ۰٫۵۵. برای همین عدد مرکز سیگنال «از‌دست‌رفتنی» است نه «افزایشی».</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768096"/>
          </a:xfrm>
          <a:prstGeom prst="rect">
            <a:avLst/>
          </a:prstGeom>
          <a:noFill/>
          <a:ln/>
        </p:spPr>
        <p:txBody>
          <a:bodyPr wrap="square" lIns="0" tIns="0" rIns="0" bIns="0" rtlCol="0" anchor="ctr"/>
          <a:lstStyle/>
          <a:p>
            <a:pPr rtl="1" algn="r" indent="0" marL="0">
              <a:buNone/>
            </a:pPr>
            <a:r>
              <a:rPr lang="en-US" sz="3100" b="1" dirty="0">
                <a:solidFill>
                  <a:srgbClr val="15192E"/>
                </a:solidFill>
                <a:latin typeface="Tahoma" pitchFamily="34" charset="0"/>
                <a:ea typeface="Tahoma" pitchFamily="34" charset="-122"/>
                <a:cs typeface="Tahoma" pitchFamily="34" charset="-120"/>
              </a:rPr>
              <a:t>پیوست ۵ — معماری فنی</a:t>
            </a:r>
            <a:endParaRPr lang="en-US" sz="3100" dirty="0"/>
          </a:p>
        </p:txBody>
      </p:sp>
      <p:sp>
        <p:nvSpPr>
          <p:cNvPr id="3" name="Text 1"/>
          <p:cNvSpPr/>
          <p:nvPr/>
        </p:nvSpPr>
        <p:spPr>
          <a:xfrm>
            <a:off x="566928" y="1115568"/>
            <a:ext cx="11027664" cy="420624"/>
          </a:xfrm>
          <a:prstGeom prst="rect">
            <a:avLst/>
          </a:prstGeom>
          <a:noFill/>
          <a:ln/>
        </p:spPr>
        <p:txBody>
          <a:bodyPr wrap="square" lIns="0" tIns="0" rIns="0" bIns="0" rtlCol="0" anchor="t"/>
          <a:lstStyle/>
          <a:p>
            <a:pPr rtl="1" algn="r" indent="0" marL="0">
              <a:buNone/>
            </a:pPr>
            <a:r>
              <a:rPr lang="en-US" sz="1400" dirty="0">
                <a:solidFill>
                  <a:srgbClr val="5B6178"/>
                </a:solidFill>
                <a:latin typeface="Tahoma" pitchFamily="34" charset="0"/>
                <a:ea typeface="Tahoma" pitchFamily="34" charset="-122"/>
                <a:cs typeface="Tahoma" pitchFamily="34" charset="-120"/>
              </a:rPr>
              <a:t>بدون سرویس بیرونی؛ دمو در شبکهٔ قطع هم کار می‌کند.</a:t>
            </a:r>
            <a:endParaRPr lang="en-US" sz="1400" dirty="0"/>
          </a:p>
        </p:txBody>
      </p:sp>
      <p:sp>
        <p:nvSpPr>
          <p:cNvPr id="4" name="Shape 2"/>
          <p:cNvSpPr/>
          <p:nvPr/>
        </p:nvSpPr>
        <p:spPr>
          <a:xfrm>
            <a:off x="8052816" y="1755648"/>
            <a:ext cx="3541776" cy="2523744"/>
          </a:xfrm>
          <a:prstGeom prst="roundRect">
            <a:avLst>
              <a:gd name="adj" fmla="val 3623"/>
            </a:avLst>
          </a:prstGeom>
          <a:solidFill>
            <a:srgbClr val="F4F6FB"/>
          </a:solidFill>
          <a:ln w="12700">
            <a:solidFill>
              <a:srgbClr val="DDE3F0"/>
            </a:solidFill>
            <a:prstDash val="solid"/>
          </a:ln>
        </p:spPr>
      </p:sp>
      <p:sp>
        <p:nvSpPr>
          <p:cNvPr id="5" name="Text 3"/>
          <p:cNvSpPr/>
          <p:nvPr/>
        </p:nvSpPr>
        <p:spPr>
          <a:xfrm>
            <a:off x="8253984" y="1901952"/>
            <a:ext cx="3139440" cy="384048"/>
          </a:xfrm>
          <a:prstGeom prst="rect">
            <a:avLst/>
          </a:prstGeom>
          <a:noFill/>
          <a:ln/>
        </p:spPr>
        <p:txBody>
          <a:bodyPr wrap="square" lIns="0" tIns="0" rIns="0" bIns="0" rtlCol="0" anchor="ctr"/>
          <a:lstStyle/>
          <a:p>
            <a:pPr rtl="1" algn="r" indent="0" marL="0">
              <a:buNone/>
            </a:pPr>
            <a:r>
              <a:rPr lang="en-US" sz="1700" b="1" dirty="0">
                <a:solidFill>
                  <a:srgbClr val="1E2761"/>
                </a:solidFill>
                <a:latin typeface="Tahoma" pitchFamily="34" charset="0"/>
                <a:ea typeface="Tahoma" pitchFamily="34" charset="-122"/>
                <a:cs typeface="Tahoma" pitchFamily="34" charset="-120"/>
              </a:rPr>
              <a:t>لایهٔ داده</a:t>
            </a:r>
            <a:endParaRPr lang="en-US" sz="1700" dirty="0"/>
          </a:p>
        </p:txBody>
      </p:sp>
      <p:sp>
        <p:nvSpPr>
          <p:cNvPr id="6" name="Text 4"/>
          <p:cNvSpPr/>
          <p:nvPr/>
        </p:nvSpPr>
        <p:spPr>
          <a:xfrm>
            <a:off x="8253984" y="2359152"/>
            <a:ext cx="3139440" cy="1947672"/>
          </a:xfrm>
          <a:prstGeom prst="rect">
            <a:avLst/>
          </a:prstGeom>
          <a:noFill/>
          <a:ln/>
        </p:spPr>
        <p:txBody>
          <a:bodyPr wrap="square" lIns="0" tIns="0" rIns="0" bIns="0" rtlCol="0" anchor="t"/>
          <a:lstStyle/>
          <a:p>
            <a:pPr algn="r" indent="0" marL="0">
              <a:lnSpc>
                <a:spcPct val="116000"/>
              </a:lnSpc>
              <a:spcAft>
                <a:spcPts val="800"/>
              </a:spcAft>
              <a:buNone/>
            </a:pPr>
            <a:r>
              <a:rPr lang="en-US" sz="1150" dirty="0">
                <a:solidFill>
                  <a:srgbClr val="15192E"/>
                </a:solidFill>
                <a:latin typeface="Tahoma" pitchFamily="34" charset="0"/>
                <a:ea typeface="Tahoma" pitchFamily="34" charset="-122"/>
                <a:cs typeface="Tahoma" pitchFamily="34" charset="-120"/>
              </a:rPr>
              <a:t>‏• ‏پاک‌سازی و یکپارچه‌سازی ۱۶ شیت اکسل</a:t>
            </a:r>
            <a:endParaRPr lang="en-US" sz="1150" dirty="0"/>
          </a:p>
          <a:p>
            <a:pPr algn="r" indent="0" marL="0">
              <a:lnSpc>
                <a:spcPct val="116000"/>
              </a:lnSpc>
              <a:spcAft>
                <a:spcPts val="800"/>
              </a:spcAft>
              <a:buNone/>
            </a:pPr>
            <a:r>
              <a:rPr lang="en-US" sz="1150" dirty="0">
                <a:solidFill>
                  <a:srgbClr val="15192E"/>
                </a:solidFill>
                <a:latin typeface="Tahoma" pitchFamily="34" charset="0"/>
                <a:ea typeface="Tahoma" pitchFamily="34" charset="-122"/>
                <a:cs typeface="Tahoma" pitchFamily="34" charset="-120"/>
              </a:rPr>
              <a:t>‏• ‏موتور «در تاریخ» با سانسور نتیجه</a:t>
            </a:r>
            <a:endParaRPr lang="en-US" sz="1150" dirty="0"/>
          </a:p>
          <a:p>
            <a:pPr algn="r" indent="0" marL="0">
              <a:lnSpc>
                <a:spcPct val="116000"/>
              </a:lnSpc>
              <a:spcAft>
                <a:spcPts val="800"/>
              </a:spcAft>
              <a:buNone/>
            </a:pPr>
            <a:r>
              <a:rPr lang="en-US" sz="1150" dirty="0">
                <a:solidFill>
                  <a:srgbClr val="15192E"/>
                </a:solidFill>
                <a:latin typeface="Tahoma" pitchFamily="34" charset="0"/>
                <a:ea typeface="Tahoma" pitchFamily="34" charset="-122"/>
                <a:cs typeface="Tahoma" pitchFamily="34" charset="-120"/>
              </a:rPr>
              <a:t>‏• ‏شاخص قیمت و تعدیل تورم</a:t>
            </a:r>
            <a:endParaRPr lang="en-US" sz="1150" dirty="0"/>
          </a:p>
          <a:p>
            <a:pPr algn="r" indent="0" marL="0">
              <a:lnSpc>
                <a:spcPct val="116000"/>
              </a:lnSpc>
              <a:spcAft>
                <a:spcPts val="800"/>
              </a:spcAft>
              <a:buNone/>
            </a:pPr>
            <a:r>
              <a:rPr lang="en-US" sz="1150" dirty="0">
                <a:solidFill>
                  <a:srgbClr val="15192E"/>
                </a:solidFill>
                <a:latin typeface="Tahoma" pitchFamily="34" charset="0"/>
                <a:ea typeface="Tahoma" pitchFamily="34" charset="-122"/>
                <a:cs typeface="Tahoma" pitchFamily="34" charset="-120"/>
              </a:rPr>
              <a:t>‏• ‏یکسان‌سازی نیم‌فاصله و ی/ک عربی</a:t>
            </a:r>
            <a:endParaRPr lang="en-US" sz="1150" dirty="0"/>
          </a:p>
        </p:txBody>
      </p:sp>
      <p:sp>
        <p:nvSpPr>
          <p:cNvPr id="7" name="Shape 5"/>
          <p:cNvSpPr/>
          <p:nvPr/>
        </p:nvSpPr>
        <p:spPr>
          <a:xfrm>
            <a:off x="4309872" y="1755648"/>
            <a:ext cx="3541776" cy="2523744"/>
          </a:xfrm>
          <a:prstGeom prst="roundRect">
            <a:avLst>
              <a:gd name="adj" fmla="val 3623"/>
            </a:avLst>
          </a:prstGeom>
          <a:solidFill>
            <a:srgbClr val="F4F6FB"/>
          </a:solidFill>
          <a:ln w="12700">
            <a:solidFill>
              <a:srgbClr val="DDE3F0"/>
            </a:solidFill>
            <a:prstDash val="solid"/>
          </a:ln>
        </p:spPr>
      </p:sp>
      <p:sp>
        <p:nvSpPr>
          <p:cNvPr id="8" name="Text 6"/>
          <p:cNvSpPr/>
          <p:nvPr/>
        </p:nvSpPr>
        <p:spPr>
          <a:xfrm>
            <a:off x="4511040" y="1901952"/>
            <a:ext cx="3139440" cy="384048"/>
          </a:xfrm>
          <a:prstGeom prst="rect">
            <a:avLst/>
          </a:prstGeom>
          <a:noFill/>
          <a:ln/>
        </p:spPr>
        <p:txBody>
          <a:bodyPr wrap="square" lIns="0" tIns="0" rIns="0" bIns="0" rtlCol="0" anchor="ctr"/>
          <a:lstStyle/>
          <a:p>
            <a:pPr rtl="1" algn="r" indent="0" marL="0">
              <a:buNone/>
            </a:pPr>
            <a:r>
              <a:rPr lang="en-US" sz="1700" b="1" dirty="0">
                <a:solidFill>
                  <a:srgbClr val="1E2761"/>
                </a:solidFill>
                <a:latin typeface="Tahoma" pitchFamily="34" charset="0"/>
                <a:ea typeface="Tahoma" pitchFamily="34" charset="-122"/>
                <a:cs typeface="Tahoma" pitchFamily="34" charset="-120"/>
              </a:rPr>
              <a:t>لایهٔ تحلیل</a:t>
            </a:r>
            <a:endParaRPr lang="en-US" sz="1700" dirty="0"/>
          </a:p>
        </p:txBody>
      </p:sp>
      <p:sp>
        <p:nvSpPr>
          <p:cNvPr id="9" name="Text 7"/>
          <p:cNvSpPr/>
          <p:nvPr/>
        </p:nvSpPr>
        <p:spPr>
          <a:xfrm>
            <a:off x="4511040" y="2359152"/>
            <a:ext cx="3139440" cy="1947672"/>
          </a:xfrm>
          <a:prstGeom prst="rect">
            <a:avLst/>
          </a:prstGeom>
          <a:noFill/>
          <a:ln/>
        </p:spPr>
        <p:txBody>
          <a:bodyPr wrap="square" lIns="0" tIns="0" rIns="0" bIns="0" rtlCol="0" anchor="t"/>
          <a:lstStyle/>
          <a:p>
            <a:pPr algn="r" indent="0" marL="0">
              <a:lnSpc>
                <a:spcPct val="116000"/>
              </a:lnSpc>
              <a:spcAft>
                <a:spcPts val="800"/>
              </a:spcAft>
              <a:buNone/>
            </a:pPr>
            <a:r>
              <a:rPr lang="en-US" sz="1150" dirty="0">
                <a:solidFill>
                  <a:srgbClr val="15192E"/>
                </a:solidFill>
                <a:latin typeface="Tahoma" pitchFamily="34" charset="0"/>
                <a:ea typeface="Tahoma" pitchFamily="34" charset="-122"/>
                <a:cs typeface="Tahoma" pitchFamily="34" charset="-120"/>
              </a:rPr>
              <a:t>‏• ‏مهندسی ۸۹ ویژگی و بخش‌بندی روی سود واقعی</a:t>
            </a:r>
            <a:endParaRPr lang="en-US" sz="1150" dirty="0"/>
          </a:p>
          <a:p>
            <a:pPr algn="r" indent="0" marL="0">
              <a:lnSpc>
                <a:spcPct val="116000"/>
              </a:lnSpc>
              <a:spcAft>
                <a:spcPts val="800"/>
              </a:spcAft>
              <a:buNone/>
            </a:pPr>
            <a:r>
              <a:rPr lang="en-US" sz="1150" dirty="0">
                <a:solidFill>
                  <a:srgbClr val="15192E"/>
                </a:solidFill>
                <a:latin typeface="Tahoma" pitchFamily="34" charset="0"/>
                <a:ea typeface="Tahoma" pitchFamily="34" charset="-122"/>
                <a:cs typeface="Tahoma" pitchFamily="34" charset="-120"/>
              </a:rPr>
              <a:t>‏• ‏هزینهٔ پول و حاشیهٔ واقعی هر حساب</a:t>
            </a:r>
            <a:endParaRPr lang="en-US" sz="1150" dirty="0"/>
          </a:p>
          <a:p>
            <a:pPr algn="r" indent="0" marL="0">
              <a:lnSpc>
                <a:spcPct val="116000"/>
              </a:lnSpc>
              <a:spcAft>
                <a:spcPts val="800"/>
              </a:spcAft>
              <a:buNone/>
            </a:pPr>
            <a:r>
              <a:rPr lang="en-US" sz="1150" dirty="0">
                <a:solidFill>
                  <a:srgbClr val="15192E"/>
                </a:solidFill>
                <a:latin typeface="Tahoma" pitchFamily="34" charset="0"/>
                <a:ea typeface="Tahoma" pitchFamily="34" charset="-122"/>
                <a:cs typeface="Tahoma" pitchFamily="34" charset="-120"/>
              </a:rPr>
              <a:t>‏• ‏پنج موتور: کارتابل، دوره، آفر، سیگنال، ارجاع</a:t>
            </a:r>
            <a:endParaRPr lang="en-US" sz="1150" dirty="0"/>
          </a:p>
          <a:p>
            <a:pPr algn="r" indent="0" marL="0">
              <a:lnSpc>
                <a:spcPct val="116000"/>
              </a:lnSpc>
              <a:spcAft>
                <a:spcPts val="800"/>
              </a:spcAft>
              <a:buNone/>
            </a:pPr>
            <a:r>
              <a:rPr lang="en-US" sz="1150" dirty="0">
                <a:solidFill>
                  <a:srgbClr val="15192E"/>
                </a:solidFill>
                <a:latin typeface="Tahoma" pitchFamily="34" charset="0"/>
                <a:ea typeface="Tahoma" pitchFamily="34" charset="-122"/>
                <a:cs typeface="Tahoma" pitchFamily="34" charset="-120"/>
              </a:rPr>
              <a:t>‏• ‏بک‌تست خارج از نمونه با تصحیح اریبی</a:t>
            </a:r>
            <a:endParaRPr lang="en-US" sz="1150" dirty="0"/>
          </a:p>
        </p:txBody>
      </p:sp>
      <p:sp>
        <p:nvSpPr>
          <p:cNvPr id="10" name="Shape 8"/>
          <p:cNvSpPr/>
          <p:nvPr/>
        </p:nvSpPr>
        <p:spPr>
          <a:xfrm>
            <a:off x="566928" y="1755648"/>
            <a:ext cx="3541776" cy="2523744"/>
          </a:xfrm>
          <a:prstGeom prst="roundRect">
            <a:avLst>
              <a:gd name="adj" fmla="val 3623"/>
            </a:avLst>
          </a:prstGeom>
          <a:solidFill>
            <a:srgbClr val="F4F6FB"/>
          </a:solidFill>
          <a:ln w="12700">
            <a:solidFill>
              <a:srgbClr val="DDE3F0"/>
            </a:solidFill>
            <a:prstDash val="solid"/>
          </a:ln>
        </p:spPr>
      </p:sp>
      <p:sp>
        <p:nvSpPr>
          <p:cNvPr id="11" name="Text 9"/>
          <p:cNvSpPr/>
          <p:nvPr/>
        </p:nvSpPr>
        <p:spPr>
          <a:xfrm>
            <a:off x="768096" y="1901952"/>
            <a:ext cx="3139440" cy="384048"/>
          </a:xfrm>
          <a:prstGeom prst="rect">
            <a:avLst/>
          </a:prstGeom>
          <a:noFill/>
          <a:ln/>
        </p:spPr>
        <p:txBody>
          <a:bodyPr wrap="square" lIns="0" tIns="0" rIns="0" bIns="0" rtlCol="0" anchor="ctr"/>
          <a:lstStyle/>
          <a:p>
            <a:pPr rtl="1" algn="r" indent="0" marL="0">
              <a:buNone/>
            </a:pPr>
            <a:r>
              <a:rPr lang="en-US" sz="1700" b="1" dirty="0">
                <a:solidFill>
                  <a:srgbClr val="1E2761"/>
                </a:solidFill>
                <a:latin typeface="Tahoma" pitchFamily="34" charset="0"/>
                <a:ea typeface="Tahoma" pitchFamily="34" charset="-122"/>
                <a:cs typeface="Tahoma" pitchFamily="34" charset="-120"/>
              </a:rPr>
              <a:t>لایهٔ ارائه</a:t>
            </a:r>
            <a:endParaRPr lang="en-US" sz="1700" dirty="0"/>
          </a:p>
        </p:txBody>
      </p:sp>
      <p:sp>
        <p:nvSpPr>
          <p:cNvPr id="12" name="Text 10"/>
          <p:cNvSpPr/>
          <p:nvPr/>
        </p:nvSpPr>
        <p:spPr>
          <a:xfrm>
            <a:off x="768096" y="2359152"/>
            <a:ext cx="3139440" cy="2331720"/>
          </a:xfrm>
          <a:prstGeom prst="rect">
            <a:avLst/>
          </a:prstGeom>
          <a:noFill/>
          <a:ln/>
        </p:spPr>
        <p:txBody>
          <a:bodyPr wrap="square" lIns="0" tIns="0" rIns="0" bIns="0" rtlCol="0" anchor="t"/>
          <a:lstStyle/>
          <a:p>
            <a:pPr algn="r" indent="0" marL="0">
              <a:lnSpc>
                <a:spcPct val="116000"/>
              </a:lnSpc>
              <a:spcAft>
                <a:spcPts val="800"/>
              </a:spcAft>
              <a:buNone/>
            </a:pPr>
            <a:r>
              <a:rPr lang="en-US" sz="1150" dirty="0">
                <a:solidFill>
                  <a:srgbClr val="15192E"/>
                </a:solidFill>
                <a:latin typeface="Tahoma" pitchFamily="34" charset="0"/>
                <a:ea typeface="Tahoma" pitchFamily="34" charset="-122"/>
                <a:cs typeface="Tahoma" pitchFamily="34" charset="-120"/>
              </a:rPr>
              <a:t>‏• ‏سرور سبک و یک صفحهٔ وب یکپارچه</a:t>
            </a:r>
            <a:endParaRPr lang="en-US" sz="1150" dirty="0"/>
          </a:p>
          <a:p>
            <a:pPr algn="r" indent="0" marL="0">
              <a:lnSpc>
                <a:spcPct val="116000"/>
              </a:lnSpc>
              <a:spcAft>
                <a:spcPts val="800"/>
              </a:spcAft>
              <a:buNone/>
            </a:pPr>
            <a:r>
              <a:rPr lang="en-US" sz="1150" dirty="0">
                <a:solidFill>
                  <a:srgbClr val="15192E"/>
                </a:solidFill>
                <a:latin typeface="Tahoma" pitchFamily="34" charset="0"/>
                <a:ea typeface="Tahoma" pitchFamily="34" charset="-122"/>
                <a:cs typeface="Tahoma" pitchFamily="34" charset="-120"/>
              </a:rPr>
              <a:t>‏• ‏نمودارها همه دست‌ساز و بدون کتابخانهٔ بیرونی</a:t>
            </a:r>
            <a:endParaRPr lang="en-US" sz="1150" dirty="0"/>
          </a:p>
          <a:p>
            <a:pPr algn="r" indent="0" marL="0">
              <a:lnSpc>
                <a:spcPct val="116000"/>
              </a:lnSpc>
              <a:spcAft>
                <a:spcPts val="800"/>
              </a:spcAft>
              <a:buNone/>
            </a:pPr>
            <a:r>
              <a:rPr lang="en-US" sz="1150" dirty="0">
                <a:solidFill>
                  <a:srgbClr val="15192E"/>
                </a:solidFill>
                <a:latin typeface="Tahoma" pitchFamily="34" charset="0"/>
                <a:ea typeface="Tahoma" pitchFamily="34" charset="-122"/>
                <a:cs typeface="Tahoma" pitchFamily="34" charset="-120"/>
              </a:rPr>
              <a:t>‏• ‏راست‌به‌چپ کامل با تقویم جلالی</a:t>
            </a:r>
            <a:endParaRPr lang="en-US" sz="1150" dirty="0"/>
          </a:p>
          <a:p>
            <a:pPr algn="r" indent="0" marL="0">
              <a:lnSpc>
                <a:spcPct val="116000"/>
              </a:lnSpc>
              <a:spcAft>
                <a:spcPts val="800"/>
              </a:spcAft>
              <a:buNone/>
            </a:pPr>
            <a:r>
              <a:rPr lang="en-US" sz="1150" dirty="0">
                <a:solidFill>
                  <a:srgbClr val="15192E"/>
                </a:solidFill>
                <a:latin typeface="Tahoma" pitchFamily="34" charset="0"/>
                <a:ea typeface="Tahoma" pitchFamily="34" charset="-122"/>
                <a:cs typeface="Tahoma" pitchFamily="34" charset="-120"/>
              </a:rPr>
              <a:t>‏• ‏دستیار با فراخوانی ابزار، به‌علاوهٔ پشتیبان قاعده‌محور</a:t>
            </a:r>
            <a:endParaRPr lang="en-US" sz="1150" dirty="0"/>
          </a:p>
          <a:p>
            <a:pPr algn="r" indent="0" marL="0">
              <a:lnSpc>
                <a:spcPct val="116000"/>
              </a:lnSpc>
              <a:spcAft>
                <a:spcPts val="800"/>
              </a:spcAft>
              <a:buNone/>
            </a:pPr>
            <a:r>
              <a:rPr lang="en-US" sz="1150" dirty="0">
                <a:solidFill>
                  <a:srgbClr val="15192E"/>
                </a:solidFill>
                <a:latin typeface="Tahoma" pitchFamily="34" charset="0"/>
                <a:ea typeface="Tahoma" pitchFamily="34" charset="-122"/>
                <a:cs typeface="Tahoma" pitchFamily="34" charset="-120"/>
              </a:rPr>
              <a:t>‏• ‏حالت ماندگار ارجاع‌ها روی دیسک</a:t>
            </a:r>
            <a:endParaRPr lang="en-US" sz="1150" dirty="0"/>
          </a:p>
        </p:txBody>
      </p:sp>
      <p:sp>
        <p:nvSpPr>
          <p:cNvPr id="13" name="Shape 11"/>
          <p:cNvSpPr/>
          <p:nvPr/>
        </p:nvSpPr>
        <p:spPr>
          <a:xfrm>
            <a:off x="566928" y="4553712"/>
            <a:ext cx="11027664" cy="969264"/>
          </a:xfrm>
          <a:prstGeom prst="roundRect">
            <a:avLst>
              <a:gd name="adj" fmla="val 9434"/>
            </a:avLst>
          </a:prstGeom>
          <a:solidFill>
            <a:srgbClr val="1E2761"/>
          </a:solidFill>
          <a:ln w="12700">
            <a:solidFill>
              <a:srgbClr val="1E2761"/>
            </a:solidFill>
            <a:prstDash val="solid"/>
          </a:ln>
        </p:spPr>
      </p:sp>
      <p:sp>
        <p:nvSpPr>
          <p:cNvPr id="14" name="Text 12"/>
          <p:cNvSpPr/>
          <p:nvPr/>
        </p:nvSpPr>
        <p:spPr>
          <a:xfrm>
            <a:off x="841248" y="4645152"/>
            <a:ext cx="10479024" cy="786384"/>
          </a:xfrm>
          <a:prstGeom prst="rect">
            <a:avLst/>
          </a:prstGeom>
          <a:noFill/>
          <a:ln/>
        </p:spPr>
        <p:txBody>
          <a:bodyPr wrap="square" lIns="0" tIns="0" rIns="0" bIns="0" rtlCol="0" anchor="ctr"/>
          <a:lstStyle/>
          <a:p>
            <a:pPr rtl="1" algn="r" indent="0" marL="0">
              <a:buNone/>
            </a:pPr>
            <a:r>
              <a:rPr lang="en-US" sz="1300" dirty="0">
                <a:solidFill>
                  <a:srgbClr val="FFFFFF"/>
                </a:solidFill>
                <a:latin typeface="Tahoma" pitchFamily="34" charset="0"/>
                <a:ea typeface="Tahoma" pitchFamily="34" charset="-122"/>
                <a:cs typeface="Tahoma" pitchFamily="34" charset="-120"/>
              </a:rPr>
              <a:t>هیچ کتابخانهٔ نمودار خارجی استفاده نشده و هیچ فراخوانی شبکه‌ای در مسیر رندر نیست. اگر کلید API نباشد، همان ۱۵ ابزار با موتور قاعده‌محور صدا زده می‌شوند و دمو نمی‌میرد.</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دستیار هوشمند تحلیل مشتریان B2B — نفیس نخ</dc:title>
  <dc:subject>PptxGenJS Presentation</dc:subject>
  <dc:creator>آرین فقیرالهی · امید دیوسالار</dc:creator>
  <cp:lastModifiedBy>آرین فقیرالهی · امید دیوسالار</cp:lastModifiedBy>
  <cp:revision>1</cp:revision>
  <dcterms:created xsi:type="dcterms:W3CDTF">2026-08-21T10:32:00Z</dcterms:created>
  <dcterms:modified xsi:type="dcterms:W3CDTF">2026-08-21T10:32:00Z</dcterms:modified>
</cp:coreProperties>
</file>